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1"/>
  </p:notesMasterIdLst>
  <p:handoutMasterIdLst>
    <p:handoutMasterId r:id="rId22"/>
  </p:handoutMasterIdLst>
  <p:sldIdLst>
    <p:sldId id="618" r:id="rId5"/>
    <p:sldId id="707" r:id="rId6"/>
    <p:sldId id="712" r:id="rId7"/>
    <p:sldId id="713" r:id="rId8"/>
    <p:sldId id="714" r:id="rId9"/>
    <p:sldId id="715" r:id="rId10"/>
    <p:sldId id="716" r:id="rId11"/>
    <p:sldId id="717" r:id="rId12"/>
    <p:sldId id="718" r:id="rId13"/>
    <p:sldId id="719" r:id="rId14"/>
    <p:sldId id="720" r:id="rId15"/>
    <p:sldId id="721" r:id="rId16"/>
    <p:sldId id="722" r:id="rId17"/>
    <p:sldId id="695" r:id="rId18"/>
    <p:sldId id="723" r:id="rId19"/>
    <p:sldId id="696" r:id="rId20"/>
  </p:sldIdLst>
  <p:sldSz cx="9906000" cy="6858000" type="A4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4977022-D1D5-448D-82D9-5A3E09766F0B}">
          <p14:sldIdLst>
            <p14:sldId id="618"/>
            <p14:sldId id="707"/>
            <p14:sldId id="712"/>
            <p14:sldId id="713"/>
            <p14:sldId id="714"/>
            <p14:sldId id="715"/>
            <p14:sldId id="716"/>
            <p14:sldId id="717"/>
            <p14:sldId id="718"/>
            <p14:sldId id="719"/>
            <p14:sldId id="720"/>
            <p14:sldId id="721"/>
            <p14:sldId id="722"/>
            <p14:sldId id="695"/>
            <p14:sldId id="723"/>
            <p14:sldId id="69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990134"/>
    <a:srgbClr val="01204C"/>
    <a:srgbClr val="D2DEEF"/>
    <a:srgbClr val="EAEFF7"/>
    <a:srgbClr val="00552B"/>
    <a:srgbClr val="CFAFE7"/>
    <a:srgbClr val="B686DA"/>
    <a:srgbClr val="F5B68B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BFC04A-A3FC-4B87-B8DA-8B0E666130CF}" v="180" dt="2025-03-17T11:15:47.3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71" autoAdjust="0"/>
    <p:restoredTop sz="95726" autoAdjust="0"/>
  </p:normalViewPr>
  <p:slideViewPr>
    <p:cSldViewPr snapToGrid="0">
      <p:cViewPr varScale="1">
        <p:scale>
          <a:sx n="79" d="100"/>
          <a:sy n="79" d="100"/>
        </p:scale>
        <p:origin x="141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46" d="100"/>
          <a:sy n="46" d="100"/>
        </p:scale>
        <p:origin x="2736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a Huy Hoang 20222538" userId="7e6ac483-a0c2-4bb3-bf55-c6129a83a59b" providerId="ADAL" clId="{50BFC04A-A3FC-4B87-B8DA-8B0E666130CF}"/>
    <pc:docChg chg="undo custSel addSld modSld modSection">
      <pc:chgData name="Hua Huy Hoang 20222538" userId="7e6ac483-a0c2-4bb3-bf55-c6129a83a59b" providerId="ADAL" clId="{50BFC04A-A3FC-4B87-B8DA-8B0E666130CF}" dt="2025-03-17T11:18:58.136" v="476" actId="14100"/>
      <pc:docMkLst>
        <pc:docMk/>
      </pc:docMkLst>
      <pc:sldChg chg="addSp delSp modSp mod">
        <pc:chgData name="Hua Huy Hoang 20222538" userId="7e6ac483-a0c2-4bb3-bf55-c6129a83a59b" providerId="ADAL" clId="{50BFC04A-A3FC-4B87-B8DA-8B0E666130CF}" dt="2025-03-15T02:41:41.386" v="269" actId="1076"/>
        <pc:sldMkLst>
          <pc:docMk/>
          <pc:sldMk cId="3670442249" sldId="695"/>
        </pc:sldMkLst>
        <pc:spChg chg="add mod">
          <ac:chgData name="Hua Huy Hoang 20222538" userId="7e6ac483-a0c2-4bb3-bf55-c6129a83a59b" providerId="ADAL" clId="{50BFC04A-A3FC-4B87-B8DA-8B0E666130CF}" dt="2025-03-15T02:41:41.386" v="269" actId="1076"/>
          <ac:spMkLst>
            <pc:docMk/>
            <pc:sldMk cId="3670442249" sldId="695"/>
            <ac:spMk id="3" creationId="{B98D62ED-0922-9B4F-B00A-B637DED5360A}"/>
          </ac:spMkLst>
        </pc:spChg>
      </pc:sldChg>
      <pc:sldChg chg="addSp delSp modSp mod">
        <pc:chgData name="Hua Huy Hoang 20222538" userId="7e6ac483-a0c2-4bb3-bf55-c6129a83a59b" providerId="ADAL" clId="{50BFC04A-A3FC-4B87-B8DA-8B0E666130CF}" dt="2025-03-08T14:59:03.326" v="44" actId="732"/>
        <pc:sldMkLst>
          <pc:docMk/>
          <pc:sldMk cId="1747433533" sldId="712"/>
        </pc:sldMkLst>
        <pc:spChg chg="mod">
          <ac:chgData name="Hua Huy Hoang 20222538" userId="7e6ac483-a0c2-4bb3-bf55-c6129a83a59b" providerId="ADAL" clId="{50BFC04A-A3FC-4B87-B8DA-8B0E666130CF}" dt="2025-03-08T14:58:49.952" v="40" actId="14100"/>
          <ac:spMkLst>
            <pc:docMk/>
            <pc:sldMk cId="1747433533" sldId="712"/>
            <ac:spMk id="45" creationId="{4D25D0DA-334F-EC72-56C3-A190B005F39F}"/>
          </ac:spMkLst>
        </pc:spChg>
        <pc:spChg chg="mod">
          <ac:chgData name="Hua Huy Hoang 20222538" userId="7e6ac483-a0c2-4bb3-bf55-c6129a83a59b" providerId="ADAL" clId="{50BFC04A-A3FC-4B87-B8DA-8B0E666130CF}" dt="2025-03-08T14:58:53.682" v="41" actId="14100"/>
          <ac:spMkLst>
            <pc:docMk/>
            <pc:sldMk cId="1747433533" sldId="712"/>
            <ac:spMk id="48" creationId="{4593ECDD-B426-1573-31EC-E0D6F1494AA3}"/>
          </ac:spMkLst>
        </pc:spChg>
        <pc:spChg chg="mod">
          <ac:chgData name="Hua Huy Hoang 20222538" userId="7e6ac483-a0c2-4bb3-bf55-c6129a83a59b" providerId="ADAL" clId="{50BFC04A-A3FC-4B87-B8DA-8B0E666130CF}" dt="2025-03-08T14:58:10.059" v="16" actId="1076"/>
          <ac:spMkLst>
            <pc:docMk/>
            <pc:sldMk cId="1747433533" sldId="712"/>
            <ac:spMk id="50" creationId="{113DAE6F-52B3-9156-52B1-7F9A17DA7F7F}"/>
          </ac:spMkLst>
        </pc:spChg>
        <pc:spChg chg="mod">
          <ac:chgData name="Hua Huy Hoang 20222538" userId="7e6ac483-a0c2-4bb3-bf55-c6129a83a59b" providerId="ADAL" clId="{50BFC04A-A3FC-4B87-B8DA-8B0E666130CF}" dt="2025-03-08T14:58:58.558" v="43" actId="14100"/>
          <ac:spMkLst>
            <pc:docMk/>
            <pc:sldMk cId="1747433533" sldId="712"/>
            <ac:spMk id="51" creationId="{563245D5-D64C-1646-0329-D191A6259463}"/>
          </ac:spMkLst>
        </pc:spChg>
        <pc:spChg chg="mod">
          <ac:chgData name="Hua Huy Hoang 20222538" userId="7e6ac483-a0c2-4bb3-bf55-c6129a83a59b" providerId="ADAL" clId="{50BFC04A-A3FC-4B87-B8DA-8B0E666130CF}" dt="2025-03-08T14:58:56.593" v="42" actId="1076"/>
          <ac:spMkLst>
            <pc:docMk/>
            <pc:sldMk cId="1747433533" sldId="712"/>
            <ac:spMk id="52" creationId="{BB41CF36-D6A7-4C0C-514C-FB088F24A940}"/>
          </ac:spMkLst>
        </pc:spChg>
        <pc:spChg chg="mod">
          <ac:chgData name="Hua Huy Hoang 20222538" userId="7e6ac483-a0c2-4bb3-bf55-c6129a83a59b" providerId="ADAL" clId="{50BFC04A-A3FC-4B87-B8DA-8B0E666130CF}" dt="2025-03-08T14:58:48.068" v="39" actId="1076"/>
          <ac:spMkLst>
            <pc:docMk/>
            <pc:sldMk cId="1747433533" sldId="712"/>
            <ac:spMk id="55" creationId="{BA2F6FE3-7B36-FE90-B4DB-AEE98D4596CD}"/>
          </ac:spMkLst>
        </pc:spChg>
        <pc:picChg chg="add mod ord modCrop">
          <ac:chgData name="Hua Huy Hoang 20222538" userId="7e6ac483-a0c2-4bb3-bf55-c6129a83a59b" providerId="ADAL" clId="{50BFC04A-A3FC-4B87-B8DA-8B0E666130CF}" dt="2025-03-08T14:59:03.326" v="44" actId="732"/>
          <ac:picMkLst>
            <pc:docMk/>
            <pc:sldMk cId="1747433533" sldId="712"/>
            <ac:picMk id="4" creationId="{123354A8-5169-6808-3611-43E6917FAE0D}"/>
          </ac:picMkLst>
        </pc:picChg>
      </pc:sldChg>
      <pc:sldChg chg="modSp mod">
        <pc:chgData name="Hua Huy Hoang 20222538" userId="7e6ac483-a0c2-4bb3-bf55-c6129a83a59b" providerId="ADAL" clId="{50BFC04A-A3FC-4B87-B8DA-8B0E666130CF}" dt="2025-03-17T11:15:47.395" v="468" actId="20577"/>
        <pc:sldMkLst>
          <pc:docMk/>
          <pc:sldMk cId="3773484950" sldId="719"/>
        </pc:sldMkLst>
        <pc:spChg chg="mod">
          <ac:chgData name="Hua Huy Hoang 20222538" userId="7e6ac483-a0c2-4bb3-bf55-c6129a83a59b" providerId="ADAL" clId="{50BFC04A-A3FC-4B87-B8DA-8B0E666130CF}" dt="2025-03-17T08:22:03.529" v="336" actId="1036"/>
          <ac:spMkLst>
            <pc:docMk/>
            <pc:sldMk cId="3773484950" sldId="719"/>
            <ac:spMk id="27" creationId="{902A9DE3-F85F-FC2A-3BA8-F7251634090D}"/>
          </ac:spMkLst>
        </pc:spChg>
        <pc:spChg chg="mod">
          <ac:chgData name="Hua Huy Hoang 20222538" userId="7e6ac483-a0c2-4bb3-bf55-c6129a83a59b" providerId="ADAL" clId="{50BFC04A-A3FC-4B87-B8DA-8B0E666130CF}" dt="2025-03-17T08:22:03.529" v="336" actId="1036"/>
          <ac:spMkLst>
            <pc:docMk/>
            <pc:sldMk cId="3773484950" sldId="719"/>
            <ac:spMk id="29" creationId="{378B697C-C640-F76D-1362-A7DB8CEA1FD0}"/>
          </ac:spMkLst>
        </pc:spChg>
        <pc:spChg chg="mod">
          <ac:chgData name="Hua Huy Hoang 20222538" userId="7e6ac483-a0c2-4bb3-bf55-c6129a83a59b" providerId="ADAL" clId="{50BFC04A-A3FC-4B87-B8DA-8B0E666130CF}" dt="2025-03-17T08:22:03.529" v="336" actId="1036"/>
          <ac:spMkLst>
            <pc:docMk/>
            <pc:sldMk cId="3773484950" sldId="719"/>
            <ac:spMk id="30" creationId="{F442C7BC-4E4B-6964-CFE9-FE041EFC29D4}"/>
          </ac:spMkLst>
        </pc:spChg>
        <pc:spChg chg="mod">
          <ac:chgData name="Hua Huy Hoang 20222538" userId="7e6ac483-a0c2-4bb3-bf55-c6129a83a59b" providerId="ADAL" clId="{50BFC04A-A3FC-4B87-B8DA-8B0E666130CF}" dt="2025-03-17T08:22:03.529" v="336" actId="1036"/>
          <ac:spMkLst>
            <pc:docMk/>
            <pc:sldMk cId="3773484950" sldId="719"/>
            <ac:spMk id="31" creationId="{D9F10C27-D910-4102-DA80-53499DF12A98}"/>
          </ac:spMkLst>
        </pc:spChg>
        <pc:spChg chg="mod">
          <ac:chgData name="Hua Huy Hoang 20222538" userId="7e6ac483-a0c2-4bb3-bf55-c6129a83a59b" providerId="ADAL" clId="{50BFC04A-A3FC-4B87-B8DA-8B0E666130CF}" dt="2025-03-17T08:22:03.529" v="336" actId="1036"/>
          <ac:spMkLst>
            <pc:docMk/>
            <pc:sldMk cId="3773484950" sldId="719"/>
            <ac:spMk id="32" creationId="{8E321720-E41D-3319-77B9-900C9CAE7D64}"/>
          </ac:spMkLst>
        </pc:spChg>
        <pc:spChg chg="mod">
          <ac:chgData name="Hua Huy Hoang 20222538" userId="7e6ac483-a0c2-4bb3-bf55-c6129a83a59b" providerId="ADAL" clId="{50BFC04A-A3FC-4B87-B8DA-8B0E666130CF}" dt="2025-03-17T08:22:03.529" v="336" actId="1036"/>
          <ac:spMkLst>
            <pc:docMk/>
            <pc:sldMk cId="3773484950" sldId="719"/>
            <ac:spMk id="34" creationId="{ED77EF3F-672C-189C-F5D5-B4BAE1732EA1}"/>
          </ac:spMkLst>
        </pc:spChg>
        <pc:spChg chg="mod">
          <ac:chgData name="Hua Huy Hoang 20222538" userId="7e6ac483-a0c2-4bb3-bf55-c6129a83a59b" providerId="ADAL" clId="{50BFC04A-A3FC-4B87-B8DA-8B0E666130CF}" dt="2025-03-17T08:22:03.529" v="336" actId="1036"/>
          <ac:spMkLst>
            <pc:docMk/>
            <pc:sldMk cId="3773484950" sldId="719"/>
            <ac:spMk id="36" creationId="{9FBE7038-D19D-D28B-FEDE-EC1A879A2F4F}"/>
          </ac:spMkLst>
        </pc:spChg>
        <pc:spChg chg="mod">
          <ac:chgData name="Hua Huy Hoang 20222538" userId="7e6ac483-a0c2-4bb3-bf55-c6129a83a59b" providerId="ADAL" clId="{50BFC04A-A3FC-4B87-B8DA-8B0E666130CF}" dt="2025-03-17T11:15:47.395" v="468" actId="20577"/>
          <ac:spMkLst>
            <pc:docMk/>
            <pc:sldMk cId="3773484950" sldId="719"/>
            <ac:spMk id="39" creationId="{CE93C45C-E914-DDC7-4A03-FA27B02B3C6B}"/>
          </ac:spMkLst>
        </pc:spChg>
        <pc:spChg chg="mod">
          <ac:chgData name="Hua Huy Hoang 20222538" userId="7e6ac483-a0c2-4bb3-bf55-c6129a83a59b" providerId="ADAL" clId="{50BFC04A-A3FC-4B87-B8DA-8B0E666130CF}" dt="2025-03-17T11:05:25.881" v="467" actId="14100"/>
          <ac:spMkLst>
            <pc:docMk/>
            <pc:sldMk cId="3773484950" sldId="719"/>
            <ac:spMk id="40" creationId="{8FFCD112-767D-7C62-7502-D8CEB32ACF19}"/>
          </ac:spMkLst>
        </pc:spChg>
        <pc:spChg chg="mod">
          <ac:chgData name="Hua Huy Hoang 20222538" userId="7e6ac483-a0c2-4bb3-bf55-c6129a83a59b" providerId="ADAL" clId="{50BFC04A-A3FC-4B87-B8DA-8B0E666130CF}" dt="2025-03-17T11:05:12.514" v="463" actId="14100"/>
          <ac:spMkLst>
            <pc:docMk/>
            <pc:sldMk cId="3773484950" sldId="719"/>
            <ac:spMk id="41" creationId="{B561246C-E8E0-1EEF-5776-52F43F6DE3C1}"/>
          </ac:spMkLst>
        </pc:spChg>
        <pc:spChg chg="mod">
          <ac:chgData name="Hua Huy Hoang 20222538" userId="7e6ac483-a0c2-4bb3-bf55-c6129a83a59b" providerId="ADAL" clId="{50BFC04A-A3FC-4B87-B8DA-8B0E666130CF}" dt="2025-03-17T09:05:05.452" v="450" actId="1037"/>
          <ac:spMkLst>
            <pc:docMk/>
            <pc:sldMk cId="3773484950" sldId="719"/>
            <ac:spMk id="44" creationId="{D3C9F538-A41F-B5C6-D5FE-1157CFBF9A2E}"/>
          </ac:spMkLst>
        </pc:spChg>
        <pc:picChg chg="mod">
          <ac:chgData name="Hua Huy Hoang 20222538" userId="7e6ac483-a0c2-4bb3-bf55-c6129a83a59b" providerId="ADAL" clId="{50BFC04A-A3FC-4B87-B8DA-8B0E666130CF}" dt="2025-03-17T08:22:03.529" v="336" actId="1036"/>
          <ac:picMkLst>
            <pc:docMk/>
            <pc:sldMk cId="3773484950" sldId="719"/>
            <ac:picMk id="23" creationId="{43AF5C46-8F79-FB84-DD1B-88ACF2ECB93E}"/>
          </ac:picMkLst>
        </pc:picChg>
        <pc:picChg chg="mod">
          <ac:chgData name="Hua Huy Hoang 20222538" userId="7e6ac483-a0c2-4bb3-bf55-c6129a83a59b" providerId="ADAL" clId="{50BFC04A-A3FC-4B87-B8DA-8B0E666130CF}" dt="2025-03-17T08:22:03.529" v="336" actId="1036"/>
          <ac:picMkLst>
            <pc:docMk/>
            <pc:sldMk cId="3773484950" sldId="719"/>
            <ac:picMk id="28" creationId="{154702EF-1BBD-6E8F-58E3-1986E3DFF2CD}"/>
          </ac:picMkLst>
        </pc:picChg>
        <pc:picChg chg="mod">
          <ac:chgData name="Hua Huy Hoang 20222538" userId="7e6ac483-a0c2-4bb3-bf55-c6129a83a59b" providerId="ADAL" clId="{50BFC04A-A3FC-4B87-B8DA-8B0E666130CF}" dt="2025-03-17T09:05:05.452" v="450" actId="1037"/>
          <ac:picMkLst>
            <pc:docMk/>
            <pc:sldMk cId="3773484950" sldId="719"/>
            <ac:picMk id="43" creationId="{9B6D28C0-EA4C-B90E-2DC5-BA81E0D087D6}"/>
          </ac:picMkLst>
        </pc:picChg>
        <pc:picChg chg="mod">
          <ac:chgData name="Hua Huy Hoang 20222538" userId="7e6ac483-a0c2-4bb3-bf55-c6129a83a59b" providerId="ADAL" clId="{50BFC04A-A3FC-4B87-B8DA-8B0E666130CF}" dt="2025-03-17T08:22:03.529" v="336" actId="1036"/>
          <ac:picMkLst>
            <pc:docMk/>
            <pc:sldMk cId="3773484950" sldId="719"/>
            <ac:picMk id="1026" creationId="{C303BBF9-5047-5FF4-7710-1DDA90FCE131}"/>
          </ac:picMkLst>
        </pc:picChg>
      </pc:sldChg>
      <pc:sldChg chg="modSp mod">
        <pc:chgData name="Hua Huy Hoang 20222538" userId="7e6ac483-a0c2-4bb3-bf55-c6129a83a59b" providerId="ADAL" clId="{50BFC04A-A3FC-4B87-B8DA-8B0E666130CF}" dt="2025-03-17T11:18:58.136" v="476" actId="14100"/>
        <pc:sldMkLst>
          <pc:docMk/>
          <pc:sldMk cId="2134018472" sldId="720"/>
        </pc:sldMkLst>
        <pc:spChg chg="mod">
          <ac:chgData name="Hua Huy Hoang 20222538" userId="7e6ac483-a0c2-4bb3-bf55-c6129a83a59b" providerId="ADAL" clId="{50BFC04A-A3FC-4B87-B8DA-8B0E666130CF}" dt="2025-03-17T11:18:58.136" v="476" actId="14100"/>
          <ac:spMkLst>
            <pc:docMk/>
            <pc:sldMk cId="2134018472" sldId="720"/>
            <ac:spMk id="26" creationId="{7E9C5CEA-235E-9CBB-BA8F-17D6A5EAC0B6}"/>
          </ac:spMkLst>
        </pc:spChg>
        <pc:spChg chg="mod">
          <ac:chgData name="Hua Huy Hoang 20222538" userId="7e6ac483-a0c2-4bb3-bf55-c6129a83a59b" providerId="ADAL" clId="{50BFC04A-A3FC-4B87-B8DA-8B0E666130CF}" dt="2025-03-17T11:18:07.088" v="474" actId="1038"/>
          <ac:spMkLst>
            <pc:docMk/>
            <pc:sldMk cId="2134018472" sldId="720"/>
            <ac:spMk id="27" creationId="{00C9FA2F-74F3-F59A-A912-917785B3CE20}"/>
          </ac:spMkLst>
        </pc:spChg>
      </pc:sldChg>
      <pc:sldChg chg="modSp mod">
        <pc:chgData name="Hua Huy Hoang 20222538" userId="7e6ac483-a0c2-4bb3-bf55-c6129a83a59b" providerId="ADAL" clId="{50BFC04A-A3FC-4B87-B8DA-8B0E666130CF}" dt="2025-03-17T09:04:59.650" v="447" actId="1038"/>
        <pc:sldMkLst>
          <pc:docMk/>
          <pc:sldMk cId="1558042066" sldId="722"/>
        </pc:sldMkLst>
        <pc:spChg chg="mod">
          <ac:chgData name="Hua Huy Hoang 20222538" userId="7e6ac483-a0c2-4bb3-bf55-c6129a83a59b" providerId="ADAL" clId="{50BFC04A-A3FC-4B87-B8DA-8B0E666130CF}" dt="2025-03-17T09:04:59.650" v="447" actId="1038"/>
          <ac:spMkLst>
            <pc:docMk/>
            <pc:sldMk cId="1558042066" sldId="722"/>
            <ac:spMk id="10" creationId="{ED070B3A-DB74-4C78-C34F-EE2C2DA0B3BD}"/>
          </ac:spMkLst>
        </pc:spChg>
      </pc:sldChg>
      <pc:sldChg chg="addSp delSp modSp add mod">
        <pc:chgData name="Hua Huy Hoang 20222538" userId="7e6ac483-a0c2-4bb3-bf55-c6129a83a59b" providerId="ADAL" clId="{50BFC04A-A3FC-4B87-B8DA-8B0E666130CF}" dt="2025-03-09T06:32:53.539" v="182" actId="1038"/>
        <pc:sldMkLst>
          <pc:docMk/>
          <pc:sldMk cId="2304406354" sldId="723"/>
        </pc:sldMkLst>
        <pc:spChg chg="mod">
          <ac:chgData name="Hua Huy Hoang 20222538" userId="7e6ac483-a0c2-4bb3-bf55-c6129a83a59b" providerId="ADAL" clId="{50BFC04A-A3FC-4B87-B8DA-8B0E666130CF}" dt="2025-03-09T06:32:46.613" v="173" actId="20577"/>
          <ac:spMkLst>
            <pc:docMk/>
            <pc:sldMk cId="2304406354" sldId="723"/>
            <ac:spMk id="2" creationId="{31B2723F-2137-3B57-1C2A-1E91123C7B17}"/>
          </ac:spMkLst>
        </pc:spChg>
        <pc:picChg chg="add mod">
          <ac:chgData name="Hua Huy Hoang 20222538" userId="7e6ac483-a0c2-4bb3-bf55-c6129a83a59b" providerId="ADAL" clId="{50BFC04A-A3FC-4B87-B8DA-8B0E666130CF}" dt="2025-03-09T06:32:53.539" v="182" actId="1038"/>
          <ac:picMkLst>
            <pc:docMk/>
            <pc:sldMk cId="2304406354" sldId="723"/>
            <ac:picMk id="22" creationId="{32D7D387-D181-ED3C-69B3-BB3575EEE28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5F609B-B55F-A07D-10CA-7D2972295C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A43B17-FA46-C125-D20C-5A4DAAE398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69803-8E01-439A-8EF2-8343EF92703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5C246-29ED-77E0-BDDB-7AA6805E7E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BDD5A-91D2-0765-6DD2-25C29598C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57474-0C81-451B-9A7B-CFBB443387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00711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E1D244-FD28-4770-BAA8-BC78F887939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2663" y="1243013"/>
            <a:ext cx="4832350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F491F-38FF-4C0B-9F2E-A8B25753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1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CEDB4-D2ED-AE39-4E13-40DD4727E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B30A43-580C-0107-3868-F9FE7619F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80BC3-59D2-4F88-4ED9-DE7BD3C4F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AC10F-096D-24F7-DAFF-CEE9D55C8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31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18BA4-AB10-BC33-08EB-E963FDF34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66684-FADB-D40E-9482-0A38BAE7A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E958D-68A9-A8C9-7E9D-D5216EAB3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556D2-28F8-76EB-6E4F-E0BB8FF6E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899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D8474-7C20-FB0E-8E1D-458D68F6A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3E87B-682F-E180-10B9-2C5F1BE2B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9B179-CB8B-1FBF-7F9B-392A92120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EC5F3-E1AC-8724-F622-017BBDBE6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812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56221-00C6-6254-8493-27E91DB29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ECEE3-78F4-3658-E7F4-C6B0D5BEA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B525A-10D5-7737-5C07-87404155B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0B45B-B6A5-EDAD-D21B-3BBEAB1A64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76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63A5-E4A6-F5CD-0424-DF79F2524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6EFEB3-501F-52D7-9D2E-1F3F3D96F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632870-4730-4CFA-4B9C-6D080E2B0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3775E-298C-E1F3-2E59-07F94B928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279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56D9E-3F3D-5ACE-6F83-520E5358C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52A7F4-58C2-BCAE-35DF-98DDD9C1C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8AFDA1-595D-966A-026B-EE95C9BB7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ACAC1-094B-1540-5183-2888B10608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46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C9355-58EE-65B4-5D16-ACAB2F33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E42650-49E7-F9EB-B712-005FF37E3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EB3DF1-E4DA-FE0E-3DD0-87015A65F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5671E-61C4-C41E-4195-F037600AA2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1171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7874B-C0B9-3AED-1827-3CB175BA2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33B10-6F1C-47BE-1DBA-1855AE7BB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DF76D-B12B-721F-3D5B-BC839503C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21D7A-0574-9118-F5B1-0353CA9B85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573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18BA4-AB10-BC33-08EB-E963FDF34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66684-FADB-D40E-9482-0A38BAE7A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E958D-68A9-A8C9-7E9D-D5216EAB3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556D2-28F8-76EB-6E4F-E0BB8FF6E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899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4F955-CC30-1F65-F91D-07881323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6870FF-2E71-8492-B63D-1A848120F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6E5B30-C83E-AB88-C5F9-E66F45A52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169E8-E95B-011D-6E20-1FD3F22D5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28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9104-E583-4C2A-5550-78D64854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ADE20-C049-D37C-CFB6-DEEEAC9D0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E5629A-CA5A-7DE1-42E1-EE45C3F9A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4AB9D-A9EF-ECE6-6BCC-D9C8E3A6A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8835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557D5-844E-734E-C3B2-8B2DB320C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CCEF94-A47E-2C52-571E-9BC501A11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0213D1-1471-D265-E00E-F7A66598D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BC321-5CF7-78BB-6CEE-A47A49F16A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87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28019-FE10-AA94-A0A2-E627C7502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C0F31-3F6C-7358-9963-1275F07FF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773F9A-444D-FB1F-338C-606636064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310CB-A807-2472-AA94-8CC55AA76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687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B6A55-BBCF-9EF9-26A1-FCE03589F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380ABE-B884-EB15-B1E8-D7DA8EB65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AC161-EE41-074C-F1A1-631B7FAC3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67F3B-4F46-F5CD-642C-F919515304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71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 bwMode="hidden">
          <a:xfrm>
            <a:off x="-1" y="0"/>
            <a:ext cx="9906002" cy="6858000"/>
            <a:chOff x="-1" y="0"/>
            <a:chExt cx="12192002" cy="6858000"/>
          </a:xfrm>
        </p:grpSpPr>
        <p:cxnSp>
          <p:nvCxnSpPr>
            <p:cNvPr id="18" name="Straight Connector 1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2" name="Straight Connector 5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Group 5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3" name="Straight Connector 6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8" name="Straight Connector 5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6" name="Straight Connector 3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Group 4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7" name="Straight Connector 4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2" name="Straight Connector 4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597" y="1890366"/>
            <a:ext cx="8914946" cy="2709774"/>
          </a:xfrm>
        </p:spPr>
        <p:txBody>
          <a:bodyPr anchor="ctr"/>
          <a:lstStyle>
            <a:lvl1pPr algn="ctr"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5597" y="4744714"/>
            <a:ext cx="3617571" cy="1753089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3" name="Pentagon 12"/>
          <p:cNvSpPr/>
          <p:nvPr/>
        </p:nvSpPr>
        <p:spPr>
          <a:xfrm>
            <a:off x="1" y="543"/>
            <a:ext cx="1764770" cy="765195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Dosis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7D3501-5DF6-029A-CD59-0C6F6CFB40F1}"/>
              </a:ext>
            </a:extLst>
          </p:cNvPr>
          <p:cNvGrpSpPr/>
          <p:nvPr userDrawn="1"/>
        </p:nvGrpSpPr>
        <p:grpSpPr>
          <a:xfrm>
            <a:off x="2425148" y="201033"/>
            <a:ext cx="7141731" cy="946077"/>
            <a:chOff x="2276474" y="99057"/>
            <a:chExt cx="6391089" cy="6692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34A61AE-4D8B-5C5C-73F4-747601782A95}"/>
                </a:ext>
              </a:extLst>
            </p:cNvPr>
            <p:cNvSpPr txBox="1"/>
            <p:nvPr userDrawn="1"/>
          </p:nvSpPr>
          <p:spPr>
            <a:xfrm>
              <a:off x="2276474" y="99057"/>
              <a:ext cx="6391089" cy="387662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 ExtraBold" pitchFamily="2" charset="0"/>
                  <a:cs typeface="Lato Black" panose="020F0A02020204030203" pitchFamily="34" charset="0"/>
                </a:rPr>
                <a:t>Electric Vehicle Supply Equipment Laboratory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02143D-35F6-E9E4-E61C-DF061DA20CC4}"/>
                </a:ext>
              </a:extLst>
            </p:cNvPr>
            <p:cNvSpPr txBox="1"/>
            <p:nvPr userDrawn="1"/>
          </p:nvSpPr>
          <p:spPr>
            <a:xfrm>
              <a:off x="2276474" y="563153"/>
              <a:ext cx="6391089" cy="205195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C1B, 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Đại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học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Bách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Khoa Hà 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Nội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– 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tel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: 0963441242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DDF2ECF-CE97-3838-BE8C-F2DE5BF553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</a:blip>
          <a:srcRect t="13822" r="8049" b="20445"/>
          <a:stretch/>
        </p:blipFill>
        <p:spPr>
          <a:xfrm>
            <a:off x="6310240" y="5051904"/>
            <a:ext cx="3100460" cy="1753089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B89F6C4C-F7A4-0677-3851-DD45029DAC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26" y="93337"/>
            <a:ext cx="1919857" cy="118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2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7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750" y="872455"/>
            <a:ext cx="9163050" cy="549353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  <a:lvl2pPr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2pPr>
            <a:lvl3pPr>
              <a:spcBef>
                <a:spcPts val="0"/>
              </a:spcBef>
              <a:spcAft>
                <a:spcPts val="1200"/>
              </a:spcAft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3pPr>
            <a:lvl4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4pPr>
            <a:lvl5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0" y="6570787"/>
            <a:ext cx="9906000" cy="287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en-US" sz="3600">
              <a:solidFill>
                <a:schemeClr val="tx1">
                  <a:lumMod val="75000"/>
                  <a:lumOff val="25000"/>
                </a:schemeClr>
              </a:solidFill>
              <a:latin typeface="Dosis" pitchFamily="2" charset="0"/>
              <a:ea typeface="Asana" panose="02000603000000000000" pitchFamily="2" charset="0"/>
              <a:cs typeface="Lato" panose="020F0502020204030203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fld id="{4CDACB4C-8576-42BD-A1CF-557C555A32CD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fld id="{6FC7B32C-BCDB-467B-AAD1-D0D29C12FD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761877"/>
            <a:ext cx="9906000" cy="0"/>
          </a:xfrm>
          <a:prstGeom prst="line">
            <a:avLst/>
          </a:prstGeom>
          <a:ln w="161290"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entagon 34">
            <a:extLst>
              <a:ext uri="{FF2B5EF4-FFF2-40B4-BE49-F238E27FC236}">
                <a16:creationId xmlns:a16="http://schemas.microsoft.com/office/drawing/2014/main" id="{A304340F-8DFF-4AB2-A40A-65680CCCC2A3}"/>
              </a:ext>
            </a:extLst>
          </p:cNvPr>
          <p:cNvSpPr/>
          <p:nvPr userDrawn="1"/>
        </p:nvSpPr>
        <p:spPr>
          <a:xfrm>
            <a:off x="1" y="0"/>
            <a:ext cx="9905999" cy="666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Dosis" pitchFamily="2" charset="0"/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3D07F2A2-C0A2-B481-673B-2559D4D75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7" y="99095"/>
            <a:ext cx="9766931" cy="548731"/>
          </a:xfrm>
        </p:spPr>
        <p:txBody>
          <a:bodyPr>
            <a:noAutofit/>
          </a:bodyPr>
          <a:lstStyle>
            <a:lvl1pPr algn="ctr">
              <a:defRPr sz="4000" b="0">
                <a:solidFill>
                  <a:schemeClr val="tx1">
                    <a:lumMod val="85000"/>
                    <a:lumOff val="1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359FCEE-08D4-F3CD-A046-CE7160FCCC8B}"/>
              </a:ext>
            </a:extLst>
          </p:cNvPr>
          <p:cNvCxnSpPr/>
          <p:nvPr userDrawn="1"/>
        </p:nvCxnSpPr>
        <p:spPr>
          <a:xfrm>
            <a:off x="0" y="6460990"/>
            <a:ext cx="9906000" cy="0"/>
          </a:xfrm>
          <a:prstGeom prst="line">
            <a:avLst/>
          </a:prstGeom>
          <a:ln w="64516">
            <a:gradFill flip="none" rotWithShape="1">
              <a:gsLst>
                <a:gs pos="50000">
                  <a:schemeClr val="bg1">
                    <a:lumMod val="85000"/>
                  </a:schemeClr>
                </a:gs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E4AFCD61-5E35-E6B8-23E3-7A57B3CEAB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50" y="99095"/>
            <a:ext cx="889256" cy="54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191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entagon 34">
            <a:extLst>
              <a:ext uri="{FF2B5EF4-FFF2-40B4-BE49-F238E27FC236}">
                <a16:creationId xmlns:a16="http://schemas.microsoft.com/office/drawing/2014/main" id="{C49DF1B1-6F22-1FA9-363C-0874B083CF80}"/>
              </a:ext>
            </a:extLst>
          </p:cNvPr>
          <p:cNvSpPr/>
          <p:nvPr userDrawn="1"/>
        </p:nvSpPr>
        <p:spPr>
          <a:xfrm>
            <a:off x="1" y="-1"/>
            <a:ext cx="9905999" cy="841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1600" indent="0" algn="ctr"/>
            <a:endParaRPr lang="en-US" sz="2800">
              <a:solidFill>
                <a:srgbClr val="003600"/>
              </a:solidFill>
              <a:latin typeface="Dosis" pitchFamily="2" charset="0"/>
              <a:cs typeface="Lato Black" panose="020F0A0202020403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  <a:noFill/>
        </p:spPr>
        <p:txBody>
          <a:bodyPr anchor="b">
            <a:norm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6793EBA4-575F-EF45-9BFA-5DA97F2E2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26" y="93337"/>
            <a:ext cx="1919857" cy="118468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698A9-839C-FEF5-73A1-CDD184341F98}"/>
              </a:ext>
            </a:extLst>
          </p:cNvPr>
          <p:cNvGrpSpPr/>
          <p:nvPr userDrawn="1"/>
        </p:nvGrpSpPr>
        <p:grpSpPr>
          <a:xfrm>
            <a:off x="2425148" y="201033"/>
            <a:ext cx="7141731" cy="946077"/>
            <a:chOff x="2276474" y="99057"/>
            <a:chExt cx="6391089" cy="6692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969E7E-4D8D-2521-E18E-2B53FAA2E84A}"/>
                </a:ext>
              </a:extLst>
            </p:cNvPr>
            <p:cNvSpPr txBox="1"/>
            <p:nvPr userDrawn="1"/>
          </p:nvSpPr>
          <p:spPr>
            <a:xfrm>
              <a:off x="2276474" y="99057"/>
              <a:ext cx="6391089" cy="387662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 ExtraBold" pitchFamily="2" charset="0"/>
                  <a:cs typeface="Lato Black" panose="020F0A02020204030203" pitchFamily="34" charset="0"/>
                </a:rPr>
                <a:t>Electric Vehicle Supply Equipment Laboratory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6EC54A9-7E48-5CD8-B7B5-46412D6E4831}"/>
                </a:ext>
              </a:extLst>
            </p:cNvPr>
            <p:cNvSpPr txBox="1"/>
            <p:nvPr userDrawn="1"/>
          </p:nvSpPr>
          <p:spPr>
            <a:xfrm>
              <a:off x="2276474" y="563153"/>
              <a:ext cx="6391089" cy="205195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C1B, 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Đại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học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Bách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Khoa Hà 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Nội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– 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tel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: 0963441242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3729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7" y="1825625"/>
            <a:ext cx="4189413" cy="4351338"/>
          </a:xfrm>
        </p:spPr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  <a:lvl2pPr>
              <a:defRPr>
                <a:latin typeface="Dosis" pitchFamily="2" charset="0"/>
                <a:ea typeface="Asana" panose="02000603000000000000" pitchFamily="2" charset="0"/>
              </a:defRPr>
            </a:lvl2pPr>
            <a:lvl3pPr>
              <a:defRPr>
                <a:latin typeface="Dosis" pitchFamily="2" charset="0"/>
                <a:ea typeface="Asana" panose="02000603000000000000" pitchFamily="2" charset="0"/>
              </a:defRPr>
            </a:lvl3pPr>
            <a:lvl4pPr>
              <a:defRPr>
                <a:latin typeface="Dosis" pitchFamily="2" charset="0"/>
                <a:ea typeface="Asana" panose="02000603000000000000" pitchFamily="2" charset="0"/>
              </a:defRPr>
            </a:lvl4pPr>
            <a:lvl5pPr>
              <a:defRPr>
                <a:latin typeface="Dosis" pitchFamily="2" charset="0"/>
                <a:ea typeface="Asana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825625"/>
            <a:ext cx="4189413" cy="4351338"/>
          </a:xfrm>
        </p:spPr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  <a:lvl2pPr>
              <a:defRPr>
                <a:latin typeface="Dosis" pitchFamily="2" charset="0"/>
                <a:ea typeface="Asana" panose="02000603000000000000" pitchFamily="2" charset="0"/>
              </a:defRPr>
            </a:lvl2pPr>
            <a:lvl3pPr>
              <a:defRPr>
                <a:latin typeface="Dosis" pitchFamily="2" charset="0"/>
                <a:ea typeface="Asana" panose="02000603000000000000" pitchFamily="2" charset="0"/>
              </a:defRPr>
            </a:lvl3pPr>
            <a:lvl4pPr>
              <a:defRPr>
                <a:latin typeface="Dosis" pitchFamily="2" charset="0"/>
                <a:ea typeface="Asana" panose="02000603000000000000" pitchFamily="2" charset="0"/>
              </a:defRPr>
            </a:lvl4pPr>
            <a:lvl5pPr>
              <a:defRPr>
                <a:latin typeface="Dosis" pitchFamily="2" charset="0"/>
                <a:ea typeface="Asana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fld id="{8486AEFA-A6B3-4308-BB6F-8F14B94AB78D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fld id="{6FC7B32C-BCDB-467B-AAD1-D0D29C12FD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00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759" y="1681163"/>
            <a:ext cx="41911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759" y="2505075"/>
            <a:ext cx="41911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7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77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0D2C7-3A3E-4B56-A242-025A9BBF22A6}" type="datetime1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1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AC71-9848-405B-9B91-B93C22A55D1B}" type="datetime1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4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8E4F-76C1-4D35-A79B-A1015E85895A}" type="datetime1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80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9" y="457200"/>
            <a:ext cx="31953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770" y="987428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759" y="2057400"/>
            <a:ext cx="31953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AA2D-9D1F-4CB2-9106-8A6C2678C1D1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8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9" y="457200"/>
            <a:ext cx="31953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1770" y="987428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759" y="2057400"/>
            <a:ext cx="31953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C926-791A-477A-B2A2-9226E1CB11C1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DEDCC-E10C-4C4B-B8FB-8C75F28E78C3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84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3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9" y="365125"/>
            <a:ext cx="624284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940C4-A1F9-4C45-8027-9FEC331E6005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4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6B1036F8-06E0-4557-8645-2D4F4EB94467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98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sana" panose="0200060300000000000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sana" panose="0200060300000000000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sana" panose="0200060300000000000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sana" panose="0200060300000000000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10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8.png"/><Relationship Id="rId7" Type="http://schemas.openxmlformats.org/officeDocument/2006/relationships/image" Target="../media/image10.png"/><Relationship Id="rId12" Type="http://schemas.microsoft.com/office/2007/relationships/hdphoto" Target="../media/hdphoto1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33.png"/><Relationship Id="rId5" Type="http://schemas.openxmlformats.org/officeDocument/2006/relationships/image" Target="../media/image4.png"/><Relationship Id="rId10" Type="http://schemas.openxmlformats.org/officeDocument/2006/relationships/image" Target="../media/image32.png"/><Relationship Id="rId4" Type="http://schemas.openxmlformats.org/officeDocument/2006/relationships/image" Target="../media/image30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4FAB818-6B30-A7C5-7D4E-1D98E2B32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6081" y="1775281"/>
            <a:ext cx="8205541" cy="3122034"/>
          </a:xfrm>
        </p:spPr>
        <p:txBody>
          <a:bodyPr>
            <a:normAutofit/>
          </a:bodyPr>
          <a:lstStyle/>
          <a:p>
            <a:r>
              <a:rPr lang="en-US" sz="4500">
                <a:solidFill>
                  <a:srgbClr val="262626"/>
                </a:solidFill>
              </a:rPr>
              <a:t>BÀI BÁO CÁO :</a:t>
            </a:r>
            <a:br>
              <a:rPr lang="en-US" sz="4500">
                <a:solidFill>
                  <a:srgbClr val="262626"/>
                </a:solidFill>
              </a:rPr>
            </a:br>
            <a:r>
              <a:rPr lang="en-US" sz="4500">
                <a:solidFill>
                  <a:srgbClr val="262626"/>
                </a:solidFill>
              </a:rPr>
              <a:t>Kiểm chứng công thức pp CC, pp CV bằng Psim</a:t>
            </a:r>
            <a:endParaRPr lang="en-US" sz="4200">
              <a:solidFill>
                <a:srgbClr val="262626"/>
              </a:solidFill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65D6D1F-DA43-4175-DF4B-854E11B5E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036" y="4897315"/>
            <a:ext cx="3100165" cy="1337406"/>
          </a:xfrm>
        </p:spPr>
        <p:txBody>
          <a:bodyPr>
            <a:normAutofit fontScale="85000" lnSpcReduction="10000"/>
          </a:bodyPr>
          <a:lstStyle/>
          <a:p>
            <a:pPr algn="l">
              <a:spcBef>
                <a:spcPts val="300"/>
              </a:spcBef>
            </a:pPr>
            <a:r>
              <a:rPr lang="en-US" sz="2900">
                <a:solidFill>
                  <a:srgbClr val="262626"/>
                </a:solidFill>
                <a:latin typeface="Dosis ExtraBold"/>
                <a:cs typeface="Lato"/>
              </a:rPr>
              <a:t>Hua Huy Hoang </a:t>
            </a:r>
          </a:p>
          <a:p>
            <a:pPr algn="l">
              <a:spcBef>
                <a:spcPts val="300"/>
              </a:spcBef>
            </a:pPr>
            <a:r>
              <a:rPr lang="en-US" sz="1800" err="1">
                <a:solidFill>
                  <a:srgbClr val="262626"/>
                </a:solidFill>
                <a:latin typeface="Dosis"/>
                <a:cs typeface="Lato"/>
              </a:rPr>
              <a:t>EVSELab</a:t>
            </a:r>
            <a:r>
              <a:rPr lang="en-US" sz="1800">
                <a:solidFill>
                  <a:srgbClr val="262626"/>
                </a:solidFill>
                <a:latin typeface="Dosis"/>
                <a:cs typeface="Lato"/>
              </a:rPr>
              <a:t> Co., Ltd., </a:t>
            </a:r>
            <a:endParaRPr lang="en-US" sz="1800">
              <a:solidFill>
                <a:srgbClr val="262626"/>
              </a:solidFill>
            </a:endParaRPr>
          </a:p>
          <a:p>
            <a:pPr algn="l">
              <a:spcBef>
                <a:spcPts val="300"/>
              </a:spcBef>
            </a:pPr>
            <a:r>
              <a:rPr lang="en-US" sz="1800">
                <a:solidFill>
                  <a:srgbClr val="262626"/>
                </a:solidFill>
                <a:latin typeface="Dosis"/>
                <a:cs typeface="Lato"/>
              </a:rPr>
              <a:t>410-C1B bldg., No. 01, Dai Co Viet Street, </a:t>
            </a:r>
            <a:endParaRPr lang="en-US" sz="1800">
              <a:solidFill>
                <a:srgbClr val="262626"/>
              </a:solidFill>
            </a:endParaRPr>
          </a:p>
          <a:p>
            <a:pPr algn="l">
              <a:spcBef>
                <a:spcPts val="300"/>
              </a:spcBef>
            </a:pPr>
            <a:r>
              <a:rPr lang="en-US" sz="1800">
                <a:solidFill>
                  <a:srgbClr val="262626"/>
                </a:solidFill>
                <a:latin typeface="Dosis"/>
                <a:cs typeface="Lato"/>
              </a:rPr>
              <a:t>Hai Ba Trung, Hanoi, Vietnam 100000</a:t>
            </a:r>
          </a:p>
          <a:p>
            <a:pPr algn="l">
              <a:spcBef>
                <a:spcPts val="300"/>
              </a:spcBef>
            </a:pPr>
            <a:r>
              <a:rPr lang="en-US" sz="1800">
                <a:solidFill>
                  <a:srgbClr val="262626"/>
                </a:solidFill>
                <a:latin typeface="Dosis"/>
                <a:cs typeface="Lato"/>
              </a:rPr>
              <a:t>Email: huahoang220504@gmail.com</a:t>
            </a:r>
            <a:endParaRPr lang="en-US" sz="1800" u="sng">
              <a:solidFill>
                <a:srgbClr val="262626"/>
              </a:solidFill>
            </a:endParaRPr>
          </a:p>
        </p:txBody>
      </p:sp>
      <p:sp>
        <p:nvSpPr>
          <p:cNvPr id="2" name="Title 15">
            <a:extLst>
              <a:ext uri="{FF2B5EF4-FFF2-40B4-BE49-F238E27FC236}">
                <a16:creationId xmlns:a16="http://schemas.microsoft.com/office/drawing/2014/main" id="{A2FBC851-2E5D-7DB8-43F1-114212A9F939}"/>
              </a:ext>
            </a:extLst>
          </p:cNvPr>
          <p:cNvSpPr txBox="1">
            <a:spLocks/>
          </p:cNvSpPr>
          <p:nvPr/>
        </p:nvSpPr>
        <p:spPr>
          <a:xfrm>
            <a:off x="3065733" y="4251248"/>
            <a:ext cx="3774534" cy="104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 ExtraBold" pitchFamily="2" charset="0"/>
                <a:ea typeface="+mj-ea"/>
                <a:cs typeface="Lato Black" panose="020F0A02020204030203" pitchFamily="34" charset="0"/>
              </a:defRPr>
            </a:lvl1pPr>
          </a:lstStyle>
          <a:p>
            <a:r>
              <a:rPr lang="en-US" sz="3500">
                <a:solidFill>
                  <a:srgbClr val="262626"/>
                </a:solidFill>
              </a:rPr>
              <a:t>08/03/2025</a:t>
            </a:r>
          </a:p>
        </p:txBody>
      </p:sp>
    </p:spTree>
    <p:extLst>
      <p:ext uri="{BB962C8B-B14F-4D97-AF65-F5344CB8AC3E}">
        <p14:creationId xmlns:p14="http://schemas.microsoft.com/office/powerpoint/2010/main" val="3211947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15AB1-0153-9053-88F6-8348999A6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0B9A75F4-36A2-9241-DD9F-F920DEEEE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2</a:t>
            </a:fld>
            <a:r>
              <a:rPr lang="en-US"/>
              <a:t> 	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C0279912-E027-0298-919A-52F5566254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72FBDD94-7782-45D4-9A6E-CEF4E1EEEE1C}" type="datetime1">
              <a:rPr lang="en-US" smtClean="0"/>
              <a:pPr/>
              <a:t>3/17/2025</a:t>
            </a:fld>
            <a:endParaRPr lang="en-US"/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CB09E010-F171-CD5D-8A77-FB818AEDD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/>
          <a:p>
            <a:r>
              <a:rPr lang="en-US" err="1"/>
              <a:t>EVSELab</a:t>
            </a:r>
            <a:r>
              <a:rPr lang="en-US"/>
              <a:t> profile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BC5009-B4DA-B2D3-1DA2-11D0025EF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A53BA-4116-B770-0DF7-F78A70857F91}"/>
              </a:ext>
            </a:extLst>
          </p:cNvPr>
          <p:cNvSpPr txBox="1"/>
          <p:nvPr/>
        </p:nvSpPr>
        <p:spPr>
          <a:xfrm>
            <a:off x="263804" y="987188"/>
            <a:ext cx="9372995" cy="330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indent="-857250">
              <a:lnSpc>
                <a:spcPct val="150000"/>
              </a:lnSpc>
              <a:buFont typeface="+mj-lt"/>
              <a:buAutoNum type="romanUcPeriod"/>
            </a:pPr>
            <a:r>
              <a:rPr lang="en-US" sz="3600"/>
              <a:t>Kiểm chứng công thức pp CC, pp CV từ mô hình Rint bằng mô phỏng Psim</a:t>
            </a:r>
          </a:p>
          <a:p>
            <a:pPr marL="857250" indent="-857250">
              <a:lnSpc>
                <a:spcPct val="150000"/>
              </a:lnSpc>
              <a:buFont typeface="+mj-lt"/>
              <a:buAutoNum type="romanUcPeriod"/>
            </a:pPr>
            <a:r>
              <a:rPr lang="en-US" sz="3600"/>
              <a:t>Kiểm chứng CT pp CC, pp CV từ mô hình Thevenin bằng mô phỏng Psim </a:t>
            </a:r>
          </a:p>
        </p:txBody>
      </p:sp>
    </p:spTree>
    <p:extLst>
      <p:ext uri="{BB962C8B-B14F-4D97-AF65-F5344CB8AC3E}">
        <p14:creationId xmlns:p14="http://schemas.microsoft.com/office/powerpoint/2010/main" val="995095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D688B-AAD5-B096-4C03-9FFC471CA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3354A8-5169-6808-3611-43E6917FAE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76"/>
          <a:stretch/>
        </p:blipFill>
        <p:spPr>
          <a:xfrm>
            <a:off x="4132171" y="3529391"/>
            <a:ext cx="5471950" cy="25529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71B0D0FF-1B19-8AEF-F52F-C92FC3013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3</a:t>
            </a:fld>
            <a:r>
              <a:rPr lang="en-US"/>
              <a:t> 	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A9C3C040-F73C-402C-0270-3A7910D9AC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72FBDD94-7782-45D4-9A6E-CEF4E1EEEE1C}" type="datetime1">
              <a:rPr lang="en-US" smtClean="0"/>
              <a:pPr/>
              <a:t>3/17/2025</a:t>
            </a:fld>
            <a:endParaRPr lang="en-US"/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4B9F2ECB-A96C-EEA7-DECE-FE995CB73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/>
          <a:p>
            <a:r>
              <a:rPr lang="en-US" err="1"/>
              <a:t>EVSELab</a:t>
            </a:r>
            <a:r>
              <a:rPr lang="en-US"/>
              <a:t> profile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618B3E-EDE0-95A2-3CEC-E6A332ACA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887" y="89570"/>
            <a:ext cx="9766931" cy="548731"/>
          </a:xfrm>
        </p:spPr>
        <p:txBody>
          <a:bodyPr/>
          <a:lstStyle/>
          <a:p>
            <a:r>
              <a:rPr lang="en-US" sz="4000">
                <a:solidFill>
                  <a:srgbClr val="262626"/>
                </a:solidFill>
              </a:rPr>
              <a:t>I. Kiểm chứng công thức mô hình Rint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C30561-082F-BC2E-9DD4-4C7BA0C2D4C7}"/>
              </a:ext>
            </a:extLst>
          </p:cNvPr>
          <p:cNvSpPr txBox="1"/>
          <p:nvPr/>
        </p:nvSpPr>
        <p:spPr>
          <a:xfrm>
            <a:off x="160180" y="887139"/>
            <a:ext cx="7483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>
                <a:solidFill>
                  <a:srgbClr val="262626"/>
                </a:solidFill>
              </a:rPr>
              <a:t>Phương pháp ổn dòng (CC)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0E9754-1668-D365-672B-7E8C393122BC}"/>
                  </a:ext>
                </a:extLst>
              </p:cNvPr>
              <p:cNvSpPr txBox="1"/>
              <p:nvPr/>
            </p:nvSpPr>
            <p:spPr>
              <a:xfrm>
                <a:off x="297340" y="1439494"/>
                <a:ext cx="4526120" cy="1903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n-US" sz="1600">
                    <a:solidFill>
                      <a:srgbClr val="262626"/>
                    </a:solidFill>
                  </a:rPr>
                  <a:t>Điện áp sạc Pin 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b="0">
                    <a:solidFill>
                      <a:srgbClr val="262626"/>
                    </a:solidFill>
                    <a:sym typeface="Wingdings" panose="05000000000000000000" pitchFamily="2" charset="2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</m:d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𝐶𝐶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𝑂𝐶𝑉</m:t>
                        </m:r>
                      </m:e>
                    </m:d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</m:oMath>
                </a14:m>
                <a:r>
                  <a:rPr lang="en-US" sz="1600">
                    <a:solidFill>
                      <a:srgbClr val="262626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𝐶𝐶</m:t>
                            </m:r>
                          </m:sub>
                        </m:sSub>
                      </m:num>
                      <m:den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>
                    <a:solidFill>
                      <a:srgbClr val="262626"/>
                    </a:solidFill>
                  </a:rPr>
                  <a:t>   (V)   </a:t>
                </a:r>
              </a:p>
              <a:p>
                <a:pPr marL="285750" indent="-28575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n-US" sz="1600">
                    <a:solidFill>
                      <a:srgbClr val="262626"/>
                    </a:solidFill>
                  </a:rPr>
                  <a:t>Thời gian sạc :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b="0">
                    <a:solidFill>
                      <a:srgbClr val="262626"/>
                    </a:solidFill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𝑐h𝑎𝑟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  <m:t>𝑐𝑢𝑡𝑜𝑓𝑓</m:t>
                                </m:r>
                              </m:sub>
                            </m:sSub>
                            <m: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𝑂𝐶𝑉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  <m:t>𝐶𝐶</m:t>
                                </m:r>
                              </m:sub>
                            </m:sSub>
                          </m:den>
                        </m:f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1600">
                    <a:solidFill>
                      <a:srgbClr val="262626"/>
                    </a:solidFill>
                  </a:rPr>
                  <a:t>    (s)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0E9754-1668-D365-672B-7E8C39312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40" y="1439494"/>
                <a:ext cx="4526120" cy="1903406"/>
              </a:xfrm>
              <a:prstGeom prst="rect">
                <a:avLst/>
              </a:prstGeom>
              <a:blipFill>
                <a:blip r:embed="rId4"/>
                <a:stretch>
                  <a:fillRect l="-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2E2EECCA-AF85-3BB1-B053-71522DA0B7AF}"/>
              </a:ext>
            </a:extLst>
          </p:cNvPr>
          <p:cNvSpPr/>
          <p:nvPr/>
        </p:nvSpPr>
        <p:spPr>
          <a:xfrm flipH="1">
            <a:off x="803006" y="1932342"/>
            <a:ext cx="3258454" cy="434619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4ACBB7-AB0E-E56F-944C-8D1F94B1E4B6}"/>
              </a:ext>
            </a:extLst>
          </p:cNvPr>
          <p:cNvSpPr/>
          <p:nvPr/>
        </p:nvSpPr>
        <p:spPr>
          <a:xfrm flipH="1">
            <a:off x="803006" y="2858015"/>
            <a:ext cx="3258454" cy="452662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53F2B6C-F2C6-7902-08AA-4CCBBE9DF7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804" r="17384" b="14372"/>
          <a:stretch/>
        </p:blipFill>
        <p:spPr>
          <a:xfrm>
            <a:off x="4739640" y="1513890"/>
            <a:ext cx="1912591" cy="18479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3DC0EBEE-582C-95CC-7F09-857318696404}"/>
              </a:ext>
            </a:extLst>
          </p:cNvPr>
          <p:cNvGrpSpPr/>
          <p:nvPr/>
        </p:nvGrpSpPr>
        <p:grpSpPr>
          <a:xfrm>
            <a:off x="6802400" y="1333336"/>
            <a:ext cx="2653214" cy="1899825"/>
            <a:chOff x="6328861" y="1445337"/>
            <a:chExt cx="3034214" cy="196385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6892D9A-138A-14DA-E011-FCE35394C7DD}"/>
                </a:ext>
              </a:extLst>
            </p:cNvPr>
            <p:cNvGrpSpPr/>
            <p:nvPr/>
          </p:nvGrpSpPr>
          <p:grpSpPr>
            <a:xfrm>
              <a:off x="6328861" y="1445337"/>
              <a:ext cx="3034214" cy="1963852"/>
              <a:chOff x="1917400" y="2957489"/>
              <a:chExt cx="4094620" cy="2573614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6FFF1227-BA91-1A0B-5B5C-CD2C826D7A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-12796" b="10076"/>
              <a:stretch/>
            </p:blipFill>
            <p:spPr>
              <a:xfrm>
                <a:off x="2055766" y="2993287"/>
                <a:ext cx="3956254" cy="25378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4CD0BDC-E3EA-5247-DC10-23E7C636B8DA}"/>
                  </a:ext>
                </a:extLst>
              </p:cNvPr>
              <p:cNvSpPr txBox="1"/>
              <p:nvPr/>
            </p:nvSpPr>
            <p:spPr>
              <a:xfrm>
                <a:off x="2055766" y="4798614"/>
                <a:ext cx="1030990" cy="5447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i="1">
                    <a:solidFill>
                      <a:schemeClr val="accent1">
                        <a:lumMod val="50000"/>
                      </a:schemeClr>
                    </a:solidFill>
                  </a:rPr>
                  <a:t>OCV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B43D953-C987-DEE7-07EA-4AF14706121F}"/>
                      </a:ext>
                    </a:extLst>
                  </p:cNvPr>
                  <p:cNvSpPr txBox="1"/>
                  <p:nvPr/>
                </p:nvSpPr>
                <p:spPr>
                  <a:xfrm>
                    <a:off x="1917400" y="2957489"/>
                    <a:ext cx="887076" cy="36189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𝒄𝒖𝒕𝒐𝒇𝒇</m:t>
                              </m:r>
                            </m:sub>
                          </m:sSub>
                        </m:oMath>
                      </m:oMathPara>
                    </a14:m>
                    <a:endParaRPr lang="en-US" sz="1600" b="1">
                      <a:solidFill>
                        <a:schemeClr val="accent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6F9523AF-2AE9-95DC-C242-DD9D07EF09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17400" y="2957489"/>
                    <a:ext cx="887076" cy="36189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35106" b="-43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90818B5-DB00-8775-5F30-C79F887C7C69}"/>
                  </a:ext>
                </a:extLst>
              </p:cNvPr>
              <p:cNvSpPr/>
              <p:nvPr/>
            </p:nvSpPr>
            <p:spPr>
              <a:xfrm>
                <a:off x="2829122" y="4811675"/>
                <a:ext cx="57898" cy="7328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01DF3F5-F479-E55F-8641-9E4B92AACA37}"/>
                  </a:ext>
                </a:extLst>
              </p:cNvPr>
              <p:cNvSpPr/>
              <p:nvPr/>
            </p:nvSpPr>
            <p:spPr>
              <a:xfrm>
                <a:off x="2845595" y="3220267"/>
                <a:ext cx="57898" cy="7328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3C5B976E-8916-2B18-BE98-60E954AF2F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36830" y="3256910"/>
                <a:ext cx="2721191" cy="0"/>
              </a:xfrm>
              <a:prstGeom prst="line">
                <a:avLst/>
              </a:prstGeom>
              <a:ln w="190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CA4CF63A-19DA-D7BE-45B0-516F1F25AEBB}"/>
                  </a:ext>
                </a:extLst>
              </p:cNvPr>
              <p:cNvSpPr/>
              <p:nvPr/>
            </p:nvSpPr>
            <p:spPr>
              <a:xfrm>
                <a:off x="2829121" y="3424541"/>
                <a:ext cx="57898" cy="7328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186D878-48AF-CB90-836A-E049EEEC34D9}"/>
                    </a:ext>
                  </a:extLst>
                </p:cNvPr>
                <p:cNvSpPr txBox="1"/>
                <p:nvPr/>
              </p:nvSpPr>
              <p:spPr>
                <a:xfrm>
                  <a:off x="6581313" y="1725530"/>
                  <a:ext cx="395603" cy="3499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600" b="1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𝑪𝑪</m:t>
                            </m:r>
                          </m:sub>
                        </m:sSub>
                      </m:oMath>
                    </m:oMathPara>
                  </a14:m>
                  <a:endParaRPr lang="en-US" sz="1600" b="1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E9052D5-5102-366C-7215-52A30C350E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1313" y="1725530"/>
                  <a:ext cx="395603" cy="349964"/>
                </a:xfrm>
                <a:prstGeom prst="rect">
                  <a:avLst/>
                </a:prstGeom>
                <a:blipFill>
                  <a:blip r:embed="rId8"/>
                  <a:stretch>
                    <a:fillRect r="-192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6537F961-582D-FF07-F899-1827FE2503AC}"/>
              </a:ext>
            </a:extLst>
          </p:cNvPr>
          <p:cNvSpPr txBox="1"/>
          <p:nvPr/>
        </p:nvSpPr>
        <p:spPr>
          <a:xfrm>
            <a:off x="339544" y="3338169"/>
            <a:ext cx="4526120" cy="49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>
                <a:solidFill>
                  <a:srgbClr val="262626"/>
                </a:solidFill>
              </a:rPr>
              <a:t>Thông số mô phỏng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4660AF9-4C9D-8863-2069-8F386174D030}"/>
                  </a:ext>
                </a:extLst>
              </p:cNvPr>
              <p:cNvSpPr txBox="1"/>
              <p:nvPr/>
            </p:nvSpPr>
            <p:spPr>
              <a:xfrm>
                <a:off x="598626" y="3805936"/>
                <a:ext cx="2524402" cy="19354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𝐶𝑉</m:t>
                    </m:r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=3.35</m:t>
                    </m:r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b="0">
                  <a:solidFill>
                    <a:srgbClr val="262626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𝑐𝑐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=2.5</m:t>
                    </m:r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600" b="0">
                  <a:solidFill>
                    <a:srgbClr val="262626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=0.068 </m:t>
                    </m:r>
                    <m:r>
                      <a:rPr lang="en-US" sz="160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endParaRPr lang="en-US" sz="1600">
                  <a:solidFill>
                    <a:srgbClr val="262626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=11030 </m:t>
                    </m:r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sz="1600" b="0">
                  <a:solidFill>
                    <a:srgbClr val="262626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𝑐𝑢𝑡𝑜𝑓𝑓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=4.2</m:t>
                    </m:r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1600">
                  <a:solidFill>
                    <a:srgbClr val="262626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4660AF9-4C9D-8863-2069-8F386174D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26" y="3805936"/>
                <a:ext cx="2524402" cy="1935402"/>
              </a:xfrm>
              <a:prstGeom prst="rect">
                <a:avLst/>
              </a:prstGeom>
              <a:blipFill>
                <a:blip r:embed="rId9"/>
                <a:stretch>
                  <a:fillRect l="-966" b="-1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>
            <a:extLst>
              <a:ext uri="{FF2B5EF4-FFF2-40B4-BE49-F238E27FC236}">
                <a16:creationId xmlns:a16="http://schemas.microsoft.com/office/drawing/2014/main" id="{4D25D0DA-334F-EC72-56C3-A190B005F39F}"/>
              </a:ext>
            </a:extLst>
          </p:cNvPr>
          <p:cNvSpPr/>
          <p:nvPr/>
        </p:nvSpPr>
        <p:spPr>
          <a:xfrm flipH="1">
            <a:off x="4563794" y="4419600"/>
            <a:ext cx="389206" cy="1057394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A052C0-66FD-674F-CCF8-2883C96EB7AB}"/>
              </a:ext>
            </a:extLst>
          </p:cNvPr>
          <p:cNvSpPr txBox="1"/>
          <p:nvPr/>
        </p:nvSpPr>
        <p:spPr>
          <a:xfrm>
            <a:off x="4137975" y="4067361"/>
            <a:ext cx="53336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accent6">
                    <a:lumMod val="50000"/>
                  </a:schemeClr>
                </a:solidFill>
              </a:rPr>
              <a:t>Pin</a:t>
            </a:r>
            <a:endParaRPr 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593ECDD-B426-1573-31EC-E0D6F1494AA3}"/>
              </a:ext>
            </a:extLst>
          </p:cNvPr>
          <p:cNvSpPr/>
          <p:nvPr/>
        </p:nvSpPr>
        <p:spPr>
          <a:xfrm flipH="1">
            <a:off x="6679025" y="4433668"/>
            <a:ext cx="710754" cy="1307670"/>
          </a:xfrm>
          <a:prstGeom prst="rect">
            <a:avLst/>
          </a:prstGeom>
          <a:noFill/>
          <a:ln w="12700">
            <a:solidFill>
              <a:srgbClr val="99013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3DAE6F-52B3-9156-52B1-7F9A17DA7F7F}"/>
              </a:ext>
            </a:extLst>
          </p:cNvPr>
          <p:cNvSpPr txBox="1"/>
          <p:nvPr/>
        </p:nvSpPr>
        <p:spPr>
          <a:xfrm>
            <a:off x="5517876" y="5409275"/>
            <a:ext cx="12031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solidFill>
                  <a:srgbClr val="990134"/>
                </a:solidFill>
              </a:rPr>
              <a:t>ĐK đóng/ngắt nguồn dòng 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63245D5-D64C-1646-0329-D191A6259463}"/>
              </a:ext>
            </a:extLst>
          </p:cNvPr>
          <p:cNvSpPr/>
          <p:nvPr/>
        </p:nvSpPr>
        <p:spPr>
          <a:xfrm flipH="1">
            <a:off x="7751297" y="4081429"/>
            <a:ext cx="1824686" cy="1242971"/>
          </a:xfrm>
          <a:prstGeom prst="rect">
            <a:avLst/>
          </a:prstGeom>
          <a:noFill/>
          <a:ln w="1270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B41CF36-D6A7-4C0C-514C-FB088F24A940}"/>
              </a:ext>
            </a:extLst>
          </p:cNvPr>
          <p:cNvSpPr txBox="1"/>
          <p:nvPr/>
        </p:nvSpPr>
        <p:spPr>
          <a:xfrm>
            <a:off x="7872979" y="5356521"/>
            <a:ext cx="1434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solidFill>
                  <a:schemeClr val="accent4">
                    <a:lumMod val="75000"/>
                  </a:schemeClr>
                </a:solidFill>
              </a:rPr>
              <a:t>Mạch so sánh Vbat vs Vcutoff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2F6FE3-7B36-FE90-B4DB-AEE98D4596CD}"/>
              </a:ext>
            </a:extLst>
          </p:cNvPr>
          <p:cNvSpPr txBox="1"/>
          <p:nvPr/>
        </p:nvSpPr>
        <p:spPr>
          <a:xfrm>
            <a:off x="5161705" y="6114427"/>
            <a:ext cx="38561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H1 : Psim mô phỏng pp CC mô hình Rint</a:t>
            </a:r>
          </a:p>
        </p:txBody>
      </p:sp>
    </p:spTree>
    <p:extLst>
      <p:ext uri="{BB962C8B-B14F-4D97-AF65-F5344CB8AC3E}">
        <p14:creationId xmlns:p14="http://schemas.microsoft.com/office/powerpoint/2010/main" val="1747433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77793-64B9-28B6-1ECD-AC1CC5482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0B1CC6C0-FB40-C815-8925-CFEE4F877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4</a:t>
            </a:fld>
            <a:r>
              <a:rPr lang="en-US"/>
              <a:t> 	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7C83B949-477E-AAA6-D543-74B62F51D9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72FBDD94-7782-45D4-9A6E-CEF4E1EEEE1C}" type="datetime1">
              <a:rPr lang="en-US" smtClean="0"/>
              <a:pPr/>
              <a:t>3/17/2025</a:t>
            </a:fld>
            <a:endParaRPr lang="en-US"/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7CBA52A8-8A0E-22BF-B4E9-7384B8A00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/>
          <a:p>
            <a:r>
              <a:rPr lang="en-US" err="1"/>
              <a:t>EVSELab</a:t>
            </a:r>
            <a:r>
              <a:rPr lang="en-US"/>
              <a:t> profile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9AB993-86A7-5390-6CD1-14D664683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887" y="89570"/>
            <a:ext cx="9766931" cy="548731"/>
          </a:xfrm>
        </p:spPr>
        <p:txBody>
          <a:bodyPr/>
          <a:lstStyle/>
          <a:p>
            <a:r>
              <a:rPr lang="en-US" sz="4000">
                <a:solidFill>
                  <a:srgbClr val="262626"/>
                </a:solidFill>
              </a:rPr>
              <a:t>I. Kiểm chứng công thức mô hình Rint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AF3C0E-0D5D-6993-6E39-7657C4A7C358}"/>
              </a:ext>
            </a:extLst>
          </p:cNvPr>
          <p:cNvSpPr txBox="1"/>
          <p:nvPr/>
        </p:nvSpPr>
        <p:spPr>
          <a:xfrm>
            <a:off x="160180" y="887139"/>
            <a:ext cx="7483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>
                <a:solidFill>
                  <a:srgbClr val="262626"/>
                </a:solidFill>
              </a:rPr>
              <a:t>Phương pháp ổn dòng (CC)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1C329E-94AD-A2B7-7576-EEBEC7F40D93}"/>
              </a:ext>
            </a:extLst>
          </p:cNvPr>
          <p:cNvSpPr txBox="1"/>
          <p:nvPr/>
        </p:nvSpPr>
        <p:spPr>
          <a:xfrm>
            <a:off x="276238" y="1389795"/>
            <a:ext cx="4526120" cy="49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>
                <a:solidFill>
                  <a:srgbClr val="262626"/>
                </a:solidFill>
              </a:rPr>
              <a:t>Kết quả mô phỏng 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DD6904-0A47-F914-2BEF-06CAAA4C8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27" y="2004927"/>
            <a:ext cx="4596382" cy="32223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144D41-79AF-2E3C-1DB3-A0A90E03FD5E}"/>
              </a:ext>
            </a:extLst>
          </p:cNvPr>
          <p:cNvSpPr/>
          <p:nvPr/>
        </p:nvSpPr>
        <p:spPr>
          <a:xfrm flipH="1">
            <a:off x="3879532" y="2506980"/>
            <a:ext cx="1546394" cy="2179320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15CC20-DEAF-C6AF-767A-BD945212A1F0}"/>
                  </a:ext>
                </a:extLst>
              </p:cNvPr>
              <p:cNvSpPr txBox="1"/>
              <p:nvPr/>
            </p:nvSpPr>
            <p:spPr>
              <a:xfrm>
                <a:off x="3797447" y="2151653"/>
                <a:ext cx="192638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Thời điểm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≥4.2</m:t>
                    </m:r>
                    <m:r>
                      <a:rPr lang="en-US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15CC20-DEAF-C6AF-767A-BD945212A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447" y="2151653"/>
                <a:ext cx="1926386" cy="307777"/>
              </a:xfrm>
              <a:prstGeom prst="rect">
                <a:avLst/>
              </a:prstGeom>
              <a:blipFill>
                <a:blip r:embed="rId4"/>
                <a:stretch>
                  <a:fillRect l="-949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D2DEE72C-1C1B-6B88-AD48-97208D26F1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4914" y="2151653"/>
            <a:ext cx="1846702" cy="27700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DB65E5-A4E9-7167-D5F7-A91CE2770DF3}"/>
              </a:ext>
            </a:extLst>
          </p:cNvPr>
          <p:cNvCxnSpPr>
            <a:cxnSpLocks/>
          </p:cNvCxnSpPr>
          <p:nvPr/>
        </p:nvCxnSpPr>
        <p:spPr>
          <a:xfrm>
            <a:off x="5425926" y="4686300"/>
            <a:ext cx="1568988" cy="235407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C18D72-9B7B-4C08-88E2-A7A12EF87698}"/>
              </a:ext>
            </a:extLst>
          </p:cNvPr>
          <p:cNvCxnSpPr>
            <a:cxnSpLocks/>
          </p:cNvCxnSpPr>
          <p:nvPr/>
        </p:nvCxnSpPr>
        <p:spPr>
          <a:xfrm flipV="1">
            <a:off x="5425926" y="2151653"/>
            <a:ext cx="1568988" cy="359137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97EE143-D430-68EB-9918-4FABA543B20D}"/>
                  </a:ext>
                </a:extLst>
              </p:cNvPr>
              <p:cNvSpPr txBox="1"/>
              <p:nvPr/>
            </p:nvSpPr>
            <p:spPr>
              <a:xfrm>
                <a:off x="1731162" y="3431457"/>
                <a:ext cx="139731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𝑐𝑐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=2.5</m:t>
                      </m:r>
                      <m:r>
                        <a:rPr lang="en-US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60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97EE143-D430-68EB-9918-4FABA543B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162" y="3431457"/>
                <a:ext cx="1397317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051EA3-359B-F76E-399F-E8E229363CE1}"/>
                  </a:ext>
                </a:extLst>
              </p:cNvPr>
              <p:cNvSpPr txBox="1"/>
              <p:nvPr/>
            </p:nvSpPr>
            <p:spPr>
              <a:xfrm rot="21218069">
                <a:off x="793989" y="2589182"/>
                <a:ext cx="180934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=3.52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051EA3-359B-F76E-399F-E8E229363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218069">
                <a:off x="793989" y="2589182"/>
                <a:ext cx="180934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8C8412CE-6920-D4E9-46A6-7A03C903AA02}"/>
              </a:ext>
            </a:extLst>
          </p:cNvPr>
          <p:cNvSpPr txBox="1"/>
          <p:nvPr/>
        </p:nvSpPr>
        <p:spPr>
          <a:xfrm>
            <a:off x="3695818" y="5493321"/>
            <a:ext cx="28878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H2 : Kết quả mô phỏng pp CC</a:t>
            </a:r>
          </a:p>
        </p:txBody>
      </p:sp>
    </p:spTree>
    <p:extLst>
      <p:ext uri="{BB962C8B-B14F-4D97-AF65-F5344CB8AC3E}">
        <p14:creationId xmlns:p14="http://schemas.microsoft.com/office/powerpoint/2010/main" val="1725257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29351-ACC2-DE7E-1D6F-95FB1A6CA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8870BF88-5033-4C85-ED56-2B21616AB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5</a:t>
            </a:fld>
            <a:r>
              <a:rPr lang="en-US"/>
              <a:t> 	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8257ABCF-D19B-DC37-B815-8D3E503D71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72FBDD94-7782-45D4-9A6E-CEF4E1EEEE1C}" type="datetime1">
              <a:rPr lang="en-US" smtClean="0"/>
              <a:pPr/>
              <a:t>3/17/2025</a:t>
            </a:fld>
            <a:endParaRPr lang="en-US"/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7C4B056D-3761-D295-48EE-74FE5B091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/>
          <a:p>
            <a:r>
              <a:rPr lang="en-US" err="1"/>
              <a:t>EVSELab</a:t>
            </a:r>
            <a:r>
              <a:rPr lang="en-US"/>
              <a:t> profile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E4D1112-B199-0FFD-DC3E-9DDEA9CDF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887" y="89570"/>
            <a:ext cx="9766931" cy="548731"/>
          </a:xfrm>
        </p:spPr>
        <p:txBody>
          <a:bodyPr/>
          <a:lstStyle/>
          <a:p>
            <a:r>
              <a:rPr lang="en-US" sz="4000">
                <a:solidFill>
                  <a:srgbClr val="262626"/>
                </a:solidFill>
              </a:rPr>
              <a:t>I. Kiểm chứng công thức mô hình Rint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7BECC8-E2D8-8B89-77C3-5AB7B1405D80}"/>
              </a:ext>
            </a:extLst>
          </p:cNvPr>
          <p:cNvSpPr txBox="1"/>
          <p:nvPr/>
        </p:nvSpPr>
        <p:spPr>
          <a:xfrm>
            <a:off x="160180" y="887139"/>
            <a:ext cx="7483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>
                <a:solidFill>
                  <a:srgbClr val="262626"/>
                </a:solidFill>
              </a:rPr>
              <a:t>Phương pháp ổn dòng (CC)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C40FE3-3287-9969-40A1-1C95ED03A5E9}"/>
              </a:ext>
            </a:extLst>
          </p:cNvPr>
          <p:cNvSpPr txBox="1"/>
          <p:nvPr/>
        </p:nvSpPr>
        <p:spPr>
          <a:xfrm>
            <a:off x="276238" y="1389795"/>
            <a:ext cx="4526120" cy="49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>
                <a:solidFill>
                  <a:srgbClr val="262626"/>
                </a:solidFill>
              </a:rPr>
              <a:t>Kết quả mô phỏng :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FEF60D-FB42-5CA7-3387-BCEE25BFCB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64"/>
          <a:stretch/>
        </p:blipFill>
        <p:spPr>
          <a:xfrm>
            <a:off x="6204613" y="1963282"/>
            <a:ext cx="3041660" cy="20614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DF24BF-7AF8-28C3-FCED-CC2AD43E9D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707"/>
          <a:stretch/>
        </p:blipFill>
        <p:spPr>
          <a:xfrm>
            <a:off x="6204613" y="4019680"/>
            <a:ext cx="3063348" cy="20614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A278501-8299-464C-0795-B7E23604D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24" y="1987929"/>
            <a:ext cx="4325801" cy="40661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BCB159CC-5B5B-E875-35BC-F4E09F755068}"/>
              </a:ext>
            </a:extLst>
          </p:cNvPr>
          <p:cNvSpPr/>
          <p:nvPr/>
        </p:nvSpPr>
        <p:spPr>
          <a:xfrm>
            <a:off x="5102556" y="3829180"/>
            <a:ext cx="733425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5384D2-B69C-DEA6-08AB-43E00904BA99}"/>
                  </a:ext>
                </a:extLst>
              </p:cNvPr>
              <p:cNvSpPr txBox="1"/>
              <p:nvPr/>
            </p:nvSpPr>
            <p:spPr>
              <a:xfrm>
                <a:off x="7759449" y="3065122"/>
                <a:ext cx="1314701" cy="29206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𝑐h𝑎𝑟𝑔𝑒𝑑</m:t>
                          </m:r>
                        </m:sub>
                      </m:sSub>
                      <m:r>
                        <a:rPr lang="en-US" sz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1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3000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sz="12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5384D2-B69C-DEA6-08AB-43E00904B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9449" y="3065122"/>
                <a:ext cx="1314701" cy="292068"/>
              </a:xfrm>
              <a:prstGeom prst="rect">
                <a:avLst/>
              </a:prstGeom>
              <a:blipFill>
                <a:blip r:embed="rId5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D66A386-4439-5CD7-D568-2A17740EF723}"/>
                  </a:ext>
                </a:extLst>
              </p:cNvPr>
              <p:cNvSpPr txBox="1"/>
              <p:nvPr/>
            </p:nvSpPr>
            <p:spPr>
              <a:xfrm>
                <a:off x="7742637" y="5110781"/>
                <a:ext cx="1314701" cy="29206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𝑐h𝑎𝑟𝑔𝑒𝑑</m:t>
                          </m:r>
                        </m:sub>
                      </m:sSub>
                      <m:r>
                        <a:rPr lang="en-US" sz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1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3000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sz="12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D66A386-4439-5CD7-D568-2A17740EF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2637" y="5110781"/>
                <a:ext cx="1314701" cy="292068"/>
              </a:xfrm>
              <a:prstGeom prst="rect">
                <a:avLst/>
              </a:prstGeom>
              <a:blipFill>
                <a:blip r:embed="rId6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AC55DDEF-5B8F-1B87-EA06-91DCD2C0C2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6802" y="1987930"/>
            <a:ext cx="541218" cy="2297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ED29DAB-4088-2648-9F95-4E833A1E0A4F}"/>
              </a:ext>
            </a:extLst>
          </p:cNvPr>
          <p:cNvSpPr txBox="1"/>
          <p:nvPr/>
        </p:nvSpPr>
        <p:spPr>
          <a:xfrm>
            <a:off x="1465957" y="6081177"/>
            <a:ext cx="28878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H3 : Dữ liệu so sánh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551E8B-2DC8-BF70-3BAE-1D4101F2F562}"/>
              </a:ext>
            </a:extLst>
          </p:cNvPr>
          <p:cNvSpPr txBox="1"/>
          <p:nvPr/>
        </p:nvSpPr>
        <p:spPr>
          <a:xfrm>
            <a:off x="6748731" y="6081177"/>
            <a:ext cx="28878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H4 : Đồ thị so sánh</a:t>
            </a:r>
          </a:p>
        </p:txBody>
      </p:sp>
    </p:spTree>
    <p:extLst>
      <p:ext uri="{BB962C8B-B14F-4D97-AF65-F5344CB8AC3E}">
        <p14:creationId xmlns:p14="http://schemas.microsoft.com/office/powerpoint/2010/main" val="3548020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1E213-DB62-803C-F348-559EF19A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B2E653-F6F0-C1FF-BAFB-A8758D10F744}"/>
                  </a:ext>
                </a:extLst>
              </p:cNvPr>
              <p:cNvSpPr txBox="1"/>
              <p:nvPr/>
            </p:nvSpPr>
            <p:spPr>
              <a:xfrm>
                <a:off x="284007" y="1049743"/>
                <a:ext cx="4668994" cy="2196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1600">
                  <a:solidFill>
                    <a:srgbClr val="262626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n-US" sz="1600">
                    <a:solidFill>
                      <a:srgbClr val="262626"/>
                    </a:solidFill>
                  </a:rPr>
                  <a:t>Dòng điện sạc cho pin : Với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>
                    <a:solidFill>
                      <a:srgbClr val="262626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𝐶𝑉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𝑂𝐶𝑉</m:t>
                        </m:r>
                      </m:num>
                      <m:den>
                        <m: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en-US" sz="1600">
                  <a:solidFill>
                    <a:srgbClr val="262626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600" b="0">
                    <a:solidFill>
                      <a:srgbClr val="262626"/>
                    </a:solidFill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𝐶𝑉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𝑂𝐶𝑉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</m:sup>
                    </m:sSup>
                    <m:r>
                      <a:rPr lang="en-US" sz="1600" b="0" i="0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</m:sup>
                    </m:sSup>
                    <m:r>
                      <a:rPr lang="en-US" sz="1600" b="0" i="0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   (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600" b="0" i="0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>
                  <a:solidFill>
                    <a:srgbClr val="262626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n-US" sz="1600">
                    <a:solidFill>
                      <a:srgbClr val="262626"/>
                    </a:solidFill>
                  </a:rPr>
                  <a:t>Thời gian sạc 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b="0">
                    <a:solidFill>
                      <a:srgbClr val="262626"/>
                    </a:solidFill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𝑐h𝑎𝑟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1600" b="0" i="0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(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𝑐𝑢𝑡𝑜𝑓𝑓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))</m:t>
                    </m:r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RC</m:t>
                    </m:r>
                    <m:r>
                      <a:rPr lang="en-US" sz="1600" b="0" i="0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  (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1600" b="0" i="0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>
                  <a:solidFill>
                    <a:srgbClr val="262626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B2E653-F6F0-C1FF-BAFB-A8758D10F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07" y="1049743"/>
                <a:ext cx="4668994" cy="2196627"/>
              </a:xfrm>
              <a:prstGeom prst="rect">
                <a:avLst/>
              </a:prstGeom>
              <a:blipFill>
                <a:blip r:embed="rId3"/>
                <a:stretch>
                  <a:fillRect l="-522" b="-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CD41F3AB-A482-103E-CA23-CA974D0B7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6</a:t>
            </a:fld>
            <a:r>
              <a:rPr lang="en-US"/>
              <a:t> 	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5B488721-4BFD-54DC-6D6D-816650B7E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72FBDD94-7782-45D4-9A6E-CEF4E1EEEE1C}" type="datetime1">
              <a:rPr lang="en-US" smtClean="0"/>
              <a:pPr/>
              <a:t>3/17/2025</a:t>
            </a:fld>
            <a:endParaRPr lang="en-US"/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4A13B3D0-5CCD-124E-1DC6-BB159BD41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/>
          <a:p>
            <a:r>
              <a:rPr lang="en-US" err="1"/>
              <a:t>EVSELab</a:t>
            </a:r>
            <a:r>
              <a:rPr lang="en-US"/>
              <a:t> profile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E436EB5-5891-51A4-4948-EB89C17DF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887" y="89570"/>
            <a:ext cx="9766931" cy="548731"/>
          </a:xfrm>
        </p:spPr>
        <p:txBody>
          <a:bodyPr/>
          <a:lstStyle/>
          <a:p>
            <a:r>
              <a:rPr lang="en-US" sz="4000">
                <a:solidFill>
                  <a:srgbClr val="262626"/>
                </a:solidFill>
              </a:rPr>
              <a:t>I. Kiểm chứng công thức mô hình Rint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C8F334-9407-571B-8E82-5FF8F0E0A1DD}"/>
              </a:ext>
            </a:extLst>
          </p:cNvPr>
          <p:cNvSpPr txBox="1"/>
          <p:nvPr/>
        </p:nvSpPr>
        <p:spPr>
          <a:xfrm>
            <a:off x="160180" y="887139"/>
            <a:ext cx="7483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>
                <a:solidFill>
                  <a:srgbClr val="262626"/>
                </a:solidFill>
              </a:rPr>
              <a:t>Phương pháp ổn áp (CV)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E9521B-8667-E495-D069-D7F2DFFF8719}"/>
              </a:ext>
            </a:extLst>
          </p:cNvPr>
          <p:cNvSpPr/>
          <p:nvPr/>
        </p:nvSpPr>
        <p:spPr>
          <a:xfrm flipH="1">
            <a:off x="681037" y="1930606"/>
            <a:ext cx="3574438" cy="500954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8A96C9-077F-1EA2-DAE6-DC88524293EA}"/>
              </a:ext>
            </a:extLst>
          </p:cNvPr>
          <p:cNvSpPr/>
          <p:nvPr/>
        </p:nvSpPr>
        <p:spPr>
          <a:xfrm flipH="1">
            <a:off x="681037" y="2787675"/>
            <a:ext cx="3574437" cy="452662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26E81A-9BC5-71C7-F45E-E384FEEFDB68}"/>
              </a:ext>
            </a:extLst>
          </p:cNvPr>
          <p:cNvSpPr txBox="1"/>
          <p:nvPr/>
        </p:nvSpPr>
        <p:spPr>
          <a:xfrm>
            <a:off x="339544" y="3288931"/>
            <a:ext cx="4526120" cy="49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>
                <a:solidFill>
                  <a:srgbClr val="262626"/>
                </a:solidFill>
              </a:rPr>
              <a:t>Thông số mô phỏng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D47A58E-B4B7-4460-3D17-AC7FD43D42B1}"/>
                  </a:ext>
                </a:extLst>
              </p:cNvPr>
              <p:cNvSpPr txBox="1"/>
              <p:nvPr/>
            </p:nvSpPr>
            <p:spPr>
              <a:xfrm>
                <a:off x="670386" y="3772874"/>
                <a:ext cx="2524402" cy="21502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𝐶𝑉</m:t>
                    </m:r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=3.35</m:t>
                    </m:r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>
                  <a:solidFill>
                    <a:srgbClr val="262626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𝑐𝑢𝑡𝑜𝑓𝑓</m:t>
                        </m:r>
                      </m:sub>
                    </m:sSub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=0.1</m:t>
                    </m:r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>
                  <a:solidFill>
                    <a:srgbClr val="262626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=0.068 </m:t>
                    </m:r>
                    <m:r>
                      <a:rPr lang="en-US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endParaRPr lang="en-US">
                  <a:solidFill>
                    <a:srgbClr val="262626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=11030 </m:t>
                    </m:r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b="0">
                  <a:solidFill>
                    <a:srgbClr val="262626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𝑐𝑣</m:t>
                        </m:r>
                      </m:sub>
                    </m:sSub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>
                  <a:solidFill>
                    <a:srgbClr val="262626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D47A58E-B4B7-4460-3D17-AC7FD43D4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386" y="3772874"/>
                <a:ext cx="2524402" cy="2150269"/>
              </a:xfrm>
              <a:prstGeom prst="rect">
                <a:avLst/>
              </a:prstGeom>
              <a:blipFill>
                <a:blip r:embed="rId4"/>
                <a:stretch>
                  <a:fillRect l="-1691" b="-2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4E1C631-D3F6-BC82-051D-2393EAC547A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968"/>
          <a:stretch/>
        </p:blipFill>
        <p:spPr>
          <a:xfrm>
            <a:off x="6979387" y="1390871"/>
            <a:ext cx="2584805" cy="18363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3333C3-17DF-7616-936C-F1E530AB10B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7804" r="17384" b="14372"/>
          <a:stretch/>
        </p:blipFill>
        <p:spPr>
          <a:xfrm>
            <a:off x="4841024" y="1492787"/>
            <a:ext cx="1912591" cy="18479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54087C-9033-8223-D2D9-241CAF18B64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674"/>
          <a:stretch/>
        </p:blipFill>
        <p:spPr>
          <a:xfrm>
            <a:off x="4770120" y="3426945"/>
            <a:ext cx="4794072" cy="26309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02FC29D-67C4-9048-114C-7FA8873AC167}"/>
              </a:ext>
            </a:extLst>
          </p:cNvPr>
          <p:cNvSpPr/>
          <p:nvPr/>
        </p:nvSpPr>
        <p:spPr>
          <a:xfrm flipH="1">
            <a:off x="5396383" y="4553331"/>
            <a:ext cx="389206" cy="978789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0FB3D8-262F-E626-766A-2FDF2E274713}"/>
              </a:ext>
            </a:extLst>
          </p:cNvPr>
          <p:cNvSpPr txBox="1"/>
          <p:nvPr/>
        </p:nvSpPr>
        <p:spPr>
          <a:xfrm>
            <a:off x="5107724" y="4208712"/>
            <a:ext cx="53336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accent6">
                    <a:lumMod val="50000"/>
                  </a:schemeClr>
                </a:solidFill>
              </a:rPr>
              <a:t>Pin</a:t>
            </a:r>
            <a:endParaRPr 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710C7B-86C5-0CC3-F252-2234C46A2C0F}"/>
              </a:ext>
            </a:extLst>
          </p:cNvPr>
          <p:cNvSpPr txBox="1"/>
          <p:nvPr/>
        </p:nvSpPr>
        <p:spPr>
          <a:xfrm>
            <a:off x="5535456" y="6086466"/>
            <a:ext cx="38561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H5 : Psim mô phỏng pp CV mô hình Rint</a:t>
            </a:r>
          </a:p>
        </p:txBody>
      </p:sp>
    </p:spTree>
    <p:extLst>
      <p:ext uri="{BB962C8B-B14F-4D97-AF65-F5344CB8AC3E}">
        <p14:creationId xmlns:p14="http://schemas.microsoft.com/office/powerpoint/2010/main" val="2267092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68844-7484-A2C6-0692-7DC2CDDBC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EEDAB3AB-CFB1-2739-10CD-CEDE78CE5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7</a:t>
            </a:fld>
            <a:r>
              <a:rPr lang="en-US"/>
              <a:t> 	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33185C2D-EDD3-9D92-6919-5DF93DB824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72FBDD94-7782-45D4-9A6E-CEF4E1EEEE1C}" type="datetime1">
              <a:rPr lang="en-US" smtClean="0"/>
              <a:pPr/>
              <a:t>3/17/2025</a:t>
            </a:fld>
            <a:endParaRPr lang="en-US"/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FB7D2A5C-C15A-E8FE-5320-2ECA0B622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/>
          <a:p>
            <a:r>
              <a:rPr lang="en-US" err="1"/>
              <a:t>EVSELab</a:t>
            </a:r>
            <a:r>
              <a:rPr lang="en-US"/>
              <a:t> profile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56EADA-E3EE-28D6-F2F7-DE837F8D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887" y="89570"/>
            <a:ext cx="9766931" cy="548731"/>
          </a:xfrm>
        </p:spPr>
        <p:txBody>
          <a:bodyPr/>
          <a:lstStyle/>
          <a:p>
            <a:r>
              <a:rPr lang="en-US" sz="4000">
                <a:solidFill>
                  <a:srgbClr val="262626"/>
                </a:solidFill>
              </a:rPr>
              <a:t>I. Kiểm chứng công thức mô hình Rint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C3EC92-3546-5E9D-EF8F-BD3D65AD7E9E}"/>
              </a:ext>
            </a:extLst>
          </p:cNvPr>
          <p:cNvSpPr txBox="1"/>
          <p:nvPr/>
        </p:nvSpPr>
        <p:spPr>
          <a:xfrm>
            <a:off x="160180" y="887139"/>
            <a:ext cx="7483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>
                <a:solidFill>
                  <a:srgbClr val="262626"/>
                </a:solidFill>
              </a:rPr>
              <a:t>Phương pháp ổn áp (CV)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F7DC07-85B0-C7F2-A45C-D21339589F68}"/>
              </a:ext>
            </a:extLst>
          </p:cNvPr>
          <p:cNvSpPr txBox="1"/>
          <p:nvPr/>
        </p:nvSpPr>
        <p:spPr>
          <a:xfrm>
            <a:off x="276238" y="1389795"/>
            <a:ext cx="3114662" cy="49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>
                <a:solidFill>
                  <a:srgbClr val="262626"/>
                </a:solidFill>
              </a:rPr>
              <a:t>Kết quả mô phỏng :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9CE6AA-300F-FBB5-A4BF-E9F2BD396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311" y="2136181"/>
            <a:ext cx="5413377" cy="38376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831556-9705-0D3F-E808-3D716AB09E68}"/>
                  </a:ext>
                </a:extLst>
              </p:cNvPr>
              <p:cNvSpPr txBox="1"/>
              <p:nvPr/>
            </p:nvSpPr>
            <p:spPr>
              <a:xfrm>
                <a:off x="3797443" y="3940457"/>
                <a:ext cx="180934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𝐶𝑉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831556-9705-0D3F-E808-3D716AB09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443" y="3940457"/>
                <a:ext cx="1809341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24391A-9650-801E-39FC-EC08332096A5}"/>
                  </a:ext>
                </a:extLst>
              </p:cNvPr>
              <p:cNvSpPr txBox="1"/>
              <p:nvPr/>
            </p:nvSpPr>
            <p:spPr>
              <a:xfrm>
                <a:off x="2092586" y="2385663"/>
                <a:ext cx="180934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=9.51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24391A-9650-801E-39FC-EC0833209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586" y="2385663"/>
                <a:ext cx="180934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CBA3504-9328-67AE-1DBF-6FAEFF613626}"/>
              </a:ext>
            </a:extLst>
          </p:cNvPr>
          <p:cNvSpPr txBox="1"/>
          <p:nvPr/>
        </p:nvSpPr>
        <p:spPr>
          <a:xfrm>
            <a:off x="3139919" y="6069398"/>
            <a:ext cx="38561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H6 : Psim mô phỏng pp CC mô hình Rint</a:t>
            </a:r>
          </a:p>
        </p:txBody>
      </p:sp>
    </p:spTree>
    <p:extLst>
      <p:ext uri="{BB962C8B-B14F-4D97-AF65-F5344CB8AC3E}">
        <p14:creationId xmlns:p14="http://schemas.microsoft.com/office/powerpoint/2010/main" val="450126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8D342-8EA5-F5B7-CCC8-A0856EF94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13B85CC6-400B-F636-D8F6-339782825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8</a:t>
            </a:fld>
            <a:r>
              <a:rPr lang="en-US"/>
              <a:t> 	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721D10DF-4204-1963-081D-D20DC70F2E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72FBDD94-7782-45D4-9A6E-CEF4E1EEEE1C}" type="datetime1">
              <a:rPr lang="en-US" smtClean="0"/>
              <a:pPr/>
              <a:t>3/17/2025</a:t>
            </a:fld>
            <a:endParaRPr lang="en-US"/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015555DA-5D5C-B7A0-4D68-7475BE28A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/>
          <a:p>
            <a:r>
              <a:rPr lang="en-US" err="1"/>
              <a:t>EVSELab</a:t>
            </a:r>
            <a:r>
              <a:rPr lang="en-US"/>
              <a:t> profile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3CB23F5-EB71-CE9A-2220-889985E1E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887" y="89570"/>
            <a:ext cx="9766931" cy="548731"/>
          </a:xfrm>
        </p:spPr>
        <p:txBody>
          <a:bodyPr/>
          <a:lstStyle/>
          <a:p>
            <a:r>
              <a:rPr lang="en-US" sz="4000">
                <a:solidFill>
                  <a:srgbClr val="262626"/>
                </a:solidFill>
              </a:rPr>
              <a:t>I. Kiểm chứng công thức mô hình Rint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65E89C-E13C-8AC3-2F0E-DDB71C1242A0}"/>
              </a:ext>
            </a:extLst>
          </p:cNvPr>
          <p:cNvSpPr txBox="1"/>
          <p:nvPr/>
        </p:nvSpPr>
        <p:spPr>
          <a:xfrm>
            <a:off x="160180" y="887139"/>
            <a:ext cx="7483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>
                <a:solidFill>
                  <a:srgbClr val="262626"/>
                </a:solidFill>
              </a:rPr>
              <a:t>Phương pháp ổn áp (CV)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30426-2960-1918-5CD3-6703D074CC57}"/>
              </a:ext>
            </a:extLst>
          </p:cNvPr>
          <p:cNvSpPr txBox="1"/>
          <p:nvPr/>
        </p:nvSpPr>
        <p:spPr>
          <a:xfrm>
            <a:off x="276238" y="1389795"/>
            <a:ext cx="3114662" cy="49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>
                <a:solidFill>
                  <a:srgbClr val="262626"/>
                </a:solidFill>
              </a:rPr>
              <a:t>Kết quả mô phỏng 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FE84B4-44C4-BC34-0DE2-5F5B85BFA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97" y="2022058"/>
            <a:ext cx="4541211" cy="38582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4B768431-8AC4-CBA5-9F15-19D18D309960}"/>
              </a:ext>
            </a:extLst>
          </p:cNvPr>
          <p:cNvSpPr/>
          <p:nvPr/>
        </p:nvSpPr>
        <p:spPr>
          <a:xfrm>
            <a:off x="5304790" y="3783460"/>
            <a:ext cx="733425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24C99F-6144-B477-AB3F-7BFC493F27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2" r="817"/>
          <a:stretch/>
        </p:blipFill>
        <p:spPr>
          <a:xfrm>
            <a:off x="6242196" y="2022058"/>
            <a:ext cx="3049587" cy="38582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C4C115-4310-76BA-2A60-3496B9DFC1FC}"/>
              </a:ext>
            </a:extLst>
          </p:cNvPr>
          <p:cNvSpPr txBox="1"/>
          <p:nvPr/>
        </p:nvSpPr>
        <p:spPr>
          <a:xfrm>
            <a:off x="1465957" y="5970861"/>
            <a:ext cx="28878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H7 : Dữ liệu so sánh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D0E112-8E41-A457-ADC3-DAE4D8F7420B}"/>
              </a:ext>
            </a:extLst>
          </p:cNvPr>
          <p:cNvSpPr txBox="1"/>
          <p:nvPr/>
        </p:nvSpPr>
        <p:spPr>
          <a:xfrm>
            <a:off x="6748731" y="5970861"/>
            <a:ext cx="28878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H8 : Đồ thị so sánh</a:t>
            </a:r>
          </a:p>
        </p:txBody>
      </p:sp>
    </p:spTree>
    <p:extLst>
      <p:ext uri="{BB962C8B-B14F-4D97-AF65-F5344CB8AC3E}">
        <p14:creationId xmlns:p14="http://schemas.microsoft.com/office/powerpoint/2010/main" val="2081996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0B0B8-6F43-1E41-E417-2804FB3BC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D7647CA6-3AB5-BBEB-BF97-BE8600505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9</a:t>
            </a:fld>
            <a:r>
              <a:rPr lang="en-US"/>
              <a:t> 	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288EB45E-E99E-60EA-83D2-58DFE175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72FBDD94-7782-45D4-9A6E-CEF4E1EEEE1C}" type="datetime1">
              <a:rPr lang="en-US" smtClean="0"/>
              <a:pPr/>
              <a:t>3/17/2025</a:t>
            </a:fld>
            <a:endParaRPr lang="en-US"/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966829C3-9627-78BC-A8D0-A27B38291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/>
          <a:p>
            <a:r>
              <a:rPr lang="en-US" err="1"/>
              <a:t>EVSELab</a:t>
            </a:r>
            <a:r>
              <a:rPr lang="en-US"/>
              <a:t> profile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ABAB819-34DB-5CF6-1E75-2830DAFC8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887" y="89570"/>
            <a:ext cx="9766931" cy="548731"/>
          </a:xfrm>
        </p:spPr>
        <p:txBody>
          <a:bodyPr/>
          <a:lstStyle/>
          <a:p>
            <a:r>
              <a:rPr lang="en-US" sz="4000">
                <a:solidFill>
                  <a:srgbClr val="262626"/>
                </a:solidFill>
              </a:rPr>
              <a:t>I. Kiểm chứng công thức mô hình Rint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377399-E878-B3D3-CAC4-D484748662AB}"/>
              </a:ext>
            </a:extLst>
          </p:cNvPr>
          <p:cNvSpPr txBox="1"/>
          <p:nvPr/>
        </p:nvSpPr>
        <p:spPr>
          <a:xfrm>
            <a:off x="160180" y="887139"/>
            <a:ext cx="7483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>
                <a:solidFill>
                  <a:srgbClr val="262626"/>
                </a:solidFill>
              </a:rPr>
              <a:t>Nhận xét kết quả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D57EC0-31D5-FD3C-69B8-FD050D4D4049}"/>
              </a:ext>
            </a:extLst>
          </p:cNvPr>
          <p:cNvSpPr txBox="1"/>
          <p:nvPr/>
        </p:nvSpPr>
        <p:spPr>
          <a:xfrm>
            <a:off x="330598" y="4786898"/>
            <a:ext cx="93849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>
                <a:solidFill>
                  <a:srgbClr val="262626"/>
                </a:solidFill>
                <a:sym typeface="Wingdings" panose="05000000000000000000" pitchFamily="2" charset="2"/>
              </a:rPr>
              <a:t> Đây là phương pháp sạc đơn giản phù hợp với mô hình Rint đơn giản và cho được kết quả có sai lệch nhỏ</a:t>
            </a:r>
            <a:endParaRPr lang="en-US" sz="2000">
              <a:solidFill>
                <a:srgbClr val="26262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63D3D2A-678D-4BD4-AEC1-FD3E9F7BA7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0469784"/>
                  </p:ext>
                </p:extLst>
              </p:nvPr>
            </p:nvGraphicFramePr>
            <p:xfrm>
              <a:off x="408705" y="1741772"/>
              <a:ext cx="9088590" cy="29068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8370">
                      <a:extLst>
                        <a:ext uri="{9D8B030D-6E8A-4147-A177-3AD203B41FA5}">
                          <a16:colId xmlns:a16="http://schemas.microsoft.com/office/drawing/2014/main" val="2708605972"/>
                        </a:ext>
                      </a:extLst>
                    </a:gridCol>
                    <a:gridCol w="1298370">
                      <a:extLst>
                        <a:ext uri="{9D8B030D-6E8A-4147-A177-3AD203B41FA5}">
                          <a16:colId xmlns:a16="http://schemas.microsoft.com/office/drawing/2014/main" val="3684448385"/>
                        </a:ext>
                      </a:extLst>
                    </a:gridCol>
                    <a:gridCol w="1298370">
                      <a:extLst>
                        <a:ext uri="{9D8B030D-6E8A-4147-A177-3AD203B41FA5}">
                          <a16:colId xmlns:a16="http://schemas.microsoft.com/office/drawing/2014/main" val="3291327872"/>
                        </a:ext>
                      </a:extLst>
                    </a:gridCol>
                    <a:gridCol w="1298370">
                      <a:extLst>
                        <a:ext uri="{9D8B030D-6E8A-4147-A177-3AD203B41FA5}">
                          <a16:colId xmlns:a16="http://schemas.microsoft.com/office/drawing/2014/main" val="2339737037"/>
                        </a:ext>
                      </a:extLst>
                    </a:gridCol>
                    <a:gridCol w="1298370">
                      <a:extLst>
                        <a:ext uri="{9D8B030D-6E8A-4147-A177-3AD203B41FA5}">
                          <a16:colId xmlns:a16="http://schemas.microsoft.com/office/drawing/2014/main" val="1109869357"/>
                        </a:ext>
                      </a:extLst>
                    </a:gridCol>
                    <a:gridCol w="1298370">
                      <a:extLst>
                        <a:ext uri="{9D8B030D-6E8A-4147-A177-3AD203B41FA5}">
                          <a16:colId xmlns:a16="http://schemas.microsoft.com/office/drawing/2014/main" val="3502606656"/>
                        </a:ext>
                      </a:extLst>
                    </a:gridCol>
                    <a:gridCol w="1298370">
                      <a:extLst>
                        <a:ext uri="{9D8B030D-6E8A-4147-A177-3AD203B41FA5}">
                          <a16:colId xmlns:a16="http://schemas.microsoft.com/office/drawing/2014/main" val="4183008765"/>
                        </a:ext>
                      </a:extLst>
                    </a:gridCol>
                  </a:tblGrid>
                  <a:tr h="565339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Đại lượng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9858571"/>
                      </a:ext>
                    </a:extLst>
                  </a:tr>
                  <a:tr h="103759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Điện áp sạc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Thời gian sạc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Dung lượng sạc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Dòng điện sạc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Thời gian sạc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Dung lượng sạc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37072042"/>
                      </a:ext>
                    </a:extLst>
                  </a:tr>
                  <a:tr h="13038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Sai số giữa CT và Mô phỏng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&lt;0.1%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&lt;0.1%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&lt;0.1%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&lt;0.1%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&lt;0.1%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&lt;0.1%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172390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63D3D2A-678D-4BD4-AEC1-FD3E9F7BA7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0469784"/>
                  </p:ext>
                </p:extLst>
              </p:nvPr>
            </p:nvGraphicFramePr>
            <p:xfrm>
              <a:off x="408705" y="1741772"/>
              <a:ext cx="9088590" cy="29068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8370">
                      <a:extLst>
                        <a:ext uri="{9D8B030D-6E8A-4147-A177-3AD203B41FA5}">
                          <a16:colId xmlns:a16="http://schemas.microsoft.com/office/drawing/2014/main" val="2708605972"/>
                        </a:ext>
                      </a:extLst>
                    </a:gridCol>
                    <a:gridCol w="1298370">
                      <a:extLst>
                        <a:ext uri="{9D8B030D-6E8A-4147-A177-3AD203B41FA5}">
                          <a16:colId xmlns:a16="http://schemas.microsoft.com/office/drawing/2014/main" val="3684448385"/>
                        </a:ext>
                      </a:extLst>
                    </a:gridCol>
                    <a:gridCol w="1298370">
                      <a:extLst>
                        <a:ext uri="{9D8B030D-6E8A-4147-A177-3AD203B41FA5}">
                          <a16:colId xmlns:a16="http://schemas.microsoft.com/office/drawing/2014/main" val="3291327872"/>
                        </a:ext>
                      </a:extLst>
                    </a:gridCol>
                    <a:gridCol w="1298370">
                      <a:extLst>
                        <a:ext uri="{9D8B030D-6E8A-4147-A177-3AD203B41FA5}">
                          <a16:colId xmlns:a16="http://schemas.microsoft.com/office/drawing/2014/main" val="2339737037"/>
                        </a:ext>
                      </a:extLst>
                    </a:gridCol>
                    <a:gridCol w="1298370">
                      <a:extLst>
                        <a:ext uri="{9D8B030D-6E8A-4147-A177-3AD203B41FA5}">
                          <a16:colId xmlns:a16="http://schemas.microsoft.com/office/drawing/2014/main" val="1109869357"/>
                        </a:ext>
                      </a:extLst>
                    </a:gridCol>
                    <a:gridCol w="1298370">
                      <a:extLst>
                        <a:ext uri="{9D8B030D-6E8A-4147-A177-3AD203B41FA5}">
                          <a16:colId xmlns:a16="http://schemas.microsoft.com/office/drawing/2014/main" val="3502606656"/>
                        </a:ext>
                      </a:extLst>
                    </a:gridCol>
                    <a:gridCol w="1298370">
                      <a:extLst>
                        <a:ext uri="{9D8B030D-6E8A-4147-A177-3AD203B41FA5}">
                          <a16:colId xmlns:a16="http://schemas.microsoft.com/office/drawing/2014/main" val="4183008765"/>
                        </a:ext>
                      </a:extLst>
                    </a:gridCol>
                  </a:tblGrid>
                  <a:tr h="565339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Đại lượng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9858571"/>
                      </a:ext>
                    </a:extLst>
                  </a:tr>
                  <a:tr h="103759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Điện áp sạc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Thời gian sạc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Dung lượng sạc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Dòng điện sạc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Thời gian sạc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Dung lượng sạc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37072042"/>
                      </a:ext>
                    </a:extLst>
                  </a:tr>
                  <a:tr h="13038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Sai số giữa CT và Mô phỏng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469" t="-123832" r="-501408" b="-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469" t="-123832" r="-401408" b="-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469" t="-123832" r="-301408" b="-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469" t="-123832" r="-201408" b="-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0469" t="-123832" r="-101408" b="-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0469" t="-123832" r="-1408" b="-9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72390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16533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D688B-AAD5-B096-4C03-9FFC471CA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71B0D0FF-1B19-8AEF-F52F-C92FC3013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10</a:t>
            </a:fld>
            <a:r>
              <a:rPr lang="en-US"/>
              <a:t> 	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A9C3C040-F73C-402C-0270-3A7910D9AC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72FBDD94-7782-45D4-9A6E-CEF4E1EEEE1C}" type="datetime1">
              <a:rPr lang="en-US" smtClean="0"/>
              <a:pPr/>
              <a:t>3/17/2025</a:t>
            </a:fld>
            <a:endParaRPr lang="en-US"/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4B9F2ECB-A96C-EEA7-DECE-FE995CB73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/>
          <a:p>
            <a:r>
              <a:rPr lang="en-US" err="1"/>
              <a:t>EVSELab</a:t>
            </a:r>
            <a:r>
              <a:rPr lang="en-US"/>
              <a:t> profile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C30561-082F-BC2E-9DD4-4C7BA0C2D4C7}"/>
              </a:ext>
            </a:extLst>
          </p:cNvPr>
          <p:cNvSpPr txBox="1"/>
          <p:nvPr/>
        </p:nvSpPr>
        <p:spPr>
          <a:xfrm>
            <a:off x="160180" y="887139"/>
            <a:ext cx="7483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>
                <a:solidFill>
                  <a:srgbClr val="262626"/>
                </a:solidFill>
              </a:rPr>
              <a:t>Phương pháp ổn dòng (CC) </a:t>
            </a:r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7788D700-98C4-0507-E930-4D58E5F99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887" y="89570"/>
            <a:ext cx="9766931" cy="548731"/>
          </a:xfrm>
        </p:spPr>
        <p:txBody>
          <a:bodyPr/>
          <a:lstStyle/>
          <a:p>
            <a:r>
              <a:rPr lang="en-US" sz="4000">
                <a:solidFill>
                  <a:srgbClr val="262626"/>
                </a:solidFill>
              </a:rPr>
              <a:t>II. Kiểm chứng công thức mh Thevenin</a:t>
            </a:r>
            <a:endParaRPr lang="en-US"/>
          </a:p>
        </p:txBody>
      </p:sp>
      <p:pic>
        <p:nvPicPr>
          <p:cNvPr id="1026" name="Picture 2" descr="A diagram of electrical circuits&#10;&#10;AI-generated content may be incorrect.">
            <a:extLst>
              <a:ext uri="{FF2B5EF4-FFF2-40B4-BE49-F238E27FC236}">
                <a16:creationId xmlns:a16="http://schemas.microsoft.com/office/drawing/2014/main" id="{C303BBF9-5047-5FF4-7710-1DDA90FCE1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45" b="58333"/>
          <a:stretch/>
        </p:blipFill>
        <p:spPr bwMode="auto">
          <a:xfrm>
            <a:off x="4896222" y="2138812"/>
            <a:ext cx="2302553" cy="1395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3AF5C46-8F79-FB84-DD1B-88ACF2ECB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934" y="2836428"/>
            <a:ext cx="362001" cy="21910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C9F890D-3BBB-0AA2-7DB4-7AFDD544A6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322" t="15861" r="68056" b="21814"/>
          <a:stretch/>
        </p:blipFill>
        <p:spPr>
          <a:xfrm>
            <a:off x="6732064" y="2619829"/>
            <a:ext cx="176941" cy="7592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3E4F3812-C823-BAF3-A130-B01EEFAABA16}"/>
              </a:ext>
            </a:extLst>
          </p:cNvPr>
          <p:cNvGrpSpPr/>
          <p:nvPr/>
        </p:nvGrpSpPr>
        <p:grpSpPr>
          <a:xfrm>
            <a:off x="7064400" y="1567544"/>
            <a:ext cx="2653214" cy="1899825"/>
            <a:chOff x="6328861" y="1445337"/>
            <a:chExt cx="3034214" cy="196385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1293190-1123-D66F-089D-105441D82B11}"/>
                </a:ext>
              </a:extLst>
            </p:cNvPr>
            <p:cNvGrpSpPr/>
            <p:nvPr/>
          </p:nvGrpSpPr>
          <p:grpSpPr>
            <a:xfrm>
              <a:off x="6328861" y="1445337"/>
              <a:ext cx="3034214" cy="1963852"/>
              <a:chOff x="1917400" y="2957489"/>
              <a:chExt cx="4094620" cy="2573614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154702EF-1BBD-6E8F-58E3-1986E3DFF2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-12796" b="10076"/>
              <a:stretch/>
            </p:blipFill>
            <p:spPr>
              <a:xfrm>
                <a:off x="2055766" y="2993287"/>
                <a:ext cx="3956254" cy="25378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78B697C-C640-F76D-1362-A7DB8CEA1FD0}"/>
                  </a:ext>
                </a:extLst>
              </p:cNvPr>
              <p:cNvSpPr txBox="1"/>
              <p:nvPr/>
            </p:nvSpPr>
            <p:spPr>
              <a:xfrm>
                <a:off x="2055766" y="4798614"/>
                <a:ext cx="1030990" cy="5447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i="1">
                    <a:solidFill>
                      <a:schemeClr val="accent1">
                        <a:lumMod val="50000"/>
                      </a:schemeClr>
                    </a:solidFill>
                  </a:rPr>
                  <a:t>OCV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F442C7BC-4E4B-6964-CFE9-FE041EFC29D4}"/>
                      </a:ext>
                    </a:extLst>
                  </p:cNvPr>
                  <p:cNvSpPr txBox="1"/>
                  <p:nvPr/>
                </p:nvSpPr>
                <p:spPr>
                  <a:xfrm>
                    <a:off x="1917400" y="2957489"/>
                    <a:ext cx="887076" cy="36189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𝒄𝒖𝒕𝒐𝒇𝒇</m:t>
                              </m:r>
                            </m:sub>
                          </m:sSub>
                        </m:oMath>
                      </m:oMathPara>
                    </a14:m>
                    <a:endParaRPr lang="en-US" sz="1600" b="1">
                      <a:solidFill>
                        <a:schemeClr val="accent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6F9523AF-2AE9-95DC-C242-DD9D07EF09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17400" y="2957489"/>
                    <a:ext cx="887076" cy="36189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35106" b="-43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D9F10C27-D910-4102-DA80-53499DF12A98}"/>
                  </a:ext>
                </a:extLst>
              </p:cNvPr>
              <p:cNvSpPr/>
              <p:nvPr/>
            </p:nvSpPr>
            <p:spPr>
              <a:xfrm>
                <a:off x="2829122" y="4811675"/>
                <a:ext cx="57898" cy="7328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E321720-E41D-3319-77B9-900C9CAE7D64}"/>
                  </a:ext>
                </a:extLst>
              </p:cNvPr>
              <p:cNvSpPr/>
              <p:nvPr/>
            </p:nvSpPr>
            <p:spPr>
              <a:xfrm>
                <a:off x="2845595" y="3220267"/>
                <a:ext cx="57898" cy="7328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CB3A6768-2F3A-DD18-CE12-3167143790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36830" y="3256910"/>
                <a:ext cx="2721191" cy="0"/>
              </a:xfrm>
              <a:prstGeom prst="line">
                <a:avLst/>
              </a:prstGeom>
              <a:ln w="190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D77EF3F-672C-189C-F5D5-B4BAE1732EA1}"/>
                  </a:ext>
                </a:extLst>
              </p:cNvPr>
              <p:cNvSpPr/>
              <p:nvPr/>
            </p:nvSpPr>
            <p:spPr>
              <a:xfrm>
                <a:off x="2829121" y="3424541"/>
                <a:ext cx="57898" cy="7328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902A9DE3-F85F-FC2A-3BA8-F7251634090D}"/>
                    </a:ext>
                  </a:extLst>
                </p:cNvPr>
                <p:cNvSpPr txBox="1"/>
                <p:nvPr/>
              </p:nvSpPr>
              <p:spPr>
                <a:xfrm>
                  <a:off x="6581313" y="1725530"/>
                  <a:ext cx="395603" cy="3499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600" b="1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𝑪𝑪</m:t>
                            </m:r>
                          </m:sub>
                        </m:sSub>
                      </m:oMath>
                    </m:oMathPara>
                  </a14:m>
                  <a:endParaRPr lang="en-US" sz="1600" b="1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E9052D5-5102-366C-7215-52A30C350E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1313" y="1725530"/>
                  <a:ext cx="395603" cy="349964"/>
                </a:xfrm>
                <a:prstGeom prst="rect">
                  <a:avLst/>
                </a:prstGeom>
                <a:blipFill>
                  <a:blip r:embed="rId8"/>
                  <a:stretch>
                    <a:fillRect r="-192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FBE7038-D19D-D28B-FEDE-EC1A879A2F4F}"/>
                  </a:ext>
                </a:extLst>
              </p:cNvPr>
              <p:cNvSpPr txBox="1"/>
              <p:nvPr/>
            </p:nvSpPr>
            <p:spPr>
              <a:xfrm>
                <a:off x="5928703" y="1699771"/>
                <a:ext cx="8228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FBE7038-D19D-D28B-FEDE-EC1A879A2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703" y="1699771"/>
                <a:ext cx="822837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165B9FE-2075-25B2-29CA-79B60CDA6F0A}"/>
              </a:ext>
            </a:extLst>
          </p:cNvPr>
          <p:cNvCxnSpPr/>
          <p:nvPr/>
        </p:nvCxnSpPr>
        <p:spPr>
          <a:xfrm flipH="1">
            <a:off x="6184307" y="2045979"/>
            <a:ext cx="311627" cy="0"/>
          </a:xfrm>
          <a:prstGeom prst="straightConnector1">
            <a:avLst/>
          </a:prstGeom>
          <a:ln w="19050">
            <a:solidFill>
              <a:srgbClr val="2626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E93C45C-E914-DDC7-4A03-FA27B02B3C6B}"/>
                  </a:ext>
                </a:extLst>
              </p:cNvPr>
              <p:cNvSpPr txBox="1"/>
              <p:nvPr/>
            </p:nvSpPr>
            <p:spPr>
              <a:xfrm>
                <a:off x="83980" y="1485214"/>
                <a:ext cx="6640522" cy="5181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b="1">
                    <a:solidFill>
                      <a:srgbClr val="262626"/>
                    </a:solidFill>
                  </a:rPr>
                  <a:t>Tính toán :</a:t>
                </a:r>
              </a:p>
              <a:p>
                <a:pPr marL="800100" lvl="1" indent="-342900">
                  <a:buFont typeface="Courier New" panose="02070309020205020404" pitchFamily="49" charset="0"/>
                  <a:buChar char="o"/>
                </a:pPr>
                <a:r>
                  <a:rPr lang="en-US">
                    <a:solidFill>
                      <a:srgbClr val="262626"/>
                    </a:solidFill>
                  </a:rPr>
                  <a:t>Mô hình pin : Theo kiểu Thevenin</a:t>
                </a:r>
              </a:p>
              <a:p>
                <a:pPr marL="800100" lvl="1" indent="-342900">
                  <a:buFont typeface="Courier New" panose="02070309020205020404" pitchFamily="49" charset="0"/>
                  <a:buChar char="o"/>
                </a:pPr>
                <a:r>
                  <a:rPr lang="en-US">
                    <a:solidFill>
                      <a:srgbClr val="262626"/>
                    </a:solidFill>
                  </a:rPr>
                  <a:t>Trước chuyển mạch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𝐶𝑏</m:t>
                        </m:r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𝑂𝐶𝑉</m:t>
                    </m:r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b="0">
                  <a:solidFill>
                    <a:srgbClr val="262626"/>
                  </a:solidFill>
                </a:endParaRPr>
              </a:p>
              <a:p>
                <a:pPr marL="800100" lvl="1" indent="-342900">
                  <a:buFont typeface="Courier New" panose="02070309020205020404" pitchFamily="49" charset="0"/>
                  <a:buChar char="o"/>
                </a:pPr>
                <a:r>
                  <a:rPr lang="en-US">
                    <a:solidFill>
                      <a:srgbClr val="262626"/>
                    </a:solidFill>
                  </a:rPr>
                  <a:t>Sau chuyển mạch (H9) :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>
                  <a:solidFill>
                    <a:srgbClr val="262626"/>
                  </a:solidFill>
                </a:endParaRP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𝑠𝐶</m:t>
                        </m:r>
                      </m:den>
                    </m:f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𝑂𝐶𝑉</m:t>
                        </m:r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endParaRPr lang="en-US">
                  <a:solidFill>
                    <a:srgbClr val="262626"/>
                  </a:solidFill>
                </a:endParaRP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>
                    <a:solidFill>
                      <a:srgbClr val="262626"/>
                    </a:solidFill>
                  </a:rPr>
                  <a:t> </a:t>
                </a:r>
              </a:p>
              <a:p>
                <a:pPr marL="742950" lvl="1" indent="-28575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n-US">
                    <a:solidFill>
                      <a:srgbClr val="262626"/>
                    </a:solidFill>
                  </a:rPr>
                  <a:t>Điện áp sạc Pin : Để pin nghỉ thì Vcb =0V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26262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26262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262626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262626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262626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26262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262626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262626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26262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262626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62626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26262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262626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rgbClr val="262626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26262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262626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262626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262626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</m:sup>
                      </m:sSup>
                      <m:r>
                        <a:rPr lang="en-US" b="0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US" b="0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solidFill>
                    <a:srgbClr val="262626"/>
                  </a:solidFill>
                </a:endParaRPr>
              </a:p>
              <a:p>
                <a:pPr marL="742950" lvl="1" indent="-28575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n-US">
                    <a:solidFill>
                      <a:srgbClr val="262626"/>
                    </a:solidFill>
                  </a:rPr>
                  <a:t>Thời gian sạc 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  <m:t>𝑐h𝑎𝑟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𝐿𝑛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26262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262626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solidFill>
                                    <a:srgbClr val="262626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rgbClr val="262626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26262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262626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262626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26262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262626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262626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𝑐𝑢𝑡𝑜𝑓𝑓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262626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rgbClr val="262626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26262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26262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26262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26262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rgbClr val="262626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26262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26262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26262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rgbClr val="262626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rgbClr val="262626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US" b="0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solidFill>
                    <a:srgbClr val="262626"/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endParaRPr lang="en-US">
                  <a:solidFill>
                    <a:srgbClr val="262626"/>
                  </a:solidFill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E93C45C-E914-DDC7-4A03-FA27B02B3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0" y="1485214"/>
                <a:ext cx="6640522" cy="5181931"/>
              </a:xfrm>
              <a:prstGeom prst="rect">
                <a:avLst/>
              </a:prstGeom>
              <a:blipFill>
                <a:blip r:embed="rId10"/>
                <a:stretch>
                  <a:fillRect l="-1102" t="-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8FFCD112-767D-7C62-7502-D8CEB32ACF19}"/>
              </a:ext>
            </a:extLst>
          </p:cNvPr>
          <p:cNvSpPr/>
          <p:nvPr/>
        </p:nvSpPr>
        <p:spPr>
          <a:xfrm flipH="1">
            <a:off x="546710" y="4340249"/>
            <a:ext cx="5381992" cy="570421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561246C-E8E0-1EEF-5776-52F43F6DE3C1}"/>
              </a:ext>
            </a:extLst>
          </p:cNvPr>
          <p:cNvSpPr/>
          <p:nvPr/>
        </p:nvSpPr>
        <p:spPr>
          <a:xfrm flipH="1">
            <a:off x="546712" y="5372786"/>
            <a:ext cx="5381991" cy="836665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9B6D28C0-EA4C-B90E-2DC5-BA81E0D087D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1000" contrast="10000"/>
                    </a14:imgEffect>
                  </a14:imgLayer>
                </a14:imgProps>
              </a:ext>
            </a:extLst>
          </a:blip>
          <a:srcRect l="15000" t="24801" r="22565" b="22539"/>
          <a:stretch/>
        </p:blipFill>
        <p:spPr>
          <a:xfrm>
            <a:off x="6415950" y="3966421"/>
            <a:ext cx="3389176" cy="2029034"/>
          </a:xfrm>
          <a:prstGeom prst="rect">
            <a:avLst/>
          </a:prstGeom>
          <a:solidFill>
            <a:schemeClr val="lt1"/>
          </a:solidFill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3C9F538-A41F-B5C6-D5FE-1157CFBF9A2E}"/>
              </a:ext>
            </a:extLst>
          </p:cNvPr>
          <p:cNvSpPr txBox="1"/>
          <p:nvPr/>
        </p:nvSpPr>
        <p:spPr>
          <a:xfrm>
            <a:off x="6526349" y="6044029"/>
            <a:ext cx="33891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H9 : Mạch CC miền s sau chuyển mạch</a:t>
            </a:r>
          </a:p>
        </p:txBody>
      </p:sp>
    </p:spTree>
    <p:extLst>
      <p:ext uri="{BB962C8B-B14F-4D97-AF65-F5344CB8AC3E}">
        <p14:creationId xmlns:p14="http://schemas.microsoft.com/office/powerpoint/2010/main" val="3773484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7B305-A971-072A-D491-02EAD12D1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60E1AE14-6244-164B-264E-F4303B17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11</a:t>
            </a:fld>
            <a:r>
              <a:rPr lang="en-US"/>
              <a:t> 	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2294B901-30D5-7543-C769-53E072966D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72FBDD94-7782-45D4-9A6E-CEF4E1EEEE1C}" type="datetime1">
              <a:rPr lang="en-US" smtClean="0"/>
              <a:pPr/>
              <a:t>3/17/2025</a:t>
            </a:fld>
            <a:endParaRPr lang="en-US"/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C5510C2C-B08B-DD0E-B538-396367C0F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/>
          <a:p>
            <a:r>
              <a:rPr lang="en-US" err="1"/>
              <a:t>EVSELab</a:t>
            </a:r>
            <a:r>
              <a:rPr lang="en-US"/>
              <a:t> profile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9C8281-C55B-2F03-DBDB-9E4CAEA2D5D3}"/>
              </a:ext>
            </a:extLst>
          </p:cNvPr>
          <p:cNvSpPr txBox="1"/>
          <p:nvPr/>
        </p:nvSpPr>
        <p:spPr>
          <a:xfrm>
            <a:off x="234769" y="1422031"/>
            <a:ext cx="4526120" cy="49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>
                <a:solidFill>
                  <a:srgbClr val="262626"/>
                </a:solidFill>
              </a:rPr>
              <a:t>Thông số mô phỏng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CBBF124-963F-6CE7-D678-4A43B3FEFAE6}"/>
                  </a:ext>
                </a:extLst>
              </p:cNvPr>
              <p:cNvSpPr txBox="1"/>
              <p:nvPr/>
            </p:nvSpPr>
            <p:spPr>
              <a:xfrm>
                <a:off x="466887" y="1781597"/>
                <a:ext cx="3647224" cy="1734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𝐶𝑉</m:t>
                    </m:r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=3.35 </m:t>
                    </m:r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>
                    <a:solidFill>
                      <a:srgbClr val="262626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𝑐𝑢𝑡𝑜𝑓𝑓</m:t>
                        </m:r>
                      </m:sub>
                    </m:sSub>
                    <m:r>
                      <a:rPr lang="en-US" i="1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=4.2</m:t>
                    </m:r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>
                  <a:solidFill>
                    <a:srgbClr val="262626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=0.05 </m:t>
                    </m:r>
                    <m:r>
                      <a:rPr lang="en-US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en-US">
                    <a:solidFill>
                      <a:srgbClr val="262626"/>
                    </a:solidFill>
                  </a:rPr>
                  <a:t>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=0.0</m:t>
                    </m:r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endParaRPr lang="en-US">
                  <a:solidFill>
                    <a:srgbClr val="262626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=10000 </m:t>
                    </m:r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b="0">
                  <a:solidFill>
                    <a:srgbClr val="262626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𝑐𝑐</m:t>
                        </m:r>
                      </m:sub>
                    </m:sSub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=2.5 </m:t>
                    </m:r>
                    <m:r>
                      <a:rPr lang="en-US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>
                  <a:solidFill>
                    <a:srgbClr val="262626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CBBF124-963F-6CE7-D678-4A43B3FEF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87" y="1781597"/>
                <a:ext cx="3647224" cy="1734770"/>
              </a:xfrm>
              <a:prstGeom prst="rect">
                <a:avLst/>
              </a:prstGeom>
              <a:blipFill>
                <a:blip r:embed="rId3"/>
                <a:stretch>
                  <a:fillRect l="-1171" b="-3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0E6010F-6C72-8793-CE6D-D7BA9325B43A}"/>
              </a:ext>
            </a:extLst>
          </p:cNvPr>
          <p:cNvSpPr txBox="1"/>
          <p:nvPr/>
        </p:nvSpPr>
        <p:spPr>
          <a:xfrm>
            <a:off x="160180" y="887139"/>
            <a:ext cx="7483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>
                <a:solidFill>
                  <a:srgbClr val="262626"/>
                </a:solidFill>
              </a:rPr>
              <a:t>Phương pháp ổn dòng (CC) </a:t>
            </a:r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1C62AE6C-D540-2D0E-BCCC-D661698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887" y="89570"/>
            <a:ext cx="9766931" cy="548731"/>
          </a:xfrm>
        </p:spPr>
        <p:txBody>
          <a:bodyPr/>
          <a:lstStyle/>
          <a:p>
            <a:r>
              <a:rPr lang="en-US" sz="4000">
                <a:solidFill>
                  <a:srgbClr val="262626"/>
                </a:solidFill>
              </a:rPr>
              <a:t>II. Kiểm chứng công thức mh Thevenin</a:t>
            </a:r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AF11DDD-B737-D8B1-4841-EE102CC7AD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37" r="3402" b="2777"/>
          <a:stretch/>
        </p:blipFill>
        <p:spPr>
          <a:xfrm>
            <a:off x="5577739" y="1522814"/>
            <a:ext cx="3647224" cy="20671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8A60650-470E-E70F-5C8D-247A7399C26A}"/>
              </a:ext>
            </a:extLst>
          </p:cNvPr>
          <p:cNvSpPr txBox="1"/>
          <p:nvPr/>
        </p:nvSpPr>
        <p:spPr>
          <a:xfrm>
            <a:off x="234769" y="3407898"/>
            <a:ext cx="4526120" cy="49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>
                <a:solidFill>
                  <a:srgbClr val="262626"/>
                </a:solidFill>
              </a:rPr>
              <a:t>Kết quả mô phỏng :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CA27F2C-635C-D9DF-C853-985B1285BC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7533" y="3941128"/>
            <a:ext cx="4626760" cy="215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44541D9-9A11-881D-05BE-605A2EAE8CBA}"/>
                  </a:ext>
                </a:extLst>
              </p:cNvPr>
              <p:cNvSpPr txBox="1"/>
              <p:nvPr/>
            </p:nvSpPr>
            <p:spPr>
              <a:xfrm>
                <a:off x="2350213" y="5523202"/>
                <a:ext cx="13973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𝑐𝑐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=2.5</m:t>
                      </m:r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44541D9-9A11-881D-05BE-605A2EAE8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213" y="5523202"/>
                <a:ext cx="139731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AC47086-7808-4D77-6A11-1AF8E4873BEC}"/>
                  </a:ext>
                </a:extLst>
              </p:cNvPr>
              <p:cNvSpPr txBox="1"/>
              <p:nvPr/>
            </p:nvSpPr>
            <p:spPr>
              <a:xfrm rot="21039198">
                <a:off x="2144202" y="4563672"/>
                <a:ext cx="180934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=3.476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AC47086-7808-4D77-6A11-1AF8E4873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39198">
                <a:off x="2144202" y="4563672"/>
                <a:ext cx="180934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7E9C5CEA-235E-9CBB-BA8F-17D6A5EAC0B6}"/>
              </a:ext>
            </a:extLst>
          </p:cNvPr>
          <p:cNvSpPr txBox="1"/>
          <p:nvPr/>
        </p:nvSpPr>
        <p:spPr>
          <a:xfrm>
            <a:off x="5492887" y="3620014"/>
            <a:ext cx="39526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H10 : Psim mô phỏng pp CC mô hình Thevenin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C9FA2F-74F3-F59A-A912-917785B3CE20}"/>
              </a:ext>
            </a:extLst>
          </p:cNvPr>
          <p:cNvSpPr txBox="1"/>
          <p:nvPr/>
        </p:nvSpPr>
        <p:spPr>
          <a:xfrm>
            <a:off x="3311156" y="6130249"/>
            <a:ext cx="4070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H11 : Đồ thị mô phỏng</a:t>
            </a:r>
          </a:p>
        </p:txBody>
      </p:sp>
    </p:spTree>
    <p:extLst>
      <p:ext uri="{BB962C8B-B14F-4D97-AF65-F5344CB8AC3E}">
        <p14:creationId xmlns:p14="http://schemas.microsoft.com/office/powerpoint/2010/main" val="2134018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77C5F-EFFC-98F5-E497-4EB42982B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695D60B7-DCF0-72E7-730B-92D19938A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12</a:t>
            </a:fld>
            <a:r>
              <a:rPr lang="en-US"/>
              <a:t> 	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C7113404-AAFA-0D7E-F229-855CCFD33D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72FBDD94-7782-45D4-9A6E-CEF4E1EEEE1C}" type="datetime1">
              <a:rPr lang="en-US" smtClean="0"/>
              <a:pPr/>
              <a:t>3/17/2025</a:t>
            </a:fld>
            <a:endParaRPr lang="en-US"/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9A95D9AF-6B5A-8BBD-D810-428DB8FD2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/>
          <a:p>
            <a:r>
              <a:rPr lang="en-US" err="1"/>
              <a:t>EVSELab</a:t>
            </a:r>
            <a:r>
              <a:rPr lang="en-US"/>
              <a:t> profile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0FC281-A133-B34B-1771-487562245E68}"/>
              </a:ext>
            </a:extLst>
          </p:cNvPr>
          <p:cNvSpPr txBox="1"/>
          <p:nvPr/>
        </p:nvSpPr>
        <p:spPr>
          <a:xfrm>
            <a:off x="160180" y="887139"/>
            <a:ext cx="7483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>
                <a:solidFill>
                  <a:srgbClr val="262626"/>
                </a:solidFill>
              </a:rPr>
              <a:t>Phương pháp ổn áp (CC)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B38B41-AEB5-6E6A-7C97-D43F9D83CB85}"/>
              </a:ext>
            </a:extLst>
          </p:cNvPr>
          <p:cNvSpPr txBox="1"/>
          <p:nvPr/>
        </p:nvSpPr>
        <p:spPr>
          <a:xfrm>
            <a:off x="276238" y="1389795"/>
            <a:ext cx="3114662" cy="49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>
                <a:solidFill>
                  <a:srgbClr val="262626"/>
                </a:solidFill>
              </a:rPr>
              <a:t>Kết quả mô phỏng : 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E13F4DC-B4C9-603F-4A2F-DAD824D806E7}"/>
              </a:ext>
            </a:extLst>
          </p:cNvPr>
          <p:cNvSpPr/>
          <p:nvPr/>
        </p:nvSpPr>
        <p:spPr>
          <a:xfrm>
            <a:off x="5154833" y="3783460"/>
            <a:ext cx="733425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28F211A2-8039-89CE-7E94-5C3B47B0E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887" y="89570"/>
            <a:ext cx="9766931" cy="548731"/>
          </a:xfrm>
        </p:spPr>
        <p:txBody>
          <a:bodyPr/>
          <a:lstStyle/>
          <a:p>
            <a:r>
              <a:rPr lang="en-US" sz="4000">
                <a:solidFill>
                  <a:srgbClr val="262626"/>
                </a:solidFill>
              </a:rPr>
              <a:t>II. Kiểm chứng công thức mh Thevenin</a:t>
            </a:r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DB7EF7-7472-B158-D374-CDB2E16A9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86" y="1962736"/>
            <a:ext cx="4192671" cy="4008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17571D-83D0-2DDA-933F-BD3EA3BA1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861" y="1962735"/>
            <a:ext cx="3413717" cy="4008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F65EAB6-C2B1-B9A1-02A9-96E020F1029C}"/>
              </a:ext>
            </a:extLst>
          </p:cNvPr>
          <p:cNvSpPr txBox="1"/>
          <p:nvPr/>
        </p:nvSpPr>
        <p:spPr>
          <a:xfrm>
            <a:off x="1465957" y="6008961"/>
            <a:ext cx="28878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H12 : Dữ liệu so sánh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32DBDA-A2F9-3656-9DFE-01C0B9F12643}"/>
              </a:ext>
            </a:extLst>
          </p:cNvPr>
          <p:cNvSpPr txBox="1"/>
          <p:nvPr/>
        </p:nvSpPr>
        <p:spPr>
          <a:xfrm>
            <a:off x="6748731" y="6008961"/>
            <a:ext cx="28878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H13 : Đồ thị so sánh</a:t>
            </a:r>
          </a:p>
        </p:txBody>
      </p:sp>
    </p:spTree>
    <p:extLst>
      <p:ext uri="{BB962C8B-B14F-4D97-AF65-F5344CB8AC3E}">
        <p14:creationId xmlns:p14="http://schemas.microsoft.com/office/powerpoint/2010/main" val="7475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F78C7-A4EE-E331-9DC3-BC1211BFD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42A18772-503B-A420-B93E-F58857ED1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13</a:t>
            </a:fld>
            <a:r>
              <a:rPr lang="en-US"/>
              <a:t> 	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7F381654-7949-323E-064E-8A92181467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72FBDD94-7782-45D4-9A6E-CEF4E1EEEE1C}" type="datetime1">
              <a:rPr lang="en-US" smtClean="0"/>
              <a:pPr/>
              <a:t>3/17/2025</a:t>
            </a:fld>
            <a:endParaRPr lang="en-US"/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C503FA9E-0524-6ED9-E6ED-2020D4664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/>
          <a:p>
            <a:r>
              <a:rPr lang="en-US" err="1"/>
              <a:t>EVSELab</a:t>
            </a:r>
            <a:r>
              <a:rPr lang="en-US"/>
              <a:t> profile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ED070B3A-DB74-4C78-C34F-EE2C2DA0B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887" y="89570"/>
            <a:ext cx="9766931" cy="548731"/>
          </a:xfrm>
        </p:spPr>
        <p:txBody>
          <a:bodyPr/>
          <a:lstStyle/>
          <a:p>
            <a:r>
              <a:rPr lang="en-US" sz="4000">
                <a:solidFill>
                  <a:srgbClr val="262626"/>
                </a:solidFill>
              </a:rPr>
              <a:t>II. Kiểm chứng công thức mh Thevenin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901A0-998E-EDAC-86A6-7225DC226F19}"/>
              </a:ext>
            </a:extLst>
          </p:cNvPr>
          <p:cNvSpPr txBox="1"/>
          <p:nvPr/>
        </p:nvSpPr>
        <p:spPr>
          <a:xfrm>
            <a:off x="160180" y="887139"/>
            <a:ext cx="7483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>
                <a:solidFill>
                  <a:srgbClr val="262626"/>
                </a:solidFill>
              </a:rPr>
              <a:t>Nhận xét kết quả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6BDDCBC-208D-7A67-4A56-96A35379F8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3617128"/>
                  </p:ext>
                </p:extLst>
              </p:nvPr>
            </p:nvGraphicFramePr>
            <p:xfrm>
              <a:off x="2076612" y="1557853"/>
              <a:ext cx="5193480" cy="22298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8370">
                      <a:extLst>
                        <a:ext uri="{9D8B030D-6E8A-4147-A177-3AD203B41FA5}">
                          <a16:colId xmlns:a16="http://schemas.microsoft.com/office/drawing/2014/main" val="2708605972"/>
                        </a:ext>
                      </a:extLst>
                    </a:gridCol>
                    <a:gridCol w="1298370">
                      <a:extLst>
                        <a:ext uri="{9D8B030D-6E8A-4147-A177-3AD203B41FA5}">
                          <a16:colId xmlns:a16="http://schemas.microsoft.com/office/drawing/2014/main" val="3684448385"/>
                        </a:ext>
                      </a:extLst>
                    </a:gridCol>
                    <a:gridCol w="1298370">
                      <a:extLst>
                        <a:ext uri="{9D8B030D-6E8A-4147-A177-3AD203B41FA5}">
                          <a16:colId xmlns:a16="http://schemas.microsoft.com/office/drawing/2014/main" val="3291327872"/>
                        </a:ext>
                      </a:extLst>
                    </a:gridCol>
                    <a:gridCol w="1298370">
                      <a:extLst>
                        <a:ext uri="{9D8B030D-6E8A-4147-A177-3AD203B41FA5}">
                          <a16:colId xmlns:a16="http://schemas.microsoft.com/office/drawing/2014/main" val="2339737037"/>
                        </a:ext>
                      </a:extLst>
                    </a:gridCol>
                  </a:tblGrid>
                  <a:tr h="35979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Đại lượng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9858571"/>
                      </a:ext>
                    </a:extLst>
                  </a:tr>
                  <a:tr h="74595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Điện áp sạc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Thời gian sạc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Dung lượng sạc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37072042"/>
                      </a:ext>
                    </a:extLst>
                  </a:tr>
                  <a:tr h="11181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Sai số giữa CT và Mô phỏng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&lt;0.1%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&lt;0.1%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&lt;0.1%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172390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6BDDCBC-208D-7A67-4A56-96A35379F8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3617128"/>
                  </p:ext>
                </p:extLst>
              </p:nvPr>
            </p:nvGraphicFramePr>
            <p:xfrm>
              <a:off x="2076612" y="1557853"/>
              <a:ext cx="5193480" cy="22298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8370">
                      <a:extLst>
                        <a:ext uri="{9D8B030D-6E8A-4147-A177-3AD203B41FA5}">
                          <a16:colId xmlns:a16="http://schemas.microsoft.com/office/drawing/2014/main" val="2708605972"/>
                        </a:ext>
                      </a:extLst>
                    </a:gridCol>
                    <a:gridCol w="1298370">
                      <a:extLst>
                        <a:ext uri="{9D8B030D-6E8A-4147-A177-3AD203B41FA5}">
                          <a16:colId xmlns:a16="http://schemas.microsoft.com/office/drawing/2014/main" val="3684448385"/>
                        </a:ext>
                      </a:extLst>
                    </a:gridCol>
                    <a:gridCol w="1298370">
                      <a:extLst>
                        <a:ext uri="{9D8B030D-6E8A-4147-A177-3AD203B41FA5}">
                          <a16:colId xmlns:a16="http://schemas.microsoft.com/office/drawing/2014/main" val="3291327872"/>
                        </a:ext>
                      </a:extLst>
                    </a:gridCol>
                    <a:gridCol w="1298370">
                      <a:extLst>
                        <a:ext uri="{9D8B030D-6E8A-4147-A177-3AD203B41FA5}">
                          <a16:colId xmlns:a16="http://schemas.microsoft.com/office/drawing/2014/main" val="2339737037"/>
                        </a:ext>
                      </a:extLst>
                    </a:gridCol>
                  </a:tblGrid>
                  <a:tr h="36576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Đại lượng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9858571"/>
                      </a:ext>
                    </a:extLst>
                  </a:tr>
                  <a:tr h="74595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Điện áp sạc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Thời gian sạc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Dung lượng sạc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37072042"/>
                      </a:ext>
                    </a:extLst>
                  </a:tr>
                  <a:tr h="11181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Sai số giữa CT và Mô phỏng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02174" r="-200000" b="-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939" t="-102174" r="-100939" b="-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39" t="-102174" r="-939" b="-1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72390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28C6100-E302-2229-04FA-98189650E48D}"/>
              </a:ext>
            </a:extLst>
          </p:cNvPr>
          <p:cNvSpPr txBox="1"/>
          <p:nvPr/>
        </p:nvSpPr>
        <p:spPr>
          <a:xfrm>
            <a:off x="160180" y="4215383"/>
            <a:ext cx="7483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>
                <a:solidFill>
                  <a:srgbClr val="262626"/>
                </a:solidFill>
              </a:rPr>
              <a:t>So sánh mô hình Rint và Thevenin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7018B7-7CDB-15BD-480D-94D2AC886599}"/>
              </a:ext>
            </a:extLst>
          </p:cNvPr>
          <p:cNvSpPr txBox="1"/>
          <p:nvPr/>
        </p:nvSpPr>
        <p:spPr>
          <a:xfrm>
            <a:off x="260549" y="4861714"/>
            <a:ext cx="93849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>
                <a:solidFill>
                  <a:srgbClr val="262626"/>
                </a:solidFill>
              </a:rPr>
              <a:t>Độ phức tạp </a:t>
            </a:r>
            <a:r>
              <a:rPr lang="en-US" sz="2000">
                <a:solidFill>
                  <a:srgbClr val="262626"/>
                </a:solidFill>
              </a:rPr>
              <a:t>: MH Rint đơn giản hơn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>
                <a:solidFill>
                  <a:srgbClr val="262626"/>
                </a:solidFill>
              </a:rPr>
              <a:t>Độ chính xác </a:t>
            </a:r>
            <a:r>
              <a:rPr lang="en-US" sz="2000">
                <a:solidFill>
                  <a:srgbClr val="262626"/>
                </a:solidFill>
              </a:rPr>
              <a:t>: Chưa thể so sánh trong trường hợp này vì 2 MH đều cho kết quả rất sát với mô phỏng </a:t>
            </a:r>
          </a:p>
          <a:p>
            <a:endParaRPr lang="en-US" sz="2000">
              <a:solidFill>
                <a:srgbClr val="262626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2DED32-A6EA-49F6-998F-E0507BC263E0}"/>
              </a:ext>
            </a:extLst>
          </p:cNvPr>
          <p:cNvSpPr txBox="1"/>
          <p:nvPr/>
        </p:nvSpPr>
        <p:spPr>
          <a:xfrm>
            <a:off x="1988916" y="3858821"/>
            <a:ext cx="66461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262626"/>
                </a:solidFill>
                <a:sym typeface="Wingdings" panose="05000000000000000000" pitchFamily="2" charset="2"/>
              </a:rPr>
              <a:t> </a:t>
            </a:r>
            <a:r>
              <a:rPr lang="en-US" sz="2000">
                <a:solidFill>
                  <a:srgbClr val="262626"/>
                </a:solidFill>
              </a:rPr>
              <a:t>Mô hình cho độ chính xác cao, sát với mô phỏng </a:t>
            </a:r>
          </a:p>
        </p:txBody>
      </p:sp>
    </p:spTree>
    <p:extLst>
      <p:ext uri="{BB962C8B-B14F-4D97-AF65-F5344CB8AC3E}">
        <p14:creationId xmlns:p14="http://schemas.microsoft.com/office/powerpoint/2010/main" val="1558042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82063-BACE-9F6C-597C-3A23138B1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DE237-A122-06FC-E25C-6A4977D81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6312" y="110469"/>
            <a:ext cx="9807016" cy="548731"/>
          </a:xfrm>
        </p:spPr>
        <p:txBody>
          <a:bodyPr/>
          <a:lstStyle/>
          <a:p>
            <a:r>
              <a:rPr lang="en-US" sz="3500">
                <a:latin typeface="+mj-lt"/>
              </a:rPr>
              <a:t>Reference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0B220A2C-A787-DC41-B58E-3C51D1DDF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14</a:t>
            </a:fld>
            <a:r>
              <a:rPr lang="en-US"/>
              <a:t> 	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1920D586-796A-0164-7216-BC5DE7BA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72FBDD94-7782-45D4-9A6E-CEF4E1EEEE1C}" type="datetime1">
              <a:rPr lang="en-US" smtClean="0"/>
              <a:pPr/>
              <a:t>3/17/2025</a:t>
            </a:fld>
            <a:endParaRPr lang="en-US"/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38F7EA4B-39BB-2FD7-3D69-820844C8C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/>
          <a:p>
            <a:r>
              <a:rPr lang="en-US" err="1"/>
              <a:t>EVSELab</a:t>
            </a:r>
            <a:r>
              <a:rPr lang="en-US"/>
              <a:t> profile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8D62ED-0922-9B4F-B00A-B637DED5360A}"/>
                  </a:ext>
                </a:extLst>
              </p:cNvPr>
              <p:cNvSpPr txBox="1"/>
              <p:nvPr/>
            </p:nvSpPr>
            <p:spPr>
              <a:xfrm>
                <a:off x="1661098" y="3153892"/>
                <a:ext cx="6850604" cy="550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𝑂𝐶𝑣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8D62ED-0922-9B4F-B00A-B637DED53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1098" y="3153892"/>
                <a:ext cx="6850604" cy="5502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442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3FB1A-8ACA-6D31-8226-2F0CB18B8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2723F-2137-3B57-1C2A-1E91123C7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565" y="75300"/>
            <a:ext cx="9807016" cy="548731"/>
          </a:xfrm>
        </p:spPr>
        <p:txBody>
          <a:bodyPr/>
          <a:lstStyle/>
          <a:p>
            <a:r>
              <a:rPr lang="en-US" sz="3500">
                <a:latin typeface="+mj-lt"/>
              </a:rPr>
              <a:t>Câu hỏi của mọi người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B5888E11-449E-35DB-3B51-46FC7E3B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15</a:t>
            </a:fld>
            <a:r>
              <a:rPr lang="en-US"/>
              <a:t> 	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3FC17E94-1D7A-8260-1D10-2E6A0585BB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72FBDD94-7782-45D4-9A6E-CEF4E1EEEE1C}" type="datetime1">
              <a:rPr lang="en-US" smtClean="0"/>
              <a:pPr/>
              <a:t>3/17/2025</a:t>
            </a:fld>
            <a:endParaRPr lang="en-US"/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61E43165-A5E9-0615-3905-4863CE4E8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/>
          <a:p>
            <a:r>
              <a:rPr lang="en-US" err="1"/>
              <a:t>EVSELab</a:t>
            </a:r>
            <a:r>
              <a:rPr lang="en-US"/>
              <a:t> profile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2D7D387-D181-ED3C-69B3-BB3575EEE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924464"/>
            <a:ext cx="9443061" cy="315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406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15086-9F7A-0B23-7192-39C96D2F6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5B1FD5-42AA-7A74-3472-6291644BA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7" y="1234956"/>
            <a:ext cx="8543925" cy="2852737"/>
          </a:xfrm>
        </p:spPr>
        <p:txBody>
          <a:bodyPr>
            <a:normAutofit/>
          </a:bodyPr>
          <a:lstStyle/>
          <a:p>
            <a:pPr algn="ctr"/>
            <a:r>
              <a:rPr lang="en-US" sz="8000">
                <a:solidFill>
                  <a:srgbClr val="262626"/>
                </a:solidFill>
                <a:latin typeface="Dosis ExtraBold" pitchFamily="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032102922"/>
      </p:ext>
    </p:extLst>
  </p:cSld>
  <p:clrMapOvr>
    <a:masterClrMapping/>
  </p:clrMapOvr>
</p:sld>
</file>

<file path=ppt/theme/theme1.xml><?xml version="1.0" encoding="utf-8"?>
<a:theme xmlns:a="http://schemas.openxmlformats.org/drawingml/2006/main" name="VPEC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Lato Black"/>
        <a:ea typeface="Asana"/>
        <a:cs typeface=""/>
      </a:majorFont>
      <a:minorFont>
        <a:latin typeface="Lato"/>
        <a:ea typeface="Asan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PEC_theme" id="{8AA4AFE5-4C9B-498E-826A-13CB54DF4FD5}" vid="{7D9A3D0F-9812-4AC9-A974-F1C3C9BA3B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7483CF1B63FA4AA03D15E9EA85AD57" ma:contentTypeVersion="10" ma:contentTypeDescription="Create a new document." ma:contentTypeScope="" ma:versionID="65a0d1077d1125e4b11860fe695c5db4">
  <xsd:schema xmlns:xsd="http://www.w3.org/2001/XMLSchema" xmlns:xs="http://www.w3.org/2001/XMLSchema" xmlns:p="http://schemas.microsoft.com/office/2006/metadata/properties" xmlns:ns3="c078926d-f3db-4b74-bbd0-f33b483d4b1e" targetNamespace="http://schemas.microsoft.com/office/2006/metadata/properties" ma:root="true" ma:fieldsID="c6c6e5859be2d66f7f3dcdad93584452" ns3:_="">
    <xsd:import namespace="c078926d-f3db-4b74-bbd0-f33b483d4b1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78926d-f3db-4b74-bbd0-f33b483d4b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919F86-A71C-4826-BFD2-23EB659F8B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A7C5A7-05C0-4FE3-B169-7E865D8495CE}">
  <ds:schemaRefs>
    <ds:schemaRef ds:uri="http://schemas.microsoft.com/office/2006/metadata/properties"/>
    <ds:schemaRef ds:uri="http://purl.org/dc/terms/"/>
    <ds:schemaRef ds:uri="http://purl.org/dc/dcmitype/"/>
    <ds:schemaRef ds:uri="http://www.w3.org/XML/1998/namespace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c078926d-f3db-4b74-bbd0-f33b483d4b1e"/>
  </ds:schemaRefs>
</ds:datastoreItem>
</file>

<file path=customXml/itemProps3.xml><?xml version="1.0" encoding="utf-8"?>
<ds:datastoreItem xmlns:ds="http://schemas.openxmlformats.org/officeDocument/2006/customXml" ds:itemID="{91D6CAB3-C3F9-494C-AE30-60A4B9490285}">
  <ds:schemaRefs>
    <ds:schemaRef ds:uri="c078926d-f3db-4b74-bbd0-f33b483d4b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VPEC_theme</Template>
  <TotalTime>6742</TotalTime>
  <Words>943</Words>
  <Application>Microsoft Office PowerPoint</Application>
  <PresentationFormat>A4 Paper (210x297 mm)</PresentationFormat>
  <Paragraphs>198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Aptos</vt:lpstr>
      <vt:lpstr>Arial</vt:lpstr>
      <vt:lpstr>Asana</vt:lpstr>
      <vt:lpstr>Calibri</vt:lpstr>
      <vt:lpstr>Cambria Math</vt:lpstr>
      <vt:lpstr>Courier New</vt:lpstr>
      <vt:lpstr>Dosis</vt:lpstr>
      <vt:lpstr>Dosis ExtraBold</vt:lpstr>
      <vt:lpstr>Wingdings</vt:lpstr>
      <vt:lpstr>VPEC_theme</vt:lpstr>
      <vt:lpstr>BÀI BÁO CÁO : Kiểm chứng công thức pp CC, pp CV bằng Psim</vt:lpstr>
      <vt:lpstr>Outline</vt:lpstr>
      <vt:lpstr>I. Kiểm chứng công thức mô hình Rint</vt:lpstr>
      <vt:lpstr>I. Kiểm chứng công thức mô hình Rint</vt:lpstr>
      <vt:lpstr>I. Kiểm chứng công thức mô hình Rint</vt:lpstr>
      <vt:lpstr>I. Kiểm chứng công thức mô hình Rint</vt:lpstr>
      <vt:lpstr>I. Kiểm chứng công thức mô hình Rint</vt:lpstr>
      <vt:lpstr>I. Kiểm chứng công thức mô hình Rint</vt:lpstr>
      <vt:lpstr>I. Kiểm chứng công thức mô hình Rint</vt:lpstr>
      <vt:lpstr>II. Kiểm chứng công thức mh Thevenin</vt:lpstr>
      <vt:lpstr>II. Kiểm chứng công thức mh Thevenin</vt:lpstr>
      <vt:lpstr>II. Kiểm chứng công thức mh Thevenin</vt:lpstr>
      <vt:lpstr>II. Kiểm chứng công thức mh Thevenin</vt:lpstr>
      <vt:lpstr>Reference </vt:lpstr>
      <vt:lpstr>Câu hỏi của mọi người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Duy Dinh</dc:creator>
  <cp:lastModifiedBy>Hua Huy Hoang 20222538</cp:lastModifiedBy>
  <cp:revision>14</cp:revision>
  <cp:lastPrinted>2024-01-25T03:56:08Z</cp:lastPrinted>
  <dcterms:created xsi:type="dcterms:W3CDTF">2020-11-17T01:54:46Z</dcterms:created>
  <dcterms:modified xsi:type="dcterms:W3CDTF">2025-03-17T11:19:07Z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0x010100D27483CF1B63FA4AA03D15E9EA85AD57</vt:lpwstr>
  </property>
</Properties>
</file>