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24"/>
  </p:notesMasterIdLst>
  <p:handoutMasterIdLst>
    <p:handoutMasterId r:id="rId25"/>
  </p:handoutMasterIdLst>
  <p:sldIdLst>
    <p:sldId id="618" r:id="rId5"/>
    <p:sldId id="723" r:id="rId6"/>
    <p:sldId id="716" r:id="rId7"/>
    <p:sldId id="709" r:id="rId8"/>
    <p:sldId id="712" r:id="rId9"/>
    <p:sldId id="713" r:id="rId10"/>
    <p:sldId id="708" r:id="rId11"/>
    <p:sldId id="717" r:id="rId12"/>
    <p:sldId id="714" r:id="rId13"/>
    <p:sldId id="711" r:id="rId14"/>
    <p:sldId id="715" r:id="rId15"/>
    <p:sldId id="718" r:id="rId16"/>
    <p:sldId id="719" r:id="rId17"/>
    <p:sldId id="695" r:id="rId18"/>
    <p:sldId id="696" r:id="rId19"/>
    <p:sldId id="721" r:id="rId20"/>
    <p:sldId id="720" r:id="rId21"/>
    <p:sldId id="429" r:id="rId22"/>
    <p:sldId id="722" r:id="rId23"/>
  </p:sldIdLst>
  <p:sldSz cx="9906000" cy="6858000" type="A4"/>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4977022-D1D5-448D-82D9-5A3E09766F0B}">
          <p14:sldIdLst>
            <p14:sldId id="618"/>
            <p14:sldId id="723"/>
            <p14:sldId id="716"/>
            <p14:sldId id="709"/>
            <p14:sldId id="712"/>
            <p14:sldId id="713"/>
            <p14:sldId id="708"/>
            <p14:sldId id="717"/>
            <p14:sldId id="714"/>
            <p14:sldId id="711"/>
            <p14:sldId id="715"/>
            <p14:sldId id="718"/>
            <p14:sldId id="719"/>
            <p14:sldId id="695"/>
            <p14:sldId id="696"/>
            <p14:sldId id="721"/>
            <p14:sldId id="720"/>
            <p14:sldId id="429"/>
            <p14:sldId id="72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2626"/>
    <a:srgbClr val="01204C"/>
    <a:srgbClr val="D2DEEF"/>
    <a:srgbClr val="EAEFF7"/>
    <a:srgbClr val="990134"/>
    <a:srgbClr val="00552B"/>
    <a:srgbClr val="CFAFE7"/>
    <a:srgbClr val="B686DA"/>
    <a:srgbClr val="F5B68B"/>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848B9B-AA81-448D-B360-A59870B98AE1}" v="25" dt="2025-03-22T13:26:32.7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71" autoAdjust="0"/>
    <p:restoredTop sz="85660" autoAdjust="0"/>
  </p:normalViewPr>
  <p:slideViewPr>
    <p:cSldViewPr snapToGrid="0">
      <p:cViewPr varScale="1">
        <p:scale>
          <a:sx n="105" d="100"/>
          <a:sy n="105" d="100"/>
        </p:scale>
        <p:origin x="1602" y="66"/>
      </p:cViewPr>
      <p:guideLst/>
    </p:cSldViewPr>
  </p:slideViewPr>
  <p:notesTextViewPr>
    <p:cViewPr>
      <p:scale>
        <a:sx n="1" d="1"/>
        <a:sy n="1" d="1"/>
      </p:scale>
      <p:origin x="0" y="0"/>
    </p:cViewPr>
  </p:notesTextViewPr>
  <p:notesViewPr>
    <p:cSldViewPr snapToGrid="0" showGuides="1">
      <p:cViewPr varScale="1">
        <p:scale>
          <a:sx n="46" d="100"/>
          <a:sy n="46" d="100"/>
        </p:scale>
        <p:origin x="2736" y="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a Huy Hoang 20222538" userId="7e6ac483-a0c2-4bb3-bf55-c6129a83a59b" providerId="ADAL" clId="{64848B9B-AA81-448D-B360-A59870B98AE1}"/>
    <pc:docChg chg="undo custSel addSld delSld modSld sldOrd modSection">
      <pc:chgData name="Hua Huy Hoang 20222538" userId="7e6ac483-a0c2-4bb3-bf55-c6129a83a59b" providerId="ADAL" clId="{64848B9B-AA81-448D-B360-A59870B98AE1}" dt="2025-03-22T13:26:46.559" v="225" actId="1035"/>
      <pc:docMkLst>
        <pc:docMk/>
      </pc:docMkLst>
      <pc:sldChg chg="add">
        <pc:chgData name="Hua Huy Hoang 20222538" userId="7e6ac483-a0c2-4bb3-bf55-c6129a83a59b" providerId="ADAL" clId="{64848B9B-AA81-448D-B360-A59870B98AE1}" dt="2025-03-11T03:28:42.782" v="46"/>
        <pc:sldMkLst>
          <pc:docMk/>
          <pc:sldMk cId="575922933" sldId="429"/>
        </pc:sldMkLst>
      </pc:sldChg>
      <pc:sldChg chg="modSp del mod">
        <pc:chgData name="Hua Huy Hoang 20222538" userId="7e6ac483-a0c2-4bb3-bf55-c6129a83a59b" providerId="ADAL" clId="{64848B9B-AA81-448D-B360-A59870B98AE1}" dt="2025-03-18T08:33:40.328" v="162" actId="47"/>
        <pc:sldMkLst>
          <pc:docMk/>
          <pc:sldMk cId="995095604" sldId="707"/>
        </pc:sldMkLst>
      </pc:sldChg>
      <pc:sldChg chg="modSp mod">
        <pc:chgData name="Hua Huy Hoang 20222538" userId="7e6ac483-a0c2-4bb3-bf55-c6129a83a59b" providerId="ADAL" clId="{64848B9B-AA81-448D-B360-A59870B98AE1}" dt="2025-03-22T13:26:46.559" v="225" actId="1035"/>
        <pc:sldMkLst>
          <pc:docMk/>
          <pc:sldMk cId="4236588949" sldId="711"/>
        </pc:sldMkLst>
        <pc:spChg chg="mod">
          <ac:chgData name="Hua Huy Hoang 20222538" userId="7e6ac483-a0c2-4bb3-bf55-c6129a83a59b" providerId="ADAL" clId="{64848B9B-AA81-448D-B360-A59870B98AE1}" dt="2025-03-22T13:26:38.918" v="215" actId="1035"/>
          <ac:spMkLst>
            <pc:docMk/>
            <pc:sldMk cId="4236588949" sldId="711"/>
            <ac:spMk id="8" creationId="{2E52F3F6-84B8-2B2E-4CCA-C2CE2E476999}"/>
          </ac:spMkLst>
        </pc:spChg>
        <pc:spChg chg="mod">
          <ac:chgData name="Hua Huy Hoang 20222538" userId="7e6ac483-a0c2-4bb3-bf55-c6129a83a59b" providerId="ADAL" clId="{64848B9B-AA81-448D-B360-A59870B98AE1}" dt="2025-03-22T06:17:02.713" v="181" actId="1076"/>
          <ac:spMkLst>
            <pc:docMk/>
            <pc:sldMk cId="4236588949" sldId="711"/>
            <ac:spMk id="12" creationId="{A7B856B6-9CE7-3FC0-7DC9-DD9CA863BD70}"/>
          </ac:spMkLst>
        </pc:spChg>
        <pc:spChg chg="mod">
          <ac:chgData name="Hua Huy Hoang 20222538" userId="7e6ac483-a0c2-4bb3-bf55-c6129a83a59b" providerId="ADAL" clId="{64848B9B-AA81-448D-B360-A59870B98AE1}" dt="2025-03-22T06:17:02.713" v="181" actId="1076"/>
          <ac:spMkLst>
            <pc:docMk/>
            <pc:sldMk cId="4236588949" sldId="711"/>
            <ac:spMk id="13" creationId="{05B92EFD-E14F-8808-3D3A-335B5BA3D51A}"/>
          </ac:spMkLst>
        </pc:spChg>
        <pc:spChg chg="mod">
          <ac:chgData name="Hua Huy Hoang 20222538" userId="7e6ac483-a0c2-4bb3-bf55-c6129a83a59b" providerId="ADAL" clId="{64848B9B-AA81-448D-B360-A59870B98AE1}" dt="2025-03-22T13:26:46.559" v="225" actId="1035"/>
          <ac:spMkLst>
            <pc:docMk/>
            <pc:sldMk cId="4236588949" sldId="711"/>
            <ac:spMk id="14" creationId="{1C2AFC4E-EC26-86EA-9659-F9F2E69E12EB}"/>
          </ac:spMkLst>
        </pc:spChg>
        <pc:spChg chg="mod">
          <ac:chgData name="Hua Huy Hoang 20222538" userId="7e6ac483-a0c2-4bb3-bf55-c6129a83a59b" providerId="ADAL" clId="{64848B9B-AA81-448D-B360-A59870B98AE1}" dt="2025-03-22T13:26:46.559" v="225" actId="1035"/>
          <ac:spMkLst>
            <pc:docMk/>
            <pc:sldMk cId="4236588949" sldId="711"/>
            <ac:spMk id="15" creationId="{041A43C7-6A33-0E9C-8F70-CD92A1678201}"/>
          </ac:spMkLst>
        </pc:spChg>
        <pc:spChg chg="mod">
          <ac:chgData name="Hua Huy Hoang 20222538" userId="7e6ac483-a0c2-4bb3-bf55-c6129a83a59b" providerId="ADAL" clId="{64848B9B-AA81-448D-B360-A59870B98AE1}" dt="2025-03-22T13:26:46.559" v="225" actId="1035"/>
          <ac:spMkLst>
            <pc:docMk/>
            <pc:sldMk cId="4236588949" sldId="711"/>
            <ac:spMk id="16" creationId="{FA7D57FC-032B-3A70-8E2A-F274D4D163AF}"/>
          </ac:spMkLst>
        </pc:spChg>
        <pc:picChg chg="mod">
          <ac:chgData name="Hua Huy Hoang 20222538" userId="7e6ac483-a0c2-4bb3-bf55-c6129a83a59b" providerId="ADAL" clId="{64848B9B-AA81-448D-B360-A59870B98AE1}" dt="2025-03-22T06:17:02.713" v="181" actId="1076"/>
          <ac:picMkLst>
            <pc:docMk/>
            <pc:sldMk cId="4236588949" sldId="711"/>
            <ac:picMk id="10" creationId="{FFEA1287-8850-CE5B-E340-DFA23981DC9F}"/>
          </ac:picMkLst>
        </pc:picChg>
        <pc:picChg chg="mod">
          <ac:chgData name="Hua Huy Hoang 20222538" userId="7e6ac483-a0c2-4bb3-bf55-c6129a83a59b" providerId="ADAL" clId="{64848B9B-AA81-448D-B360-A59870B98AE1}" dt="2025-03-22T06:17:02.713" v="181" actId="1076"/>
          <ac:picMkLst>
            <pc:docMk/>
            <pc:sldMk cId="4236588949" sldId="711"/>
            <ac:picMk id="11" creationId="{2E6B71AD-FC6E-2BA1-C924-CA3B5B2B211B}"/>
          </ac:picMkLst>
        </pc:picChg>
      </pc:sldChg>
      <pc:sldChg chg="modSp mod">
        <pc:chgData name="Hua Huy Hoang 20222538" userId="7e6ac483-a0c2-4bb3-bf55-c6129a83a59b" providerId="ADAL" clId="{64848B9B-AA81-448D-B360-A59870B98AE1}" dt="2025-03-22T06:16:10.313" v="180" actId="1035"/>
        <pc:sldMkLst>
          <pc:docMk/>
          <pc:sldMk cId="914200643" sldId="713"/>
        </pc:sldMkLst>
        <pc:spChg chg="mod">
          <ac:chgData name="Hua Huy Hoang 20222538" userId="7e6ac483-a0c2-4bb3-bf55-c6129a83a59b" providerId="ADAL" clId="{64848B9B-AA81-448D-B360-A59870B98AE1}" dt="2025-03-22T06:16:10.313" v="180" actId="1035"/>
          <ac:spMkLst>
            <pc:docMk/>
            <pc:sldMk cId="914200643" sldId="713"/>
            <ac:spMk id="28" creationId="{66467564-AE0F-5D68-964A-410B7D919C89}"/>
          </ac:spMkLst>
        </pc:spChg>
        <pc:spChg chg="mod">
          <ac:chgData name="Hua Huy Hoang 20222538" userId="7e6ac483-a0c2-4bb3-bf55-c6129a83a59b" providerId="ADAL" clId="{64848B9B-AA81-448D-B360-A59870B98AE1}" dt="2025-03-22T06:16:10.313" v="180" actId="1035"/>
          <ac:spMkLst>
            <pc:docMk/>
            <pc:sldMk cId="914200643" sldId="713"/>
            <ac:spMk id="30" creationId="{DFCE4397-8CDA-651E-0EFD-F3A3877BEFB4}"/>
          </ac:spMkLst>
        </pc:spChg>
        <pc:grpChg chg="mod">
          <ac:chgData name="Hua Huy Hoang 20222538" userId="7e6ac483-a0c2-4bb3-bf55-c6129a83a59b" providerId="ADAL" clId="{64848B9B-AA81-448D-B360-A59870B98AE1}" dt="2025-03-22T06:16:10.313" v="180" actId="1035"/>
          <ac:grpSpMkLst>
            <pc:docMk/>
            <pc:sldMk cId="914200643" sldId="713"/>
            <ac:grpSpMk id="27" creationId="{D50BEEB1-E00A-2D06-E386-5386761B6005}"/>
          </ac:grpSpMkLst>
        </pc:grpChg>
        <pc:picChg chg="mod">
          <ac:chgData name="Hua Huy Hoang 20222538" userId="7e6ac483-a0c2-4bb3-bf55-c6129a83a59b" providerId="ADAL" clId="{64848B9B-AA81-448D-B360-A59870B98AE1}" dt="2025-03-22T06:16:10.313" v="180" actId="1035"/>
          <ac:picMkLst>
            <pc:docMk/>
            <pc:sldMk cId="914200643" sldId="713"/>
            <ac:picMk id="4" creationId="{9C4C88DA-23FA-7610-B99B-745119566F84}"/>
          </ac:picMkLst>
        </pc:picChg>
      </pc:sldChg>
      <pc:sldChg chg="modSp mod">
        <pc:chgData name="Hua Huy Hoang 20222538" userId="7e6ac483-a0c2-4bb3-bf55-c6129a83a59b" providerId="ADAL" clId="{64848B9B-AA81-448D-B360-A59870B98AE1}" dt="2025-03-08T00:57:12.921" v="0" actId="14100"/>
        <pc:sldMkLst>
          <pc:docMk/>
          <pc:sldMk cId="797634594" sldId="715"/>
        </pc:sldMkLst>
        <pc:spChg chg="mod">
          <ac:chgData name="Hua Huy Hoang 20222538" userId="7e6ac483-a0c2-4bb3-bf55-c6129a83a59b" providerId="ADAL" clId="{64848B9B-AA81-448D-B360-A59870B98AE1}" dt="2025-03-08T00:57:12.921" v="0" actId="14100"/>
          <ac:spMkLst>
            <pc:docMk/>
            <pc:sldMk cId="797634594" sldId="715"/>
            <ac:spMk id="3" creationId="{921FA078-1611-1C2B-411A-741B36DE5588}"/>
          </ac:spMkLst>
        </pc:spChg>
      </pc:sldChg>
      <pc:sldChg chg="modSp add mod ord">
        <pc:chgData name="Hua Huy Hoang 20222538" userId="7e6ac483-a0c2-4bb3-bf55-c6129a83a59b" providerId="ADAL" clId="{64848B9B-AA81-448D-B360-A59870B98AE1}" dt="2025-03-11T02:43:31.845" v="39" actId="404"/>
        <pc:sldMkLst>
          <pc:docMk/>
          <pc:sldMk cId="652522784" sldId="720"/>
        </pc:sldMkLst>
        <pc:spChg chg="mod">
          <ac:chgData name="Hua Huy Hoang 20222538" userId="7e6ac483-a0c2-4bb3-bf55-c6129a83a59b" providerId="ADAL" clId="{64848B9B-AA81-448D-B360-A59870B98AE1}" dt="2025-03-11T02:43:31.845" v="39" actId="404"/>
          <ac:spMkLst>
            <pc:docMk/>
            <pc:sldMk cId="652522784" sldId="720"/>
            <ac:spMk id="4" creationId="{76820F63-FD50-02B6-71BC-CB2095CF5AEA}"/>
          </ac:spMkLst>
        </pc:spChg>
      </pc:sldChg>
      <pc:sldChg chg="modSp add mod">
        <pc:chgData name="Hua Huy Hoang 20222538" userId="7e6ac483-a0c2-4bb3-bf55-c6129a83a59b" providerId="ADAL" clId="{64848B9B-AA81-448D-B360-A59870B98AE1}" dt="2025-03-11T02:42:32.012" v="33" actId="5793"/>
        <pc:sldMkLst>
          <pc:docMk/>
          <pc:sldMk cId="1594270320" sldId="721"/>
        </pc:sldMkLst>
        <pc:spChg chg="mod">
          <ac:chgData name="Hua Huy Hoang 20222538" userId="7e6ac483-a0c2-4bb3-bf55-c6129a83a59b" providerId="ADAL" clId="{64848B9B-AA81-448D-B360-A59870B98AE1}" dt="2025-03-11T02:42:32.012" v="33" actId="5793"/>
          <ac:spMkLst>
            <pc:docMk/>
            <pc:sldMk cId="1594270320" sldId="721"/>
            <ac:spMk id="4" creationId="{74C23C0A-AE63-680C-5840-ABF68AC6B984}"/>
          </ac:spMkLst>
        </pc:spChg>
      </pc:sldChg>
      <pc:sldChg chg="addSp delSp modSp add mod">
        <pc:chgData name="Hua Huy Hoang 20222538" userId="7e6ac483-a0c2-4bb3-bf55-c6129a83a59b" providerId="ADAL" clId="{64848B9B-AA81-448D-B360-A59870B98AE1}" dt="2025-03-11T03:34:14.018" v="72" actId="1076"/>
        <pc:sldMkLst>
          <pc:docMk/>
          <pc:sldMk cId="1677868749" sldId="722"/>
        </pc:sldMkLst>
        <pc:picChg chg="add mod modCrop">
          <ac:chgData name="Hua Huy Hoang 20222538" userId="7e6ac483-a0c2-4bb3-bf55-c6129a83a59b" providerId="ADAL" clId="{64848B9B-AA81-448D-B360-A59870B98AE1}" dt="2025-03-11T03:30:22.094" v="70" actId="1076"/>
          <ac:picMkLst>
            <pc:docMk/>
            <pc:sldMk cId="1677868749" sldId="722"/>
            <ac:picMk id="9" creationId="{D2433405-BE2B-6B13-0398-B71E757BA1E9}"/>
          </ac:picMkLst>
        </pc:picChg>
        <pc:picChg chg="add mod modCrop">
          <ac:chgData name="Hua Huy Hoang 20222538" userId="7e6ac483-a0c2-4bb3-bf55-c6129a83a59b" providerId="ADAL" clId="{64848B9B-AA81-448D-B360-A59870B98AE1}" dt="2025-03-11T03:34:14.018" v="72" actId="1076"/>
          <ac:picMkLst>
            <pc:docMk/>
            <pc:sldMk cId="1677868749" sldId="722"/>
            <ac:picMk id="10" creationId="{0A52AD32-FBA4-9C9D-80EC-1056C02FD23B}"/>
          </ac:picMkLst>
        </pc:picChg>
      </pc:sldChg>
      <pc:sldChg chg="addSp delSp add del mod ord">
        <pc:chgData name="Hua Huy Hoang 20222538" userId="7e6ac483-a0c2-4bb3-bf55-c6129a83a59b" providerId="ADAL" clId="{64848B9B-AA81-448D-B360-A59870B98AE1}" dt="2025-03-11T03:28:47.631" v="49" actId="47"/>
        <pc:sldMkLst>
          <pc:docMk/>
          <pc:sldMk cId="4102545813" sldId="722"/>
        </pc:sldMkLst>
      </pc:sldChg>
      <pc:sldChg chg="add">
        <pc:chgData name="Hua Huy Hoang 20222538" userId="7e6ac483-a0c2-4bb3-bf55-c6129a83a59b" providerId="ADAL" clId="{64848B9B-AA81-448D-B360-A59870B98AE1}" dt="2025-03-18T08:33:37.911" v="161"/>
        <pc:sldMkLst>
          <pc:docMk/>
          <pc:sldMk cId="238613731" sldId="72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85F609B-B55F-A07D-10CA-7D2972295C0C}"/>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FA43B17-FA46-C125-D20C-5A4DAAE39863}"/>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8DD69803-8E01-439A-8EF2-8343EF927035}" type="datetimeFigureOut">
              <a:rPr lang="en-GB" smtClean="0"/>
              <a:t>22/03/2025</a:t>
            </a:fld>
            <a:endParaRPr lang="en-GB"/>
          </a:p>
        </p:txBody>
      </p:sp>
      <p:sp>
        <p:nvSpPr>
          <p:cNvPr id="4" name="Footer Placeholder 3">
            <a:extLst>
              <a:ext uri="{FF2B5EF4-FFF2-40B4-BE49-F238E27FC236}">
                <a16:creationId xmlns:a16="http://schemas.microsoft.com/office/drawing/2014/main" id="{6115C246-29ED-77E0-BDDB-7AA6805E7EBE}"/>
              </a:ext>
            </a:extLst>
          </p:cNvPr>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9BFBDD5A-91D2-0765-6DD2-25C29598CF28}"/>
              </a:ext>
            </a:extLst>
          </p:cNvPr>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64657474-0C81-451B-9A7B-CFBB44338707}" type="slidenum">
              <a:rPr lang="en-GB" smtClean="0"/>
              <a:t>‹#›</a:t>
            </a:fld>
            <a:endParaRPr lang="en-GB"/>
          </a:p>
        </p:txBody>
      </p:sp>
    </p:spTree>
    <p:extLst>
      <p:ext uri="{BB962C8B-B14F-4D97-AF65-F5344CB8AC3E}">
        <p14:creationId xmlns:p14="http://schemas.microsoft.com/office/powerpoint/2010/main" val="346300711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6" userDrawn="1">
          <p15:clr>
            <a:srgbClr val="F26B43"/>
          </p15:clr>
        </p15:guide>
        <p15:guide id="2" pos="214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5659" cy="49805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4" y="0"/>
            <a:ext cx="2945659" cy="498055"/>
          </a:xfrm>
          <a:prstGeom prst="rect">
            <a:avLst/>
          </a:prstGeom>
        </p:spPr>
        <p:txBody>
          <a:bodyPr vert="horz" lIns="91440" tIns="45720" rIns="91440" bIns="45720" rtlCol="0"/>
          <a:lstStyle>
            <a:lvl1pPr algn="r">
              <a:defRPr sz="1200"/>
            </a:lvl1pPr>
          </a:lstStyle>
          <a:p>
            <a:fld id="{88E1D244-FD28-4770-BAA8-BC78F887939F}" type="datetimeFigureOut">
              <a:rPr lang="en-US" smtClean="0"/>
              <a:t>3/21/2025</a:t>
            </a:fld>
            <a:endParaRPr lang="en-US"/>
          </a:p>
        </p:txBody>
      </p:sp>
      <p:sp>
        <p:nvSpPr>
          <p:cNvPr id="4" name="Slide Image Placeholder 3"/>
          <p:cNvSpPr>
            <a:spLocks noGrp="1" noRot="1" noChangeAspect="1"/>
          </p:cNvSpPr>
          <p:nvPr>
            <p:ph type="sldImg" idx="2"/>
          </p:nvPr>
        </p:nvSpPr>
        <p:spPr>
          <a:xfrm>
            <a:off x="982663" y="1243013"/>
            <a:ext cx="4832350" cy="33464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5"/>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4" y="9428584"/>
            <a:ext cx="2945659" cy="498055"/>
          </a:xfrm>
          <a:prstGeom prst="rect">
            <a:avLst/>
          </a:prstGeom>
        </p:spPr>
        <p:txBody>
          <a:bodyPr vert="horz" lIns="91440" tIns="45720" rIns="91440" bIns="45720" rtlCol="0" anchor="b"/>
          <a:lstStyle>
            <a:lvl1pPr algn="r">
              <a:defRPr sz="1200"/>
            </a:lvl1pPr>
          </a:lstStyle>
          <a:p>
            <a:fld id="{391F491F-38FF-4C0B-9F2E-A8B257536EDB}" type="slidenum">
              <a:rPr lang="en-US" smtClean="0"/>
              <a:t>‹#›</a:t>
            </a:fld>
            <a:endParaRPr lang="en-US"/>
          </a:p>
        </p:txBody>
      </p:sp>
    </p:spTree>
    <p:extLst>
      <p:ext uri="{BB962C8B-B14F-4D97-AF65-F5344CB8AC3E}">
        <p14:creationId xmlns:p14="http://schemas.microsoft.com/office/powerpoint/2010/main" val="142721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CEDB4-D2ED-AE39-4E13-40DD4727E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30A43-580C-0107-3868-F9FE7619FE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F80BC3-59D2-4F88-4ED9-DE7BD3C4F3F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DAC10F-096D-24F7-DAFF-CEE9D55C89D8}"/>
              </a:ext>
            </a:extLst>
          </p:cNvPr>
          <p:cNvSpPr>
            <a:spLocks noGrp="1"/>
          </p:cNvSpPr>
          <p:nvPr>
            <p:ph type="sldNum" sz="quarter" idx="5"/>
          </p:nvPr>
        </p:nvSpPr>
        <p:spPr/>
        <p:txBody>
          <a:bodyPr/>
          <a:lstStyle/>
          <a:p>
            <a:fld id="{391F491F-38FF-4C0B-9F2E-A8B257536EDB}" type="slidenum">
              <a:rPr lang="en-US" smtClean="0"/>
              <a:t>2</a:t>
            </a:fld>
            <a:endParaRPr lang="en-US"/>
          </a:p>
        </p:txBody>
      </p:sp>
    </p:spTree>
    <p:extLst>
      <p:ext uri="{BB962C8B-B14F-4D97-AF65-F5344CB8AC3E}">
        <p14:creationId xmlns:p14="http://schemas.microsoft.com/office/powerpoint/2010/main" val="605631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38C72-A711-3F97-B1F8-E70D993D65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345817-D4E9-3B1C-ECCD-142B65ECB3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54B24-6976-2096-2927-78E5C3C14464}"/>
              </a:ext>
            </a:extLst>
          </p:cNvPr>
          <p:cNvSpPr>
            <a:spLocks noGrp="1"/>
          </p:cNvSpPr>
          <p:nvPr>
            <p:ph type="body" idx="1"/>
          </p:nvPr>
        </p:nvSpPr>
        <p:spPr/>
        <p:txBody>
          <a:bodyPr/>
          <a:lstStyle/>
          <a:p>
            <a:pPr marL="171450" indent="-171450">
              <a:buFont typeface="Wingdings" panose="05000000000000000000" pitchFamily="2" charset="2"/>
              <a:buChar char="Ø"/>
            </a:pPr>
            <a:r>
              <a:rPr lang="en-US"/>
              <a:t>Tại sao sạc lại cần duy trì dòng điện hoặc điện áp không đổi </a:t>
            </a:r>
          </a:p>
          <a:p>
            <a:pPr marL="171450" indent="-171450">
              <a:buFont typeface="Wingdings" panose="05000000000000000000" pitchFamily="2" charset="2"/>
              <a:buChar char="à"/>
            </a:pPr>
            <a:r>
              <a:rPr lang="en-US">
                <a:sym typeface="Wingdings" panose="05000000000000000000" pitchFamily="2" charset="2"/>
              </a:rPr>
              <a:t>nếu đổi thì có sạc dc k </a:t>
            </a:r>
          </a:p>
          <a:p>
            <a:pPr marL="171450" indent="-171450">
              <a:buFont typeface="Wingdings" panose="05000000000000000000" pitchFamily="2" charset="2"/>
              <a:buChar char="Ø"/>
            </a:pPr>
            <a:r>
              <a:rPr lang="en-US">
                <a:sym typeface="Wingdings" panose="05000000000000000000" pitchFamily="2" charset="2"/>
              </a:rPr>
              <a:t>Tại sao pin lại lưu trữ dc năng lượng</a:t>
            </a:r>
            <a:endParaRPr lang="en-US"/>
          </a:p>
        </p:txBody>
      </p:sp>
      <p:sp>
        <p:nvSpPr>
          <p:cNvPr id="4" name="Slide Number Placeholder 3">
            <a:extLst>
              <a:ext uri="{FF2B5EF4-FFF2-40B4-BE49-F238E27FC236}">
                <a16:creationId xmlns:a16="http://schemas.microsoft.com/office/drawing/2014/main" id="{B14EA9EB-034D-3EC0-6291-FE17DBA280B9}"/>
              </a:ext>
            </a:extLst>
          </p:cNvPr>
          <p:cNvSpPr>
            <a:spLocks noGrp="1"/>
          </p:cNvSpPr>
          <p:nvPr>
            <p:ph type="sldNum" sz="quarter" idx="5"/>
          </p:nvPr>
        </p:nvSpPr>
        <p:spPr/>
        <p:txBody>
          <a:bodyPr/>
          <a:lstStyle/>
          <a:p>
            <a:fld id="{391F491F-38FF-4C0B-9F2E-A8B257536EDB}" type="slidenum">
              <a:rPr lang="en-US" smtClean="0"/>
              <a:t>3</a:t>
            </a:fld>
            <a:endParaRPr lang="en-US"/>
          </a:p>
        </p:txBody>
      </p:sp>
    </p:spTree>
    <p:extLst>
      <p:ext uri="{BB962C8B-B14F-4D97-AF65-F5344CB8AC3E}">
        <p14:creationId xmlns:p14="http://schemas.microsoft.com/office/powerpoint/2010/main" val="314979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ED16A-6522-6189-B4BB-3C2536D32E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48E6A0-87A5-54A3-F985-00FDF064FD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9019A5-6DEB-58DF-1101-FEE1D0B8E04F}"/>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1B7F3791-7CC2-AFB9-C9D0-07F72F115F90}"/>
              </a:ext>
            </a:extLst>
          </p:cNvPr>
          <p:cNvSpPr>
            <a:spLocks noGrp="1"/>
          </p:cNvSpPr>
          <p:nvPr>
            <p:ph type="sldNum" sz="quarter" idx="5"/>
          </p:nvPr>
        </p:nvSpPr>
        <p:spPr/>
        <p:txBody>
          <a:bodyPr/>
          <a:lstStyle/>
          <a:p>
            <a:fld id="{391F491F-38FF-4C0B-9F2E-A8B257536EDB}" type="slidenum">
              <a:rPr lang="en-US" smtClean="0"/>
              <a:t>4</a:t>
            </a:fld>
            <a:endParaRPr lang="en-US"/>
          </a:p>
        </p:txBody>
      </p:sp>
    </p:spTree>
    <p:extLst>
      <p:ext uri="{BB962C8B-B14F-4D97-AF65-F5344CB8AC3E}">
        <p14:creationId xmlns:p14="http://schemas.microsoft.com/office/powerpoint/2010/main" val="744743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18BA4-AB10-BC33-08EB-E963FDF34C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F66684-FADB-D40E-9482-0A38BAE7AD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DE958D-68A9-A8C9-7E9D-D5216EAB3D3A}"/>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634556D2-28F8-76EB-6E4F-E0BB8FF6E225}"/>
              </a:ext>
            </a:extLst>
          </p:cNvPr>
          <p:cNvSpPr>
            <a:spLocks noGrp="1"/>
          </p:cNvSpPr>
          <p:nvPr>
            <p:ph type="sldNum" sz="quarter" idx="5"/>
          </p:nvPr>
        </p:nvSpPr>
        <p:spPr/>
        <p:txBody>
          <a:bodyPr/>
          <a:lstStyle/>
          <a:p>
            <a:fld id="{391F491F-38FF-4C0B-9F2E-A8B257536EDB}" type="slidenum">
              <a:rPr lang="en-US" smtClean="0"/>
              <a:t>5</a:t>
            </a:fld>
            <a:endParaRPr lang="en-US"/>
          </a:p>
        </p:txBody>
      </p:sp>
    </p:spTree>
    <p:extLst>
      <p:ext uri="{BB962C8B-B14F-4D97-AF65-F5344CB8AC3E}">
        <p14:creationId xmlns:p14="http://schemas.microsoft.com/office/powerpoint/2010/main" val="3462899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A6A94-E94B-6A16-E927-A0BA15BD0C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90A64B-FC90-6BE1-9083-56F8324379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1BDEA3-2A94-42AA-29AF-1048F26AFD67}"/>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EA593513-3108-9FC8-7F15-C10DF5CF9FC9}"/>
              </a:ext>
            </a:extLst>
          </p:cNvPr>
          <p:cNvSpPr>
            <a:spLocks noGrp="1"/>
          </p:cNvSpPr>
          <p:nvPr>
            <p:ph type="sldNum" sz="quarter" idx="5"/>
          </p:nvPr>
        </p:nvSpPr>
        <p:spPr/>
        <p:txBody>
          <a:bodyPr/>
          <a:lstStyle/>
          <a:p>
            <a:fld id="{391F491F-38FF-4C0B-9F2E-A8B257536EDB}" type="slidenum">
              <a:rPr lang="en-US" smtClean="0"/>
              <a:t>6</a:t>
            </a:fld>
            <a:endParaRPr lang="en-US"/>
          </a:p>
        </p:txBody>
      </p:sp>
    </p:spTree>
    <p:extLst>
      <p:ext uri="{BB962C8B-B14F-4D97-AF65-F5344CB8AC3E}">
        <p14:creationId xmlns:p14="http://schemas.microsoft.com/office/powerpoint/2010/main" val="387215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8E61B-D9E5-D4D4-53A7-2168B2B032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83C6F9-A5F1-6D8C-A9A6-8AAA2D862D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155A49-6BF4-EBE6-C1D1-B76DBA0C19F5}"/>
              </a:ext>
            </a:extLst>
          </p:cNvPr>
          <p:cNvSpPr>
            <a:spLocks noGrp="1"/>
          </p:cNvSpPr>
          <p:nvPr>
            <p:ph type="body" idx="1"/>
          </p:nvPr>
        </p:nvSpPr>
        <p:spPr/>
        <p:txBody>
          <a:bodyPr/>
          <a:lstStyle/>
          <a:p>
            <a:pPr marL="0" indent="0">
              <a:buFont typeface="Wingdings" panose="05000000000000000000" pitchFamily="2" charset="2"/>
              <a:buNone/>
            </a:pPr>
            <a:r>
              <a:rPr lang="vi-VN" b="0" i="0">
                <a:solidFill>
                  <a:srgbClr val="F8FAFF"/>
                </a:solidFill>
                <a:effectLst/>
                <a:latin typeface="Inter"/>
              </a:rPr>
              <a:t>Phương pháp sạc CC tiêu chuẩn được đặc trưng bởi dòng điện cao, thường trong khoảng từ 0.2C đến 1C. Điều này làm cho quá trình sạc ít tốn thời gian hơn và dễ dàng thực hiện</a:t>
            </a:r>
            <a:endParaRPr lang="en-US"/>
          </a:p>
        </p:txBody>
      </p:sp>
      <p:sp>
        <p:nvSpPr>
          <p:cNvPr id="4" name="Slide Number Placeholder 3">
            <a:extLst>
              <a:ext uri="{FF2B5EF4-FFF2-40B4-BE49-F238E27FC236}">
                <a16:creationId xmlns:a16="http://schemas.microsoft.com/office/drawing/2014/main" id="{9FA107D9-2940-8C59-A94F-8402DECD9B62}"/>
              </a:ext>
            </a:extLst>
          </p:cNvPr>
          <p:cNvSpPr>
            <a:spLocks noGrp="1"/>
          </p:cNvSpPr>
          <p:nvPr>
            <p:ph type="sldNum" sz="quarter" idx="5"/>
          </p:nvPr>
        </p:nvSpPr>
        <p:spPr/>
        <p:txBody>
          <a:bodyPr/>
          <a:lstStyle/>
          <a:p>
            <a:fld id="{391F491F-38FF-4C0B-9F2E-A8B257536EDB}" type="slidenum">
              <a:rPr lang="en-US" smtClean="0"/>
              <a:t>7</a:t>
            </a:fld>
            <a:endParaRPr lang="en-US"/>
          </a:p>
        </p:txBody>
      </p:sp>
    </p:spTree>
    <p:extLst>
      <p:ext uri="{BB962C8B-B14F-4D97-AF65-F5344CB8AC3E}">
        <p14:creationId xmlns:p14="http://schemas.microsoft.com/office/powerpoint/2010/main" val="19721832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5B58F-8A46-6C35-95B5-CAD4CFB335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2301E9-5DE1-1BF6-E705-558EC6CF4C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3A603C-E4D1-605D-B03F-2195437E2414}"/>
              </a:ext>
            </a:extLst>
          </p:cNvPr>
          <p:cNvSpPr>
            <a:spLocks noGrp="1"/>
          </p:cNvSpPr>
          <p:nvPr>
            <p:ph type="body" idx="1"/>
          </p:nvPr>
        </p:nvSpPr>
        <p:spPr/>
        <p:txBody>
          <a:bodyPr/>
          <a:lstStyle/>
          <a:p>
            <a:pPr marL="0" indent="0">
              <a:buFont typeface="Wingdings" panose="05000000000000000000" pitchFamily="2" charset="2"/>
              <a:buNone/>
            </a:pPr>
            <a:r>
              <a:rPr lang="vi-VN" b="0" i="0">
                <a:solidFill>
                  <a:srgbClr val="F8FAFF"/>
                </a:solidFill>
                <a:effectLst/>
                <a:latin typeface="Inter"/>
              </a:rPr>
              <a:t>Phương pháp sạc CC tiêu chuẩn được đặc trưng bởi dòng điện cao, thường trong khoảng từ 0.2C đến 1C. Điều này làm cho quá trình sạc ít tốn thời gian hơn và dễ dàng thực hiện</a:t>
            </a:r>
            <a:endParaRPr lang="en-US"/>
          </a:p>
        </p:txBody>
      </p:sp>
      <p:sp>
        <p:nvSpPr>
          <p:cNvPr id="4" name="Slide Number Placeholder 3">
            <a:extLst>
              <a:ext uri="{FF2B5EF4-FFF2-40B4-BE49-F238E27FC236}">
                <a16:creationId xmlns:a16="http://schemas.microsoft.com/office/drawing/2014/main" id="{1B79564C-389F-8E03-3ECD-F1B776D7A131}"/>
              </a:ext>
            </a:extLst>
          </p:cNvPr>
          <p:cNvSpPr>
            <a:spLocks noGrp="1"/>
          </p:cNvSpPr>
          <p:nvPr>
            <p:ph type="sldNum" sz="quarter" idx="5"/>
          </p:nvPr>
        </p:nvSpPr>
        <p:spPr/>
        <p:txBody>
          <a:bodyPr/>
          <a:lstStyle/>
          <a:p>
            <a:fld id="{391F491F-38FF-4C0B-9F2E-A8B257536EDB}" type="slidenum">
              <a:rPr lang="en-US" smtClean="0"/>
              <a:t>8</a:t>
            </a:fld>
            <a:endParaRPr lang="en-US"/>
          </a:p>
        </p:txBody>
      </p:sp>
    </p:spTree>
    <p:extLst>
      <p:ext uri="{BB962C8B-B14F-4D97-AF65-F5344CB8AC3E}">
        <p14:creationId xmlns:p14="http://schemas.microsoft.com/office/powerpoint/2010/main" val="62514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A18B9-AAF9-EE2F-1671-00D381A236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C15E1D-8591-9A37-A655-0E452B1C9F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4922EA-8BD8-880C-A103-1F791CB146C9}"/>
              </a:ext>
            </a:extLst>
          </p:cNvPr>
          <p:cNvSpPr>
            <a:spLocks noGrp="1"/>
          </p:cNvSpPr>
          <p:nvPr>
            <p:ph type="body" idx="1"/>
          </p:nvPr>
        </p:nvSpPr>
        <p:spPr/>
        <p:txBody>
          <a:bodyPr/>
          <a:lstStyle/>
          <a:p>
            <a:pPr marL="0" indent="0">
              <a:buFont typeface="Wingdings" panose="05000000000000000000" pitchFamily="2" charset="2"/>
              <a:buNone/>
            </a:pPr>
            <a:r>
              <a:rPr lang="en-US"/>
              <a:t>Tại sao ở CC thì I dc cung cấp ổn định từ ban đầu</a:t>
            </a:r>
          </a:p>
          <a:p>
            <a:pPr marL="0" indent="0">
              <a:buFont typeface="Wingdings" panose="05000000000000000000" pitchFamily="2" charset="2"/>
              <a:buNone/>
            </a:pPr>
            <a:r>
              <a:rPr lang="en-US"/>
              <a:t>Còn CV thì V ban đầu lại tăng từ OCV</a:t>
            </a:r>
            <a:r>
              <a:rPr lang="en-US">
                <a:sym typeface="Wingdings" panose="05000000000000000000" pitchFamily="2" charset="2"/>
              </a:rPr>
              <a:t> Vcv</a:t>
            </a:r>
            <a:endParaRPr lang="en-US"/>
          </a:p>
        </p:txBody>
      </p:sp>
      <p:sp>
        <p:nvSpPr>
          <p:cNvPr id="4" name="Slide Number Placeholder 3">
            <a:extLst>
              <a:ext uri="{FF2B5EF4-FFF2-40B4-BE49-F238E27FC236}">
                <a16:creationId xmlns:a16="http://schemas.microsoft.com/office/drawing/2014/main" id="{023D8942-F585-1042-034A-038D7EB96223}"/>
              </a:ext>
            </a:extLst>
          </p:cNvPr>
          <p:cNvSpPr>
            <a:spLocks noGrp="1"/>
          </p:cNvSpPr>
          <p:nvPr>
            <p:ph type="sldNum" sz="quarter" idx="5"/>
          </p:nvPr>
        </p:nvSpPr>
        <p:spPr/>
        <p:txBody>
          <a:bodyPr/>
          <a:lstStyle/>
          <a:p>
            <a:fld id="{391F491F-38FF-4C0B-9F2E-A8B257536EDB}" type="slidenum">
              <a:rPr lang="en-US" smtClean="0"/>
              <a:t>9</a:t>
            </a:fld>
            <a:endParaRPr lang="en-US"/>
          </a:p>
        </p:txBody>
      </p:sp>
    </p:spTree>
    <p:extLst>
      <p:ext uri="{BB962C8B-B14F-4D97-AF65-F5344CB8AC3E}">
        <p14:creationId xmlns:p14="http://schemas.microsoft.com/office/powerpoint/2010/main" val="17097330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8DA47-BE43-864C-AE0D-11F9C3810F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CA4D08-E4B8-8A9D-4747-1DD0F736D3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5116D3-563C-309C-1D1B-2F23D130E2C5}"/>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FB08028D-66B8-FC3C-2D34-EBE8A67A6548}"/>
              </a:ext>
            </a:extLst>
          </p:cNvPr>
          <p:cNvSpPr>
            <a:spLocks noGrp="1"/>
          </p:cNvSpPr>
          <p:nvPr>
            <p:ph type="sldNum" sz="quarter" idx="5"/>
          </p:nvPr>
        </p:nvSpPr>
        <p:spPr/>
        <p:txBody>
          <a:bodyPr/>
          <a:lstStyle/>
          <a:p>
            <a:fld id="{391F491F-38FF-4C0B-9F2E-A8B257536EDB}" type="slidenum">
              <a:rPr lang="en-US" smtClean="0"/>
              <a:t>10</a:t>
            </a:fld>
            <a:endParaRPr lang="en-US"/>
          </a:p>
        </p:txBody>
      </p:sp>
    </p:spTree>
    <p:extLst>
      <p:ext uri="{BB962C8B-B14F-4D97-AF65-F5344CB8AC3E}">
        <p14:creationId xmlns:p14="http://schemas.microsoft.com/office/powerpoint/2010/main" val="40853605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5DAF6-F1EF-F9EC-78E5-B3429E8EA2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AA543F-061E-430A-683A-E2549D1002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C55987-0E22-45B4-223E-1BFCA2D3D267}"/>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90AFD7B1-A7D3-13F2-2DFE-CC2E5820A32B}"/>
              </a:ext>
            </a:extLst>
          </p:cNvPr>
          <p:cNvSpPr>
            <a:spLocks noGrp="1"/>
          </p:cNvSpPr>
          <p:nvPr>
            <p:ph type="sldNum" sz="quarter" idx="5"/>
          </p:nvPr>
        </p:nvSpPr>
        <p:spPr/>
        <p:txBody>
          <a:bodyPr/>
          <a:lstStyle/>
          <a:p>
            <a:fld id="{391F491F-38FF-4C0B-9F2E-A8B257536EDB}" type="slidenum">
              <a:rPr lang="en-US" smtClean="0"/>
              <a:t>11</a:t>
            </a:fld>
            <a:endParaRPr lang="en-US"/>
          </a:p>
        </p:txBody>
      </p:sp>
    </p:spTree>
    <p:extLst>
      <p:ext uri="{BB962C8B-B14F-4D97-AF65-F5344CB8AC3E}">
        <p14:creationId xmlns:p14="http://schemas.microsoft.com/office/powerpoint/2010/main" val="195413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9F12E-EBED-8CF4-F05E-23E5154137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00ADCB-CC82-699C-523E-88FA72EDA5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3FB6B7-B325-3D9B-9397-413290E7D47D}"/>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E3A64E17-9D60-6260-706A-C13600E98A3F}"/>
              </a:ext>
            </a:extLst>
          </p:cNvPr>
          <p:cNvSpPr>
            <a:spLocks noGrp="1"/>
          </p:cNvSpPr>
          <p:nvPr>
            <p:ph type="sldNum" sz="quarter" idx="5"/>
          </p:nvPr>
        </p:nvSpPr>
        <p:spPr/>
        <p:txBody>
          <a:bodyPr/>
          <a:lstStyle/>
          <a:p>
            <a:fld id="{391F491F-38FF-4C0B-9F2E-A8B257536EDB}" type="slidenum">
              <a:rPr lang="en-US" smtClean="0"/>
              <a:t>12</a:t>
            </a:fld>
            <a:endParaRPr lang="en-US"/>
          </a:p>
        </p:txBody>
      </p:sp>
    </p:spTree>
    <p:extLst>
      <p:ext uri="{BB962C8B-B14F-4D97-AF65-F5344CB8AC3E}">
        <p14:creationId xmlns:p14="http://schemas.microsoft.com/office/powerpoint/2010/main" val="37245686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2EF37-8874-66F8-0292-07EF7326C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912D1B-8BB8-64DC-E272-C5C1614F26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6ABC06-0F98-A2BD-C18E-B51E1DA36FE9}"/>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4A81339D-FE77-21D3-1CBC-5AF10E95A4AE}"/>
              </a:ext>
            </a:extLst>
          </p:cNvPr>
          <p:cNvSpPr>
            <a:spLocks noGrp="1"/>
          </p:cNvSpPr>
          <p:nvPr>
            <p:ph type="sldNum" sz="quarter" idx="5"/>
          </p:nvPr>
        </p:nvSpPr>
        <p:spPr/>
        <p:txBody>
          <a:bodyPr/>
          <a:lstStyle/>
          <a:p>
            <a:fld id="{391F491F-38FF-4C0B-9F2E-A8B257536EDB}" type="slidenum">
              <a:rPr lang="en-US" smtClean="0"/>
              <a:t>13</a:t>
            </a:fld>
            <a:endParaRPr lang="en-US"/>
          </a:p>
        </p:txBody>
      </p:sp>
    </p:spTree>
    <p:extLst>
      <p:ext uri="{BB962C8B-B14F-4D97-AF65-F5344CB8AC3E}">
        <p14:creationId xmlns:p14="http://schemas.microsoft.com/office/powerpoint/2010/main" val="20984556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28019-FE10-AA94-A0A2-E627C7502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5C0F31-3F6C-7358-9963-1275F07FF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773F9A-444D-FB1F-338C-606636064C7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D7310CB-A807-2472-AA94-8CC55AA76F8C}"/>
              </a:ext>
            </a:extLst>
          </p:cNvPr>
          <p:cNvSpPr>
            <a:spLocks noGrp="1"/>
          </p:cNvSpPr>
          <p:nvPr>
            <p:ph type="sldNum" sz="quarter" idx="5"/>
          </p:nvPr>
        </p:nvSpPr>
        <p:spPr/>
        <p:txBody>
          <a:bodyPr/>
          <a:lstStyle/>
          <a:p>
            <a:fld id="{391F491F-38FF-4C0B-9F2E-A8B257536EDB}" type="slidenum">
              <a:rPr lang="en-US" smtClean="0"/>
              <a:t>14</a:t>
            </a:fld>
            <a:endParaRPr lang="en-US"/>
          </a:p>
        </p:txBody>
      </p:sp>
    </p:spTree>
    <p:extLst>
      <p:ext uri="{BB962C8B-B14F-4D97-AF65-F5344CB8AC3E}">
        <p14:creationId xmlns:p14="http://schemas.microsoft.com/office/powerpoint/2010/main" val="28014687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3925C-0F00-0C27-54A1-7FD87EE552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3A2311-F2DD-6ED8-EC8B-135CA46D5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677098-CF0C-2847-51CA-D537675EB954}"/>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D009DBBD-AEE5-FDE6-0309-B99690DBF933}"/>
              </a:ext>
            </a:extLst>
          </p:cNvPr>
          <p:cNvSpPr>
            <a:spLocks noGrp="1"/>
          </p:cNvSpPr>
          <p:nvPr>
            <p:ph type="sldNum" sz="quarter" idx="5"/>
          </p:nvPr>
        </p:nvSpPr>
        <p:spPr/>
        <p:txBody>
          <a:bodyPr/>
          <a:lstStyle/>
          <a:p>
            <a:fld id="{391F491F-38FF-4C0B-9F2E-A8B257536EDB}" type="slidenum">
              <a:rPr lang="en-US" smtClean="0"/>
              <a:t>16</a:t>
            </a:fld>
            <a:endParaRPr lang="en-US"/>
          </a:p>
        </p:txBody>
      </p:sp>
    </p:spTree>
    <p:extLst>
      <p:ext uri="{BB962C8B-B14F-4D97-AF65-F5344CB8AC3E}">
        <p14:creationId xmlns:p14="http://schemas.microsoft.com/office/powerpoint/2010/main" val="7577496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B3FAA-780E-9B29-EBB9-82B308F12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A2C3FC-9314-6677-B890-1502886A84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6BE888-3E14-F4DF-8410-4493AD679BD2}"/>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0621E9B6-9BC2-213D-EC29-4EEAA89572A4}"/>
              </a:ext>
            </a:extLst>
          </p:cNvPr>
          <p:cNvSpPr>
            <a:spLocks noGrp="1"/>
          </p:cNvSpPr>
          <p:nvPr>
            <p:ph type="sldNum" sz="quarter" idx="5"/>
          </p:nvPr>
        </p:nvSpPr>
        <p:spPr/>
        <p:txBody>
          <a:bodyPr/>
          <a:lstStyle/>
          <a:p>
            <a:fld id="{391F491F-38FF-4C0B-9F2E-A8B257536EDB}" type="slidenum">
              <a:rPr lang="en-US" smtClean="0"/>
              <a:t>17</a:t>
            </a:fld>
            <a:endParaRPr lang="en-US"/>
          </a:p>
        </p:txBody>
      </p:sp>
    </p:spTree>
    <p:extLst>
      <p:ext uri="{BB962C8B-B14F-4D97-AF65-F5344CB8AC3E}">
        <p14:creationId xmlns:p14="http://schemas.microsoft.com/office/powerpoint/2010/main" val="40326038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86C2D-3F3B-DA58-E8D1-B9A2766958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6C142-98BD-B879-3FBE-D74AFBD8B6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6C6102-668C-FDF5-0C77-0FF206023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C6F311-CDAF-F159-55C3-FB4E617ACC02}"/>
              </a:ext>
            </a:extLst>
          </p:cNvPr>
          <p:cNvSpPr>
            <a:spLocks noGrp="1"/>
          </p:cNvSpPr>
          <p:nvPr>
            <p:ph type="sldNum" sz="quarter" idx="5"/>
          </p:nvPr>
        </p:nvSpPr>
        <p:spPr/>
        <p:txBody>
          <a:bodyPr/>
          <a:lstStyle/>
          <a:p>
            <a:fld id="{391F491F-38FF-4C0B-9F2E-A8B257536EDB}" type="slidenum">
              <a:rPr lang="en-US" smtClean="0"/>
              <a:t>18</a:t>
            </a:fld>
            <a:endParaRPr lang="en-US"/>
          </a:p>
        </p:txBody>
      </p:sp>
    </p:spTree>
    <p:extLst>
      <p:ext uri="{BB962C8B-B14F-4D97-AF65-F5344CB8AC3E}">
        <p14:creationId xmlns:p14="http://schemas.microsoft.com/office/powerpoint/2010/main" val="1949856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3AD98-30FB-5E7E-B46D-3C47C8EC1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A78C6F-1E87-9811-1247-4F39D4E826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0028BC-ADD6-1EA9-F0E8-CC342921A0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D2DBA2-335F-5076-D555-2B9DBDE30691}"/>
              </a:ext>
            </a:extLst>
          </p:cNvPr>
          <p:cNvSpPr>
            <a:spLocks noGrp="1"/>
          </p:cNvSpPr>
          <p:nvPr>
            <p:ph type="sldNum" sz="quarter" idx="5"/>
          </p:nvPr>
        </p:nvSpPr>
        <p:spPr/>
        <p:txBody>
          <a:bodyPr/>
          <a:lstStyle/>
          <a:p>
            <a:fld id="{391F491F-38FF-4C0B-9F2E-A8B257536EDB}" type="slidenum">
              <a:rPr lang="en-US" smtClean="0"/>
              <a:t>19</a:t>
            </a:fld>
            <a:endParaRPr lang="en-US"/>
          </a:p>
        </p:txBody>
      </p:sp>
    </p:spTree>
    <p:extLst>
      <p:ext uri="{BB962C8B-B14F-4D97-AF65-F5344CB8AC3E}">
        <p14:creationId xmlns:p14="http://schemas.microsoft.com/office/powerpoint/2010/main" val="16610589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7" name="Group 16"/>
          <p:cNvGrpSpPr/>
          <p:nvPr/>
        </p:nvGrpSpPr>
        <p:grpSpPr bwMode="hidden">
          <a:xfrm>
            <a:off x="-1" y="0"/>
            <a:ext cx="9906002" cy="6858000"/>
            <a:chOff x="-1" y="0"/>
            <a:chExt cx="12192002" cy="6858000"/>
          </a:xfrm>
        </p:grpSpPr>
        <p:cxnSp>
          <p:nvCxnSpPr>
            <p:cNvPr id="18" name="Straight Connector 17"/>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4" name="Group 33"/>
            <p:cNvGrpSpPr/>
            <p:nvPr/>
          </p:nvGrpSpPr>
          <p:grpSpPr bwMode="hidden">
            <a:xfrm>
              <a:off x="-1" y="0"/>
              <a:ext cx="12192001" cy="6858000"/>
              <a:chOff x="-1" y="0"/>
              <a:chExt cx="12192001" cy="6858000"/>
            </a:xfrm>
          </p:grpSpPr>
          <p:cxnSp>
            <p:nvCxnSpPr>
              <p:cNvPr id="52" name="Straight Connector 51"/>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57" name="Group 56"/>
              <p:cNvGrpSpPr/>
              <p:nvPr/>
            </p:nvGrpSpPr>
            <p:grpSpPr bwMode="hidden">
              <a:xfrm>
                <a:off x="6327885" y="0"/>
                <a:ext cx="5864115" cy="5898673"/>
                <a:chOff x="6327885" y="0"/>
                <a:chExt cx="5864115" cy="5898673"/>
              </a:xfrm>
            </p:grpSpPr>
            <p:cxnSp>
              <p:nvCxnSpPr>
                <p:cNvPr id="63" name="Straight Connector 62"/>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58" name="Straight Connector 57"/>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35" name="Group 34"/>
            <p:cNvGrpSpPr/>
            <p:nvPr/>
          </p:nvGrpSpPr>
          <p:grpSpPr bwMode="hidden">
            <a:xfrm flipH="1">
              <a:off x="0" y="0"/>
              <a:ext cx="12192001" cy="6858000"/>
              <a:chOff x="-1" y="0"/>
              <a:chExt cx="12192001" cy="6858000"/>
            </a:xfrm>
          </p:grpSpPr>
          <p:cxnSp>
            <p:nvCxnSpPr>
              <p:cNvPr id="36" name="Straight Connector 35"/>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1" name="Group 40"/>
              <p:cNvGrpSpPr/>
              <p:nvPr/>
            </p:nvGrpSpPr>
            <p:grpSpPr bwMode="hidden">
              <a:xfrm>
                <a:off x="6327885" y="0"/>
                <a:ext cx="5864115" cy="5898673"/>
                <a:chOff x="6327885" y="0"/>
                <a:chExt cx="5864115" cy="5898673"/>
              </a:xfrm>
            </p:grpSpPr>
            <p:cxnSp>
              <p:nvCxnSpPr>
                <p:cNvPr id="47" name="Straight Connector 46"/>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2" name="Straight Connector 41"/>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495597" y="1890366"/>
            <a:ext cx="8914946" cy="2709774"/>
          </a:xfrm>
        </p:spPr>
        <p:txBody>
          <a:bodyPr anchor="ctr"/>
          <a:lstStyle>
            <a:lvl1pPr algn="ctr">
              <a:defRPr sz="6000" b="0">
                <a:solidFill>
                  <a:schemeClr val="tx1">
                    <a:lumMod val="85000"/>
                    <a:lumOff val="15000"/>
                  </a:schemeClr>
                </a:solidFill>
                <a:latin typeface="Dosis ExtraBold" pitchFamily="2" charset="0"/>
                <a:cs typeface="Lato Black" panose="020F0A02020204030203" pitchFamily="34" charset="0"/>
              </a:defRPr>
            </a:lvl1pPr>
          </a:lstStyle>
          <a:p>
            <a:r>
              <a:rPr lang="en-US" dirty="0"/>
              <a:t>Click to edit Master title style</a:t>
            </a:r>
            <a:endParaRPr lang="en-GB" dirty="0"/>
          </a:p>
        </p:txBody>
      </p:sp>
      <p:sp>
        <p:nvSpPr>
          <p:cNvPr id="3" name="Subtitle 2"/>
          <p:cNvSpPr>
            <a:spLocks noGrp="1"/>
          </p:cNvSpPr>
          <p:nvPr>
            <p:ph type="subTitle" idx="1"/>
          </p:nvPr>
        </p:nvSpPr>
        <p:spPr>
          <a:xfrm>
            <a:off x="495597" y="4744714"/>
            <a:ext cx="3617571" cy="1753089"/>
          </a:xfrm>
        </p:spPr>
        <p:txBody>
          <a:bodyPr anchor="ctr"/>
          <a:lstStyle>
            <a:lvl1pPr marL="0" indent="0" algn="ctr">
              <a:buNone/>
              <a:defRPr sz="2400">
                <a:solidFill>
                  <a:schemeClr val="tx1">
                    <a:lumMod val="85000"/>
                    <a:lumOff val="15000"/>
                  </a:schemeClr>
                </a:solidFill>
                <a:latin typeface="Dosis" pitchFamily="2" charset="0"/>
                <a:cs typeface="Lato" panose="020F050202020403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3" name="Pentagon 12"/>
          <p:cNvSpPr/>
          <p:nvPr/>
        </p:nvSpPr>
        <p:spPr>
          <a:xfrm>
            <a:off x="1" y="543"/>
            <a:ext cx="1764770" cy="765195"/>
          </a:xfrm>
          <a:prstGeom prst="homePlat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Dosis" pitchFamily="2" charset="0"/>
            </a:endParaRPr>
          </a:p>
        </p:txBody>
      </p:sp>
      <p:grpSp>
        <p:nvGrpSpPr>
          <p:cNvPr id="4" name="Group 3">
            <a:extLst>
              <a:ext uri="{FF2B5EF4-FFF2-40B4-BE49-F238E27FC236}">
                <a16:creationId xmlns:a16="http://schemas.microsoft.com/office/drawing/2014/main" id="{F37D3501-5DF6-029A-CD59-0C6F6CFB40F1}"/>
              </a:ext>
            </a:extLst>
          </p:cNvPr>
          <p:cNvGrpSpPr/>
          <p:nvPr userDrawn="1"/>
        </p:nvGrpSpPr>
        <p:grpSpPr>
          <a:xfrm>
            <a:off x="2425148" y="201033"/>
            <a:ext cx="7141731" cy="946077"/>
            <a:chOff x="2276474" y="99057"/>
            <a:chExt cx="6391089" cy="669292"/>
          </a:xfrm>
        </p:grpSpPr>
        <p:sp>
          <p:nvSpPr>
            <p:cNvPr id="5" name="TextBox 4">
              <a:extLst>
                <a:ext uri="{FF2B5EF4-FFF2-40B4-BE49-F238E27FC236}">
                  <a16:creationId xmlns:a16="http://schemas.microsoft.com/office/drawing/2014/main" id="{B34A61AE-4D8B-5C5C-73F4-747601782A95}"/>
                </a:ext>
              </a:extLst>
            </p:cNvPr>
            <p:cNvSpPr txBox="1"/>
            <p:nvPr userDrawn="1"/>
          </p:nvSpPr>
          <p:spPr>
            <a:xfrm>
              <a:off x="2276474" y="99057"/>
              <a:ext cx="6391089" cy="387662"/>
            </a:xfrm>
            <a:prstGeom prst="rect">
              <a:avLst/>
            </a:prstGeom>
            <a:noFill/>
          </p:spPr>
          <p:txBody>
            <a:bodyPr wrap="square">
              <a:prstTxWarp prst="textPlain">
                <a:avLst/>
              </a:prstTxWarp>
              <a:spAutoFit/>
            </a:bodyPr>
            <a:lstStyle/>
            <a:p>
              <a:pPr algn="ctr"/>
              <a:r>
                <a:rPr lang="en-US" dirty="0">
                  <a:solidFill>
                    <a:schemeClr val="tx1">
                      <a:lumMod val="85000"/>
                      <a:lumOff val="15000"/>
                    </a:schemeClr>
                  </a:solidFill>
                  <a:latin typeface="Dosis ExtraBold" pitchFamily="2" charset="0"/>
                  <a:cs typeface="Lato Black" panose="020F0A02020204030203" pitchFamily="34" charset="0"/>
                </a:rPr>
                <a:t>Electric Vehicle Supply Equipment Laboratory</a:t>
              </a:r>
            </a:p>
          </p:txBody>
        </p:sp>
        <p:sp>
          <p:nvSpPr>
            <p:cNvPr id="6" name="TextBox 5">
              <a:extLst>
                <a:ext uri="{FF2B5EF4-FFF2-40B4-BE49-F238E27FC236}">
                  <a16:creationId xmlns:a16="http://schemas.microsoft.com/office/drawing/2014/main" id="{7C02143D-35F6-E9E4-E61C-DF061DA20CC4}"/>
                </a:ext>
              </a:extLst>
            </p:cNvPr>
            <p:cNvSpPr txBox="1"/>
            <p:nvPr userDrawn="1"/>
          </p:nvSpPr>
          <p:spPr>
            <a:xfrm>
              <a:off x="2276474" y="563153"/>
              <a:ext cx="6391089" cy="205195"/>
            </a:xfrm>
            <a:prstGeom prst="rect">
              <a:avLst/>
            </a:prstGeom>
            <a:noFill/>
          </p:spPr>
          <p:txBody>
            <a:bodyPr wrap="square">
              <a:prstTxWarp prst="textPlain">
                <a:avLst/>
              </a:prstTxWarp>
              <a:spAutoFit/>
            </a:bodyPr>
            <a:lstStyle/>
            <a:p>
              <a:pPr algn="ctr"/>
              <a:r>
                <a:rPr lang="en-US" sz="1400" dirty="0">
                  <a:solidFill>
                    <a:schemeClr val="tx1">
                      <a:lumMod val="85000"/>
                      <a:lumOff val="15000"/>
                    </a:schemeClr>
                  </a:solidFill>
                  <a:latin typeface="Dosis" pitchFamily="2" charset="0"/>
                  <a:cs typeface="Lato" panose="020F0502020204030203" pitchFamily="34" charset="0"/>
                </a:rPr>
                <a:t>C1B, </a:t>
              </a:r>
              <a:r>
                <a:rPr lang="en-US" sz="1400" dirty="0" err="1">
                  <a:solidFill>
                    <a:schemeClr val="tx1">
                      <a:lumMod val="85000"/>
                      <a:lumOff val="15000"/>
                    </a:schemeClr>
                  </a:solidFill>
                  <a:latin typeface="Dosis" pitchFamily="2" charset="0"/>
                  <a:cs typeface="Lato" panose="020F0502020204030203" pitchFamily="34" charset="0"/>
                </a:rPr>
                <a:t>Đại</a:t>
              </a:r>
              <a:r>
                <a:rPr lang="en-US" sz="1400" dirty="0">
                  <a:solidFill>
                    <a:schemeClr val="tx1">
                      <a:lumMod val="85000"/>
                      <a:lumOff val="15000"/>
                    </a:schemeClr>
                  </a:solidFill>
                  <a:latin typeface="Dosis" pitchFamily="2" charset="0"/>
                  <a:cs typeface="Lato" panose="020F0502020204030203" pitchFamily="34" charset="0"/>
                </a:rPr>
                <a:t> </a:t>
              </a:r>
              <a:r>
                <a:rPr lang="en-US" sz="1400" dirty="0" err="1">
                  <a:solidFill>
                    <a:schemeClr val="tx1">
                      <a:lumMod val="85000"/>
                      <a:lumOff val="15000"/>
                    </a:schemeClr>
                  </a:solidFill>
                  <a:latin typeface="Dosis" pitchFamily="2" charset="0"/>
                  <a:cs typeface="Lato" panose="020F0502020204030203" pitchFamily="34" charset="0"/>
                </a:rPr>
                <a:t>học</a:t>
              </a:r>
              <a:r>
                <a:rPr lang="en-US" sz="1400" dirty="0">
                  <a:solidFill>
                    <a:schemeClr val="tx1">
                      <a:lumMod val="85000"/>
                      <a:lumOff val="15000"/>
                    </a:schemeClr>
                  </a:solidFill>
                  <a:latin typeface="Dosis" pitchFamily="2" charset="0"/>
                  <a:cs typeface="Lato" panose="020F0502020204030203" pitchFamily="34" charset="0"/>
                </a:rPr>
                <a:t> </a:t>
              </a:r>
              <a:r>
                <a:rPr lang="en-US" sz="1400" dirty="0" err="1">
                  <a:solidFill>
                    <a:schemeClr val="tx1">
                      <a:lumMod val="85000"/>
                      <a:lumOff val="15000"/>
                    </a:schemeClr>
                  </a:solidFill>
                  <a:latin typeface="Dosis" pitchFamily="2" charset="0"/>
                  <a:cs typeface="Lato" panose="020F0502020204030203" pitchFamily="34" charset="0"/>
                </a:rPr>
                <a:t>Bách</a:t>
              </a:r>
              <a:r>
                <a:rPr lang="en-US" sz="1400" dirty="0">
                  <a:solidFill>
                    <a:schemeClr val="tx1">
                      <a:lumMod val="85000"/>
                      <a:lumOff val="15000"/>
                    </a:schemeClr>
                  </a:solidFill>
                  <a:latin typeface="Dosis" pitchFamily="2" charset="0"/>
                  <a:cs typeface="Lato" panose="020F0502020204030203" pitchFamily="34" charset="0"/>
                </a:rPr>
                <a:t> Khoa Hà </a:t>
              </a:r>
              <a:r>
                <a:rPr lang="en-US" sz="1400" dirty="0" err="1">
                  <a:solidFill>
                    <a:schemeClr val="tx1">
                      <a:lumMod val="85000"/>
                      <a:lumOff val="15000"/>
                    </a:schemeClr>
                  </a:solidFill>
                  <a:latin typeface="Dosis" pitchFamily="2" charset="0"/>
                  <a:cs typeface="Lato" panose="020F0502020204030203" pitchFamily="34" charset="0"/>
                </a:rPr>
                <a:t>Nội</a:t>
              </a:r>
              <a:r>
                <a:rPr lang="en-US" sz="1400" dirty="0">
                  <a:solidFill>
                    <a:schemeClr val="tx1">
                      <a:lumMod val="85000"/>
                      <a:lumOff val="15000"/>
                    </a:schemeClr>
                  </a:solidFill>
                  <a:latin typeface="Dosis" pitchFamily="2" charset="0"/>
                  <a:cs typeface="Lato" panose="020F0502020204030203" pitchFamily="34" charset="0"/>
                </a:rPr>
                <a:t> – </a:t>
              </a:r>
              <a:r>
                <a:rPr lang="en-US" sz="1400" dirty="0" err="1">
                  <a:solidFill>
                    <a:schemeClr val="tx1">
                      <a:lumMod val="85000"/>
                      <a:lumOff val="15000"/>
                    </a:schemeClr>
                  </a:solidFill>
                  <a:latin typeface="Dosis" pitchFamily="2" charset="0"/>
                  <a:cs typeface="Lato" panose="020F0502020204030203" pitchFamily="34" charset="0"/>
                </a:rPr>
                <a:t>tel</a:t>
              </a:r>
              <a:r>
                <a:rPr lang="en-US" sz="1400" dirty="0">
                  <a:solidFill>
                    <a:schemeClr val="tx1">
                      <a:lumMod val="85000"/>
                      <a:lumOff val="15000"/>
                    </a:schemeClr>
                  </a:solidFill>
                  <a:latin typeface="Dosis" pitchFamily="2" charset="0"/>
                  <a:cs typeface="Lato" panose="020F0502020204030203" pitchFamily="34" charset="0"/>
                </a:rPr>
                <a:t>: 0963441242</a:t>
              </a:r>
            </a:p>
          </p:txBody>
        </p:sp>
      </p:grpSp>
      <p:pic>
        <p:nvPicPr>
          <p:cNvPr id="11" name="Picture 10">
            <a:extLst>
              <a:ext uri="{FF2B5EF4-FFF2-40B4-BE49-F238E27FC236}">
                <a16:creationId xmlns:a16="http://schemas.microsoft.com/office/drawing/2014/main" id="{ADDF2ECF-CE97-3838-BE8C-F2DE5BF553B8}"/>
              </a:ext>
            </a:extLst>
          </p:cNvPr>
          <p:cNvPicPr>
            <a:picLocks noChangeAspect="1"/>
          </p:cNvPicPr>
          <p:nvPr userDrawn="1"/>
        </p:nvPicPr>
        <p:blipFill rotWithShape="1">
          <a:blip r:embed="rId2">
            <a:clrChange>
              <a:clrFrom>
                <a:srgbClr val="FFFFFF"/>
              </a:clrFrom>
              <a:clrTo>
                <a:srgbClr val="FFFFFF">
                  <a:alpha val="0"/>
                </a:srgbClr>
              </a:clrTo>
            </a:clrChange>
            <a:lum bright="70000" contrast="-70000"/>
          </a:blip>
          <a:srcRect t="13822" r="8049" b="20445"/>
          <a:stretch/>
        </p:blipFill>
        <p:spPr>
          <a:xfrm>
            <a:off x="6310240" y="5051904"/>
            <a:ext cx="3100460" cy="1753089"/>
          </a:xfrm>
          <a:prstGeom prst="rect">
            <a:avLst/>
          </a:prstGeom>
        </p:spPr>
      </p:pic>
      <p:pic>
        <p:nvPicPr>
          <p:cNvPr id="14" name="Picture 13" descr="A close up of a logo&#10;&#10;Description automatically generated">
            <a:extLst>
              <a:ext uri="{FF2B5EF4-FFF2-40B4-BE49-F238E27FC236}">
                <a16:creationId xmlns:a16="http://schemas.microsoft.com/office/drawing/2014/main" id="{B89F6C4C-F7A4-0677-3851-DD45029DAC7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7926" y="93337"/>
            <a:ext cx="1919857" cy="1184682"/>
          </a:xfrm>
          <a:prstGeom prst="rect">
            <a:avLst/>
          </a:prstGeom>
        </p:spPr>
      </p:pic>
    </p:spTree>
    <p:extLst>
      <p:ext uri="{BB962C8B-B14F-4D97-AF65-F5344CB8AC3E}">
        <p14:creationId xmlns:p14="http://schemas.microsoft.com/office/powerpoint/2010/main" val="1100522700"/>
      </p:ext>
    </p:extLst>
  </p:cSld>
  <p:clrMapOvr>
    <a:masterClrMapping/>
  </p:clrMapOvr>
  <p:extLst>
    <p:ext uri="{DCECCB84-F9BA-43D5-87BE-67443E8EF086}">
      <p15:sldGuideLst xmlns:p15="http://schemas.microsoft.com/office/powerpoint/2012/main">
        <p15:guide id="1" orient="horz" pos="2137" userDrawn="1">
          <p15:clr>
            <a:srgbClr val="FBAE40"/>
          </p15:clr>
        </p15:guide>
        <p15:guide id="2" pos="312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12750" y="872455"/>
            <a:ext cx="9163050" cy="5493533"/>
          </a:xfrm>
        </p:spPr>
        <p:txBody>
          <a:bodyPr>
            <a:normAutofit/>
          </a:bodyPr>
          <a:lstStyle>
            <a:lvl1pPr>
              <a:defRPr sz="4000">
                <a:solidFill>
                  <a:schemeClr val="tx1">
                    <a:lumMod val="85000"/>
                    <a:lumOff val="15000"/>
                  </a:schemeClr>
                </a:solidFill>
                <a:latin typeface="Dosis" pitchFamily="2" charset="0"/>
                <a:cs typeface="Lato" panose="020F0502020204030203" pitchFamily="34" charset="0"/>
              </a:defRPr>
            </a:lvl1pPr>
            <a:lvl2pPr>
              <a:defRPr sz="3600">
                <a:solidFill>
                  <a:schemeClr val="tx1">
                    <a:lumMod val="85000"/>
                    <a:lumOff val="15000"/>
                  </a:schemeClr>
                </a:solidFill>
                <a:latin typeface="Dosis" pitchFamily="2" charset="0"/>
                <a:cs typeface="Lato" panose="020F0502020204030203" pitchFamily="34" charset="0"/>
              </a:defRPr>
            </a:lvl2pPr>
            <a:lvl3pPr>
              <a:spcBef>
                <a:spcPts val="0"/>
              </a:spcBef>
              <a:spcAft>
                <a:spcPts val="1200"/>
              </a:spcAft>
              <a:defRPr sz="3200">
                <a:solidFill>
                  <a:schemeClr val="tx1">
                    <a:lumMod val="85000"/>
                    <a:lumOff val="15000"/>
                  </a:schemeClr>
                </a:solidFill>
                <a:latin typeface="Dosis" pitchFamily="2" charset="0"/>
                <a:cs typeface="Lato" panose="020F0502020204030203" pitchFamily="34" charset="0"/>
              </a:defRPr>
            </a:lvl3pPr>
            <a:lvl4pPr>
              <a:defRPr sz="2800">
                <a:solidFill>
                  <a:schemeClr val="tx1">
                    <a:lumMod val="85000"/>
                    <a:lumOff val="15000"/>
                  </a:schemeClr>
                </a:solidFill>
                <a:latin typeface="Dosis" pitchFamily="2" charset="0"/>
                <a:cs typeface="Lato" panose="020F0502020204030203" pitchFamily="34" charset="0"/>
              </a:defRPr>
            </a:lvl4pPr>
            <a:lvl5pPr>
              <a:defRPr sz="2800">
                <a:solidFill>
                  <a:schemeClr val="tx1">
                    <a:lumMod val="85000"/>
                    <a:lumOff val="15000"/>
                  </a:schemeClr>
                </a:solidFill>
                <a:latin typeface="Dosis" pitchFamily="2"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Rectangle 6"/>
          <p:cNvSpPr/>
          <p:nvPr/>
        </p:nvSpPr>
        <p:spPr>
          <a:xfrm>
            <a:off x="0" y="6570787"/>
            <a:ext cx="9906000" cy="2872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spcAft>
                <a:spcPts val="600"/>
              </a:spcAft>
            </a:pPr>
            <a:endParaRPr lang="en-US" sz="3600">
              <a:solidFill>
                <a:schemeClr val="tx1">
                  <a:lumMod val="75000"/>
                  <a:lumOff val="25000"/>
                </a:schemeClr>
              </a:solidFill>
              <a:latin typeface="Dosis" pitchFamily="2" charset="0"/>
              <a:ea typeface="Asana" panose="02000603000000000000" pitchFamily="2" charset="0"/>
              <a:cs typeface="Lato" panose="020F0502020204030203" pitchFamily="34" charset="0"/>
            </a:endParaRPr>
          </a:p>
        </p:txBody>
      </p:sp>
      <p:sp>
        <p:nvSpPr>
          <p:cNvPr id="4" name="Date Placeholder 3"/>
          <p:cNvSpPr>
            <a:spLocks noGrp="1"/>
          </p:cNvSpPr>
          <p:nvPr>
            <p:ph type="dt" sz="half" idx="10"/>
          </p:nvPr>
        </p:nvSpPr>
        <p:spPr>
          <a:xfrm>
            <a:off x="681038" y="6570787"/>
            <a:ext cx="2228850" cy="287215"/>
          </a:xfrm>
        </p:spPr>
        <p:txBody>
          <a:bodyPr/>
          <a:lstStyle>
            <a:lvl1pPr>
              <a:defRPr sz="1400">
                <a:solidFill>
                  <a:schemeClr val="tx1">
                    <a:lumMod val="75000"/>
                    <a:lumOff val="25000"/>
                  </a:schemeClr>
                </a:solidFill>
                <a:latin typeface="Dosis" pitchFamily="2" charset="0"/>
                <a:cs typeface="Lato" panose="020F0502020204030203" pitchFamily="34" charset="0"/>
              </a:defRPr>
            </a:lvl1pPr>
          </a:lstStyle>
          <a:p>
            <a:fld id="{4CDACB4C-8576-42BD-A1CF-557C555A32CD}" type="datetime1">
              <a:rPr lang="en-US" smtClean="0"/>
              <a:t>3/21/2025</a:t>
            </a:fld>
            <a:endParaRPr lang="en-US"/>
          </a:p>
        </p:txBody>
      </p:sp>
      <p:sp>
        <p:nvSpPr>
          <p:cNvPr id="5" name="Footer Placeholder 4"/>
          <p:cNvSpPr>
            <a:spLocks noGrp="1"/>
          </p:cNvSpPr>
          <p:nvPr>
            <p:ph type="ftr" sz="quarter" idx="11"/>
          </p:nvPr>
        </p:nvSpPr>
        <p:spPr>
          <a:xfrm>
            <a:off x="2909888" y="6570787"/>
            <a:ext cx="4086225" cy="287215"/>
          </a:xfrm>
        </p:spPr>
        <p:txBody>
          <a:bodyPr/>
          <a:lstStyle>
            <a:lvl1pPr>
              <a:defRPr sz="1400">
                <a:solidFill>
                  <a:schemeClr val="tx1">
                    <a:lumMod val="75000"/>
                    <a:lumOff val="25000"/>
                  </a:schemeClr>
                </a:solidFill>
                <a:latin typeface="Dosis" pitchFamily="2" charset="0"/>
                <a:cs typeface="Lato" panose="020F0502020204030203" pitchFamily="34" charset="0"/>
              </a:defRPr>
            </a:lvl1pPr>
          </a:lstStyle>
          <a:p>
            <a:r>
              <a:rPr lang="en-US"/>
              <a:t>EVSELab brief introduction</a:t>
            </a:r>
          </a:p>
        </p:txBody>
      </p:sp>
      <p:sp>
        <p:nvSpPr>
          <p:cNvPr id="6" name="Slide Number Placeholder 5"/>
          <p:cNvSpPr>
            <a:spLocks noGrp="1"/>
          </p:cNvSpPr>
          <p:nvPr>
            <p:ph type="sldNum" sz="quarter" idx="12"/>
          </p:nvPr>
        </p:nvSpPr>
        <p:spPr>
          <a:xfrm>
            <a:off x="6996113" y="6570787"/>
            <a:ext cx="2228850" cy="287215"/>
          </a:xfrm>
        </p:spPr>
        <p:txBody>
          <a:bodyPr/>
          <a:lstStyle>
            <a:lvl1pPr>
              <a:defRPr sz="1400">
                <a:solidFill>
                  <a:schemeClr val="tx1">
                    <a:lumMod val="75000"/>
                    <a:lumOff val="25000"/>
                  </a:schemeClr>
                </a:solidFill>
                <a:latin typeface="Dosis" pitchFamily="2" charset="0"/>
                <a:cs typeface="Lato" panose="020F0502020204030203" pitchFamily="34" charset="0"/>
              </a:defRPr>
            </a:lvl1pPr>
          </a:lstStyle>
          <a:p>
            <a:fld id="{6FC7B32C-BCDB-467B-AAD1-D0D29C12FD8E}" type="slidenum">
              <a:rPr lang="en-US" smtClean="0"/>
              <a:pPr/>
              <a:t>‹#›</a:t>
            </a:fld>
            <a:endParaRPr lang="en-US"/>
          </a:p>
        </p:txBody>
      </p:sp>
      <p:cxnSp>
        <p:nvCxnSpPr>
          <p:cNvPr id="12" name="Straight Connector 11"/>
          <p:cNvCxnSpPr/>
          <p:nvPr/>
        </p:nvCxnSpPr>
        <p:spPr>
          <a:xfrm>
            <a:off x="0" y="761877"/>
            <a:ext cx="9906000" cy="0"/>
          </a:xfrm>
          <a:prstGeom prst="line">
            <a:avLst/>
          </a:prstGeom>
          <a:ln w="161290">
            <a:gradFill flip="none" rotWithShape="1">
              <a:gsLst>
                <a:gs pos="50000">
                  <a:schemeClr val="bg1">
                    <a:lumMod val="95000"/>
                  </a:schemeClr>
                </a:gs>
                <a:gs pos="0">
                  <a:schemeClr val="accent1">
                    <a:lumMod val="20000"/>
                    <a:lumOff val="80000"/>
                  </a:schemeClr>
                </a:gs>
                <a:gs pos="100000">
                  <a:schemeClr val="accent4">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5" name="Pentagon 34">
            <a:extLst>
              <a:ext uri="{FF2B5EF4-FFF2-40B4-BE49-F238E27FC236}">
                <a16:creationId xmlns:a16="http://schemas.microsoft.com/office/drawing/2014/main" id="{A304340F-8DFF-4AB2-A40A-65680CCCC2A3}"/>
              </a:ext>
            </a:extLst>
          </p:cNvPr>
          <p:cNvSpPr/>
          <p:nvPr userDrawn="1"/>
        </p:nvSpPr>
        <p:spPr>
          <a:xfrm>
            <a:off x="1" y="0"/>
            <a:ext cx="9905999" cy="6668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Dosis" pitchFamily="2" charset="0"/>
            </a:endParaRPr>
          </a:p>
        </p:txBody>
      </p:sp>
      <p:sp>
        <p:nvSpPr>
          <p:cNvPr id="13" name="Title 12">
            <a:extLst>
              <a:ext uri="{FF2B5EF4-FFF2-40B4-BE49-F238E27FC236}">
                <a16:creationId xmlns:a16="http://schemas.microsoft.com/office/drawing/2014/main" id="{3D07F2A2-C0A2-B481-673B-2559D4D757AB}"/>
              </a:ext>
            </a:extLst>
          </p:cNvPr>
          <p:cNvSpPr>
            <a:spLocks noGrp="1"/>
          </p:cNvSpPr>
          <p:nvPr>
            <p:ph type="title"/>
          </p:nvPr>
        </p:nvSpPr>
        <p:spPr>
          <a:xfrm>
            <a:off x="66837" y="99095"/>
            <a:ext cx="9766931" cy="548731"/>
          </a:xfrm>
        </p:spPr>
        <p:txBody>
          <a:bodyPr>
            <a:noAutofit/>
          </a:bodyPr>
          <a:lstStyle>
            <a:lvl1pPr algn="ctr">
              <a:defRPr sz="4000" b="0">
                <a:solidFill>
                  <a:schemeClr val="tx1">
                    <a:lumMod val="85000"/>
                    <a:lumOff val="15000"/>
                  </a:schemeClr>
                </a:solidFill>
                <a:latin typeface="Dosis ExtraBold" pitchFamily="2" charset="0"/>
                <a:cs typeface="Lato Black" panose="020F0A02020204030203" pitchFamily="34" charset="0"/>
              </a:defRPr>
            </a:lvl1pPr>
          </a:lstStyle>
          <a:p>
            <a:r>
              <a:rPr lang="en-US"/>
              <a:t>Click to edit Master title style</a:t>
            </a:r>
          </a:p>
        </p:txBody>
      </p:sp>
      <p:cxnSp>
        <p:nvCxnSpPr>
          <p:cNvPr id="2" name="Straight Connector 1">
            <a:extLst>
              <a:ext uri="{FF2B5EF4-FFF2-40B4-BE49-F238E27FC236}">
                <a16:creationId xmlns:a16="http://schemas.microsoft.com/office/drawing/2014/main" id="{1359FCEE-08D4-F3CD-A046-CE7160FCCC8B}"/>
              </a:ext>
            </a:extLst>
          </p:cNvPr>
          <p:cNvCxnSpPr/>
          <p:nvPr userDrawn="1"/>
        </p:nvCxnSpPr>
        <p:spPr>
          <a:xfrm>
            <a:off x="0" y="6460990"/>
            <a:ext cx="9906000" cy="0"/>
          </a:xfrm>
          <a:prstGeom prst="line">
            <a:avLst/>
          </a:prstGeom>
          <a:ln w="64516">
            <a:gradFill flip="none" rotWithShape="1">
              <a:gsLst>
                <a:gs pos="50000">
                  <a:schemeClr val="bg1">
                    <a:lumMod val="85000"/>
                  </a:schemeClr>
                </a:gs>
                <a:gs pos="0">
                  <a:schemeClr val="accent5">
                    <a:lumMod val="40000"/>
                    <a:lumOff val="60000"/>
                  </a:schemeClr>
                </a:gs>
                <a:gs pos="100000">
                  <a:schemeClr val="accent4">
                    <a:lumMod val="40000"/>
                    <a:lumOff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8" name="Picture 7" descr="A close up of a logo&#10;&#10;Description automatically generated">
            <a:extLst>
              <a:ext uri="{FF2B5EF4-FFF2-40B4-BE49-F238E27FC236}">
                <a16:creationId xmlns:a16="http://schemas.microsoft.com/office/drawing/2014/main" id="{E4AFCD61-5E35-E6B8-23E3-7A57B3CEABC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12750" y="99095"/>
            <a:ext cx="889256" cy="548731"/>
          </a:xfrm>
          <a:prstGeom prst="rect">
            <a:avLst/>
          </a:prstGeom>
        </p:spPr>
      </p:pic>
    </p:spTree>
    <p:extLst>
      <p:ext uri="{BB962C8B-B14F-4D97-AF65-F5344CB8AC3E}">
        <p14:creationId xmlns:p14="http://schemas.microsoft.com/office/powerpoint/2010/main" val="34391910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Pentagon 34">
            <a:extLst>
              <a:ext uri="{FF2B5EF4-FFF2-40B4-BE49-F238E27FC236}">
                <a16:creationId xmlns:a16="http://schemas.microsoft.com/office/drawing/2014/main" id="{C49DF1B1-6F22-1FA9-363C-0874B083CF80}"/>
              </a:ext>
            </a:extLst>
          </p:cNvPr>
          <p:cNvSpPr/>
          <p:nvPr userDrawn="1"/>
        </p:nvSpPr>
        <p:spPr>
          <a:xfrm>
            <a:off x="1" y="-1"/>
            <a:ext cx="9905999" cy="841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371600" indent="0" algn="ctr"/>
            <a:endParaRPr lang="en-US" sz="2800">
              <a:solidFill>
                <a:srgbClr val="003600"/>
              </a:solidFill>
              <a:latin typeface="Dosis" pitchFamily="2" charset="0"/>
              <a:cs typeface="Lato Black" panose="020F0A02020204030203" pitchFamily="34" charset="0"/>
            </a:endParaRPr>
          </a:p>
        </p:txBody>
      </p:sp>
      <p:sp>
        <p:nvSpPr>
          <p:cNvPr id="2" name="Title 1"/>
          <p:cNvSpPr>
            <a:spLocks noGrp="1"/>
          </p:cNvSpPr>
          <p:nvPr>
            <p:ph type="title"/>
          </p:nvPr>
        </p:nvSpPr>
        <p:spPr>
          <a:xfrm>
            <a:off x="675879" y="1709741"/>
            <a:ext cx="8543925" cy="2852737"/>
          </a:xfrm>
          <a:noFill/>
        </p:spPr>
        <p:txBody>
          <a:bodyPr anchor="b">
            <a:normAutofit/>
          </a:bodyPr>
          <a:lstStyle>
            <a:lvl1pPr algn="r">
              <a:defRPr sz="5400">
                <a:solidFill>
                  <a:schemeClr val="tx1">
                    <a:lumMod val="95000"/>
                    <a:lumOff val="5000"/>
                  </a:schemeClr>
                </a:solidFill>
                <a:latin typeface="Dosis ExtraBold" pitchFamily="2" charset="0"/>
                <a:cs typeface="Lato Black" panose="020F0A02020204030203" pitchFamily="34" charset="0"/>
              </a:defRPr>
            </a:lvl1pPr>
          </a:lstStyle>
          <a:p>
            <a:r>
              <a:rPr lang="en-US"/>
              <a:t>Click to edit Master title style</a:t>
            </a:r>
            <a:endParaRPr lang="en-GB"/>
          </a:p>
        </p:txBody>
      </p:sp>
      <p:pic>
        <p:nvPicPr>
          <p:cNvPr id="3" name="Picture 2" descr="A close up of a logo&#10;&#10;Description automatically generated">
            <a:extLst>
              <a:ext uri="{FF2B5EF4-FFF2-40B4-BE49-F238E27FC236}">
                <a16:creationId xmlns:a16="http://schemas.microsoft.com/office/drawing/2014/main" id="{6793EBA4-575F-EF45-9BFA-5DA97F2E20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7926" y="93337"/>
            <a:ext cx="1919857" cy="1184682"/>
          </a:xfrm>
          <a:prstGeom prst="rect">
            <a:avLst/>
          </a:prstGeom>
        </p:spPr>
      </p:pic>
      <p:grpSp>
        <p:nvGrpSpPr>
          <p:cNvPr id="4" name="Group 3">
            <a:extLst>
              <a:ext uri="{FF2B5EF4-FFF2-40B4-BE49-F238E27FC236}">
                <a16:creationId xmlns:a16="http://schemas.microsoft.com/office/drawing/2014/main" id="{33D698A9-839C-FEF5-73A1-CDD184341F98}"/>
              </a:ext>
            </a:extLst>
          </p:cNvPr>
          <p:cNvGrpSpPr/>
          <p:nvPr userDrawn="1"/>
        </p:nvGrpSpPr>
        <p:grpSpPr>
          <a:xfrm>
            <a:off x="2425148" y="201033"/>
            <a:ext cx="7141731" cy="946077"/>
            <a:chOff x="2276474" y="99057"/>
            <a:chExt cx="6391089" cy="669292"/>
          </a:xfrm>
        </p:grpSpPr>
        <p:sp>
          <p:nvSpPr>
            <p:cNvPr id="5" name="TextBox 4">
              <a:extLst>
                <a:ext uri="{FF2B5EF4-FFF2-40B4-BE49-F238E27FC236}">
                  <a16:creationId xmlns:a16="http://schemas.microsoft.com/office/drawing/2014/main" id="{E8969E7E-4D8D-2521-E18E-2B53FAA2E84A}"/>
                </a:ext>
              </a:extLst>
            </p:cNvPr>
            <p:cNvSpPr txBox="1"/>
            <p:nvPr userDrawn="1"/>
          </p:nvSpPr>
          <p:spPr>
            <a:xfrm>
              <a:off x="2276474" y="99057"/>
              <a:ext cx="6391089" cy="387662"/>
            </a:xfrm>
            <a:prstGeom prst="rect">
              <a:avLst/>
            </a:prstGeom>
            <a:noFill/>
          </p:spPr>
          <p:txBody>
            <a:bodyPr wrap="square">
              <a:prstTxWarp prst="textPlain">
                <a:avLst/>
              </a:prstTxWarp>
              <a:spAutoFit/>
            </a:bodyPr>
            <a:lstStyle/>
            <a:p>
              <a:pPr algn="ctr"/>
              <a:r>
                <a:rPr lang="en-US" dirty="0">
                  <a:solidFill>
                    <a:schemeClr val="tx1">
                      <a:lumMod val="85000"/>
                      <a:lumOff val="15000"/>
                    </a:schemeClr>
                  </a:solidFill>
                  <a:latin typeface="Dosis ExtraBold" pitchFamily="2" charset="0"/>
                  <a:cs typeface="Lato Black" panose="020F0A02020204030203" pitchFamily="34" charset="0"/>
                </a:rPr>
                <a:t>Electric Vehicle Supply Equipment Laboratory</a:t>
              </a:r>
            </a:p>
          </p:txBody>
        </p:sp>
        <p:sp>
          <p:nvSpPr>
            <p:cNvPr id="6" name="TextBox 5">
              <a:extLst>
                <a:ext uri="{FF2B5EF4-FFF2-40B4-BE49-F238E27FC236}">
                  <a16:creationId xmlns:a16="http://schemas.microsoft.com/office/drawing/2014/main" id="{E6EC54A9-7E48-5CD8-B7B5-46412D6E4831}"/>
                </a:ext>
              </a:extLst>
            </p:cNvPr>
            <p:cNvSpPr txBox="1"/>
            <p:nvPr userDrawn="1"/>
          </p:nvSpPr>
          <p:spPr>
            <a:xfrm>
              <a:off x="2276474" y="563153"/>
              <a:ext cx="6391089" cy="205195"/>
            </a:xfrm>
            <a:prstGeom prst="rect">
              <a:avLst/>
            </a:prstGeom>
            <a:noFill/>
          </p:spPr>
          <p:txBody>
            <a:bodyPr wrap="square">
              <a:prstTxWarp prst="textPlain">
                <a:avLst/>
              </a:prstTxWarp>
              <a:spAutoFit/>
            </a:bodyPr>
            <a:lstStyle/>
            <a:p>
              <a:pPr algn="ctr"/>
              <a:r>
                <a:rPr lang="en-US" sz="1400" dirty="0">
                  <a:solidFill>
                    <a:schemeClr val="tx1">
                      <a:lumMod val="85000"/>
                      <a:lumOff val="15000"/>
                    </a:schemeClr>
                  </a:solidFill>
                  <a:latin typeface="Dosis" pitchFamily="2" charset="0"/>
                  <a:cs typeface="Lato" panose="020F0502020204030203" pitchFamily="34" charset="0"/>
                </a:rPr>
                <a:t>C1B, </a:t>
              </a:r>
              <a:r>
                <a:rPr lang="en-US" sz="1400" dirty="0" err="1">
                  <a:solidFill>
                    <a:schemeClr val="tx1">
                      <a:lumMod val="85000"/>
                      <a:lumOff val="15000"/>
                    </a:schemeClr>
                  </a:solidFill>
                  <a:latin typeface="Dosis" pitchFamily="2" charset="0"/>
                  <a:cs typeface="Lato" panose="020F0502020204030203" pitchFamily="34" charset="0"/>
                </a:rPr>
                <a:t>Đại</a:t>
              </a:r>
              <a:r>
                <a:rPr lang="en-US" sz="1400" dirty="0">
                  <a:solidFill>
                    <a:schemeClr val="tx1">
                      <a:lumMod val="85000"/>
                      <a:lumOff val="15000"/>
                    </a:schemeClr>
                  </a:solidFill>
                  <a:latin typeface="Dosis" pitchFamily="2" charset="0"/>
                  <a:cs typeface="Lato" panose="020F0502020204030203" pitchFamily="34" charset="0"/>
                </a:rPr>
                <a:t> </a:t>
              </a:r>
              <a:r>
                <a:rPr lang="en-US" sz="1400" dirty="0" err="1">
                  <a:solidFill>
                    <a:schemeClr val="tx1">
                      <a:lumMod val="85000"/>
                      <a:lumOff val="15000"/>
                    </a:schemeClr>
                  </a:solidFill>
                  <a:latin typeface="Dosis" pitchFamily="2" charset="0"/>
                  <a:cs typeface="Lato" panose="020F0502020204030203" pitchFamily="34" charset="0"/>
                </a:rPr>
                <a:t>học</a:t>
              </a:r>
              <a:r>
                <a:rPr lang="en-US" sz="1400" dirty="0">
                  <a:solidFill>
                    <a:schemeClr val="tx1">
                      <a:lumMod val="85000"/>
                      <a:lumOff val="15000"/>
                    </a:schemeClr>
                  </a:solidFill>
                  <a:latin typeface="Dosis" pitchFamily="2" charset="0"/>
                  <a:cs typeface="Lato" panose="020F0502020204030203" pitchFamily="34" charset="0"/>
                </a:rPr>
                <a:t> </a:t>
              </a:r>
              <a:r>
                <a:rPr lang="en-US" sz="1400" dirty="0" err="1">
                  <a:solidFill>
                    <a:schemeClr val="tx1">
                      <a:lumMod val="85000"/>
                      <a:lumOff val="15000"/>
                    </a:schemeClr>
                  </a:solidFill>
                  <a:latin typeface="Dosis" pitchFamily="2" charset="0"/>
                  <a:cs typeface="Lato" panose="020F0502020204030203" pitchFamily="34" charset="0"/>
                </a:rPr>
                <a:t>Bách</a:t>
              </a:r>
              <a:r>
                <a:rPr lang="en-US" sz="1400" dirty="0">
                  <a:solidFill>
                    <a:schemeClr val="tx1">
                      <a:lumMod val="85000"/>
                      <a:lumOff val="15000"/>
                    </a:schemeClr>
                  </a:solidFill>
                  <a:latin typeface="Dosis" pitchFamily="2" charset="0"/>
                  <a:cs typeface="Lato" panose="020F0502020204030203" pitchFamily="34" charset="0"/>
                </a:rPr>
                <a:t> Khoa Hà </a:t>
              </a:r>
              <a:r>
                <a:rPr lang="en-US" sz="1400" dirty="0" err="1">
                  <a:solidFill>
                    <a:schemeClr val="tx1">
                      <a:lumMod val="85000"/>
                      <a:lumOff val="15000"/>
                    </a:schemeClr>
                  </a:solidFill>
                  <a:latin typeface="Dosis" pitchFamily="2" charset="0"/>
                  <a:cs typeface="Lato" panose="020F0502020204030203" pitchFamily="34" charset="0"/>
                </a:rPr>
                <a:t>Nội</a:t>
              </a:r>
              <a:r>
                <a:rPr lang="en-US" sz="1400" dirty="0">
                  <a:solidFill>
                    <a:schemeClr val="tx1">
                      <a:lumMod val="85000"/>
                      <a:lumOff val="15000"/>
                    </a:schemeClr>
                  </a:solidFill>
                  <a:latin typeface="Dosis" pitchFamily="2" charset="0"/>
                  <a:cs typeface="Lato" panose="020F0502020204030203" pitchFamily="34" charset="0"/>
                </a:rPr>
                <a:t> – </a:t>
              </a:r>
              <a:r>
                <a:rPr lang="en-US" sz="1400" dirty="0" err="1">
                  <a:solidFill>
                    <a:schemeClr val="tx1">
                      <a:lumMod val="85000"/>
                      <a:lumOff val="15000"/>
                    </a:schemeClr>
                  </a:solidFill>
                  <a:latin typeface="Dosis" pitchFamily="2" charset="0"/>
                  <a:cs typeface="Lato" panose="020F0502020204030203" pitchFamily="34" charset="0"/>
                </a:rPr>
                <a:t>tel</a:t>
              </a:r>
              <a:r>
                <a:rPr lang="en-US" sz="1400" dirty="0">
                  <a:solidFill>
                    <a:schemeClr val="tx1">
                      <a:lumMod val="85000"/>
                      <a:lumOff val="15000"/>
                    </a:schemeClr>
                  </a:solidFill>
                  <a:latin typeface="Dosis" pitchFamily="2" charset="0"/>
                  <a:cs typeface="Lato" panose="020F0502020204030203" pitchFamily="34" charset="0"/>
                </a:rPr>
                <a:t>: 0963441242</a:t>
              </a:r>
            </a:p>
          </p:txBody>
        </p:sp>
      </p:grpSp>
    </p:spTree>
    <p:extLst>
      <p:ext uri="{BB962C8B-B14F-4D97-AF65-F5344CB8AC3E}">
        <p14:creationId xmlns:p14="http://schemas.microsoft.com/office/powerpoint/2010/main" val="37237298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Dosis" pitchFamily="2" charset="0"/>
                <a:ea typeface="Asana" panose="02000603000000000000" pitchFamily="2" charset="0"/>
              </a:defRPr>
            </a:lvl1pPr>
          </a:lstStyle>
          <a:p>
            <a:r>
              <a:rPr lang="en-US"/>
              <a:t>Click to edit Master title style</a:t>
            </a:r>
            <a:endParaRPr lang="en-GB"/>
          </a:p>
        </p:txBody>
      </p:sp>
      <p:sp>
        <p:nvSpPr>
          <p:cNvPr id="3" name="Content Placeholder 2"/>
          <p:cNvSpPr>
            <a:spLocks noGrp="1"/>
          </p:cNvSpPr>
          <p:nvPr>
            <p:ph sz="half" idx="1"/>
          </p:nvPr>
        </p:nvSpPr>
        <p:spPr>
          <a:xfrm>
            <a:off x="681037" y="1825625"/>
            <a:ext cx="4189413" cy="4351338"/>
          </a:xfrm>
        </p:spPr>
        <p:txBody>
          <a:bodyPr/>
          <a:lstStyle>
            <a:lvl1pPr>
              <a:defRPr>
                <a:latin typeface="Dosis" pitchFamily="2" charset="0"/>
                <a:ea typeface="Asana" panose="02000603000000000000" pitchFamily="2" charset="0"/>
              </a:defRPr>
            </a:lvl1pPr>
            <a:lvl2pPr>
              <a:defRPr>
                <a:latin typeface="Dosis" pitchFamily="2" charset="0"/>
                <a:ea typeface="Asana" panose="02000603000000000000" pitchFamily="2" charset="0"/>
              </a:defRPr>
            </a:lvl2pPr>
            <a:lvl3pPr>
              <a:defRPr>
                <a:latin typeface="Dosis" pitchFamily="2" charset="0"/>
                <a:ea typeface="Asana" panose="02000603000000000000" pitchFamily="2" charset="0"/>
              </a:defRPr>
            </a:lvl3pPr>
            <a:lvl4pPr>
              <a:defRPr>
                <a:latin typeface="Dosis" pitchFamily="2" charset="0"/>
                <a:ea typeface="Asana" panose="02000603000000000000" pitchFamily="2" charset="0"/>
              </a:defRPr>
            </a:lvl4pPr>
            <a:lvl5pPr>
              <a:defRPr>
                <a:latin typeface="Dosis" pitchFamily="2" charset="0"/>
                <a:ea typeface="Asana" panose="02000603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035550" y="1825625"/>
            <a:ext cx="4189413" cy="4351338"/>
          </a:xfrm>
        </p:spPr>
        <p:txBody>
          <a:bodyPr/>
          <a:lstStyle>
            <a:lvl1pPr>
              <a:defRPr>
                <a:latin typeface="Dosis" pitchFamily="2" charset="0"/>
                <a:ea typeface="Asana" panose="02000603000000000000" pitchFamily="2" charset="0"/>
              </a:defRPr>
            </a:lvl1pPr>
            <a:lvl2pPr>
              <a:defRPr>
                <a:latin typeface="Dosis" pitchFamily="2" charset="0"/>
                <a:ea typeface="Asana" panose="02000603000000000000" pitchFamily="2" charset="0"/>
              </a:defRPr>
            </a:lvl2pPr>
            <a:lvl3pPr>
              <a:defRPr>
                <a:latin typeface="Dosis" pitchFamily="2" charset="0"/>
                <a:ea typeface="Asana" panose="02000603000000000000" pitchFamily="2" charset="0"/>
              </a:defRPr>
            </a:lvl3pPr>
            <a:lvl4pPr>
              <a:defRPr>
                <a:latin typeface="Dosis" pitchFamily="2" charset="0"/>
                <a:ea typeface="Asana" panose="02000603000000000000" pitchFamily="2" charset="0"/>
              </a:defRPr>
            </a:lvl4pPr>
            <a:lvl5pPr>
              <a:defRPr>
                <a:latin typeface="Dosis" pitchFamily="2" charset="0"/>
                <a:ea typeface="Asana" panose="02000603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lvl1pPr>
              <a:defRPr>
                <a:latin typeface="Dosis" pitchFamily="2" charset="0"/>
                <a:ea typeface="Asana" panose="02000603000000000000" pitchFamily="2" charset="0"/>
              </a:defRPr>
            </a:lvl1pPr>
          </a:lstStyle>
          <a:p>
            <a:fld id="{8486AEFA-A6B3-4308-BB6F-8F14B94AB78D}" type="datetime1">
              <a:rPr lang="en-US" smtClean="0"/>
              <a:t>3/21/2025</a:t>
            </a:fld>
            <a:endParaRPr lang="en-US"/>
          </a:p>
        </p:txBody>
      </p:sp>
      <p:sp>
        <p:nvSpPr>
          <p:cNvPr id="6" name="Footer Placeholder 5"/>
          <p:cNvSpPr>
            <a:spLocks noGrp="1"/>
          </p:cNvSpPr>
          <p:nvPr>
            <p:ph type="ftr" sz="quarter" idx="11"/>
          </p:nvPr>
        </p:nvSpPr>
        <p:spPr/>
        <p:txBody>
          <a:bodyPr/>
          <a:lstStyle>
            <a:lvl1pPr>
              <a:defRPr>
                <a:latin typeface="Dosis" pitchFamily="2" charset="0"/>
                <a:ea typeface="Asana" panose="02000603000000000000" pitchFamily="2" charset="0"/>
              </a:defRPr>
            </a:lvl1pPr>
          </a:lstStyle>
          <a:p>
            <a:r>
              <a:rPr lang="en-US"/>
              <a:t>EVSELab brief introduction</a:t>
            </a:r>
          </a:p>
        </p:txBody>
      </p:sp>
      <p:sp>
        <p:nvSpPr>
          <p:cNvPr id="7" name="Slide Number Placeholder 6"/>
          <p:cNvSpPr>
            <a:spLocks noGrp="1"/>
          </p:cNvSpPr>
          <p:nvPr>
            <p:ph type="sldNum" sz="quarter" idx="12"/>
          </p:nvPr>
        </p:nvSpPr>
        <p:spPr/>
        <p:txBody>
          <a:bodyPr/>
          <a:lstStyle>
            <a:lvl1pPr>
              <a:defRPr>
                <a:latin typeface="Dosis" pitchFamily="2" charset="0"/>
                <a:ea typeface="Asana" panose="02000603000000000000" pitchFamily="2" charset="0"/>
              </a:defRPr>
            </a:lvl1pPr>
          </a:lstStyle>
          <a:p>
            <a:fld id="{6FC7B32C-BCDB-467B-AAD1-D0D29C12FD8E}" type="slidenum">
              <a:rPr lang="en-US" smtClean="0"/>
              <a:pPr/>
              <a:t>‹#›</a:t>
            </a:fld>
            <a:endParaRPr lang="en-US"/>
          </a:p>
        </p:txBody>
      </p:sp>
    </p:spTree>
    <p:extLst>
      <p:ext uri="{BB962C8B-B14F-4D97-AF65-F5344CB8AC3E}">
        <p14:creationId xmlns:p14="http://schemas.microsoft.com/office/powerpoint/2010/main" val="2962300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758" y="365128"/>
            <a:ext cx="8543925"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82759" y="1681163"/>
            <a:ext cx="419113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759" y="2505075"/>
            <a:ext cx="419113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5014913" y="1681163"/>
            <a:ext cx="421177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77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0000D2C7-3A3E-4B56-A242-025A9BBF22A6}" type="datetime1">
              <a:rPr lang="en-US" smtClean="0"/>
              <a:t>3/21/2025</a:t>
            </a:fld>
            <a:endParaRPr lang="en-US"/>
          </a:p>
        </p:txBody>
      </p:sp>
      <p:sp>
        <p:nvSpPr>
          <p:cNvPr id="8" name="Footer Placeholder 7"/>
          <p:cNvSpPr>
            <a:spLocks noGrp="1"/>
          </p:cNvSpPr>
          <p:nvPr>
            <p:ph type="ftr" sz="quarter" idx="11"/>
          </p:nvPr>
        </p:nvSpPr>
        <p:spPr/>
        <p:txBody>
          <a:bodyPr/>
          <a:lstStyle/>
          <a:p>
            <a:r>
              <a:rPr lang="en-US"/>
              <a:t>EVSELab brief introduction</a:t>
            </a:r>
          </a:p>
        </p:txBody>
      </p:sp>
      <p:sp>
        <p:nvSpPr>
          <p:cNvPr id="9" name="Slide Number Placeholder 8"/>
          <p:cNvSpPr>
            <a:spLocks noGrp="1"/>
          </p:cNvSpPr>
          <p:nvPr>
            <p:ph type="sldNum" sz="quarter" idx="12"/>
          </p:nvPr>
        </p:nvSpPr>
        <p:spPr/>
        <p:txBody>
          <a:bodyPr/>
          <a:lstStyle/>
          <a:p>
            <a:fld id="{6FC7B32C-BCDB-467B-AAD1-D0D29C12FD8E}" type="slidenum">
              <a:rPr lang="en-US" smtClean="0"/>
              <a:t>‹#›</a:t>
            </a:fld>
            <a:endParaRPr lang="en-US"/>
          </a:p>
        </p:txBody>
      </p:sp>
    </p:spTree>
    <p:extLst>
      <p:ext uri="{BB962C8B-B14F-4D97-AF65-F5344CB8AC3E}">
        <p14:creationId xmlns:p14="http://schemas.microsoft.com/office/powerpoint/2010/main" val="414121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6894AC71-9848-405B-9B91-B93C22A55D1B}" type="datetime1">
              <a:rPr lang="en-US" smtClean="0"/>
              <a:t>3/21/2025</a:t>
            </a:fld>
            <a:endParaRPr lang="en-US"/>
          </a:p>
        </p:txBody>
      </p:sp>
      <p:sp>
        <p:nvSpPr>
          <p:cNvPr id="4" name="Footer Placeholder 3"/>
          <p:cNvSpPr>
            <a:spLocks noGrp="1"/>
          </p:cNvSpPr>
          <p:nvPr>
            <p:ph type="ftr" sz="quarter" idx="11"/>
          </p:nvPr>
        </p:nvSpPr>
        <p:spPr/>
        <p:txBody>
          <a:bodyPr/>
          <a:lstStyle/>
          <a:p>
            <a:r>
              <a:rPr lang="en-US"/>
              <a:t>EVSELab brief introduction</a:t>
            </a:r>
          </a:p>
        </p:txBody>
      </p:sp>
      <p:sp>
        <p:nvSpPr>
          <p:cNvPr id="5" name="Slide Number Placeholder 4"/>
          <p:cNvSpPr>
            <a:spLocks noGrp="1"/>
          </p:cNvSpPr>
          <p:nvPr>
            <p:ph type="sldNum" sz="quarter" idx="12"/>
          </p:nvPr>
        </p:nvSpPr>
        <p:spPr/>
        <p:txBody>
          <a:bodyPr/>
          <a:lstStyle/>
          <a:p>
            <a:fld id="{6FC7B32C-BCDB-467B-AAD1-D0D29C12FD8E}" type="slidenum">
              <a:rPr lang="en-US" smtClean="0"/>
              <a:t>‹#›</a:t>
            </a:fld>
            <a:endParaRPr lang="en-US"/>
          </a:p>
        </p:txBody>
      </p:sp>
    </p:spTree>
    <p:extLst>
      <p:ext uri="{BB962C8B-B14F-4D97-AF65-F5344CB8AC3E}">
        <p14:creationId xmlns:p14="http://schemas.microsoft.com/office/powerpoint/2010/main" val="1084241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418E4F-76C1-4D35-A79B-A1015E85895A}" type="datetime1">
              <a:rPr lang="en-US" smtClean="0"/>
              <a:t>3/21/2025</a:t>
            </a:fld>
            <a:endParaRPr lang="en-US"/>
          </a:p>
        </p:txBody>
      </p:sp>
      <p:sp>
        <p:nvSpPr>
          <p:cNvPr id="3" name="Footer Placeholder 2"/>
          <p:cNvSpPr>
            <a:spLocks noGrp="1"/>
          </p:cNvSpPr>
          <p:nvPr>
            <p:ph type="ftr" sz="quarter" idx="11"/>
          </p:nvPr>
        </p:nvSpPr>
        <p:spPr/>
        <p:txBody>
          <a:bodyPr/>
          <a:lstStyle/>
          <a:p>
            <a:r>
              <a:rPr lang="en-US"/>
              <a:t>EVSELab brief introduction</a:t>
            </a:r>
          </a:p>
        </p:txBody>
      </p:sp>
      <p:sp>
        <p:nvSpPr>
          <p:cNvPr id="4" name="Slide Number Placeholder 3"/>
          <p:cNvSpPr>
            <a:spLocks noGrp="1"/>
          </p:cNvSpPr>
          <p:nvPr>
            <p:ph type="sldNum" sz="quarter" idx="12"/>
          </p:nvPr>
        </p:nvSpPr>
        <p:spPr/>
        <p:txBody>
          <a:bodyPr/>
          <a:lstStyle/>
          <a:p>
            <a:fld id="{6FC7B32C-BCDB-467B-AAD1-D0D29C12FD8E}" type="slidenum">
              <a:rPr lang="en-US" smtClean="0"/>
              <a:t>‹#›</a:t>
            </a:fld>
            <a:endParaRPr lang="en-US"/>
          </a:p>
        </p:txBody>
      </p:sp>
    </p:spTree>
    <p:extLst>
      <p:ext uri="{BB962C8B-B14F-4D97-AF65-F5344CB8AC3E}">
        <p14:creationId xmlns:p14="http://schemas.microsoft.com/office/powerpoint/2010/main" val="3830480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759" y="457200"/>
            <a:ext cx="3195373"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4211770" y="987428"/>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82759" y="2057400"/>
            <a:ext cx="319537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9EAA2D-9D1F-4CB2-9106-8A6C2678C1D1}" type="datetime1">
              <a:rPr lang="en-US" smtClean="0"/>
              <a:t>3/21/2025</a:t>
            </a:fld>
            <a:endParaRPr lang="en-US"/>
          </a:p>
        </p:txBody>
      </p:sp>
      <p:sp>
        <p:nvSpPr>
          <p:cNvPr id="6" name="Footer Placeholder 5"/>
          <p:cNvSpPr>
            <a:spLocks noGrp="1"/>
          </p:cNvSpPr>
          <p:nvPr>
            <p:ph type="ftr" sz="quarter" idx="11"/>
          </p:nvPr>
        </p:nvSpPr>
        <p:spPr/>
        <p:txBody>
          <a:bodyPr/>
          <a:lstStyle/>
          <a:p>
            <a:r>
              <a:rPr lang="en-US"/>
              <a:t>EVSELab brief introduction</a:t>
            </a:r>
          </a:p>
        </p:txBody>
      </p:sp>
      <p:sp>
        <p:nvSpPr>
          <p:cNvPr id="7" name="Slide Number Placeholder 6"/>
          <p:cNvSpPr>
            <a:spLocks noGrp="1"/>
          </p:cNvSpPr>
          <p:nvPr>
            <p:ph type="sldNum" sz="quarter" idx="12"/>
          </p:nvPr>
        </p:nvSpPr>
        <p:spPr/>
        <p:txBody>
          <a:bodyPr/>
          <a:lstStyle/>
          <a:p>
            <a:fld id="{6FC7B32C-BCDB-467B-AAD1-D0D29C12FD8E}" type="slidenum">
              <a:rPr lang="en-US" smtClean="0"/>
              <a:t>‹#›</a:t>
            </a:fld>
            <a:endParaRPr lang="en-US"/>
          </a:p>
        </p:txBody>
      </p:sp>
    </p:spTree>
    <p:extLst>
      <p:ext uri="{BB962C8B-B14F-4D97-AF65-F5344CB8AC3E}">
        <p14:creationId xmlns:p14="http://schemas.microsoft.com/office/powerpoint/2010/main" val="1945084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759" y="457200"/>
            <a:ext cx="3195373"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4211770" y="987428"/>
            <a:ext cx="501491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p:cNvSpPr>
            <a:spLocks noGrp="1"/>
          </p:cNvSpPr>
          <p:nvPr>
            <p:ph type="body" sz="half" idx="2"/>
          </p:nvPr>
        </p:nvSpPr>
        <p:spPr>
          <a:xfrm>
            <a:off x="682759" y="2057400"/>
            <a:ext cx="319537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BB6C926-791A-477A-B2A2-9226E1CB11C1}" type="datetime1">
              <a:rPr lang="en-US" smtClean="0"/>
              <a:t>3/21/2025</a:t>
            </a:fld>
            <a:endParaRPr lang="en-US"/>
          </a:p>
        </p:txBody>
      </p:sp>
      <p:sp>
        <p:nvSpPr>
          <p:cNvPr id="6" name="Footer Placeholder 5"/>
          <p:cNvSpPr>
            <a:spLocks noGrp="1"/>
          </p:cNvSpPr>
          <p:nvPr>
            <p:ph type="ftr" sz="quarter" idx="11"/>
          </p:nvPr>
        </p:nvSpPr>
        <p:spPr/>
        <p:txBody>
          <a:bodyPr/>
          <a:lstStyle/>
          <a:p>
            <a:r>
              <a:rPr lang="en-US"/>
              <a:t>EVSELab brief introduction</a:t>
            </a:r>
          </a:p>
        </p:txBody>
      </p:sp>
      <p:sp>
        <p:nvSpPr>
          <p:cNvPr id="7" name="Slide Number Placeholder 6"/>
          <p:cNvSpPr>
            <a:spLocks noGrp="1"/>
          </p:cNvSpPr>
          <p:nvPr>
            <p:ph type="sldNum" sz="quarter" idx="12"/>
          </p:nvPr>
        </p:nvSpPr>
        <p:spPr/>
        <p:txBody>
          <a:bodyPr/>
          <a:lstStyle/>
          <a:p>
            <a:fld id="{6FC7B32C-BCDB-467B-AAD1-D0D29C12FD8E}" type="slidenum">
              <a:rPr lang="en-US" smtClean="0"/>
              <a:t>‹#›</a:t>
            </a:fld>
            <a:endParaRPr lang="en-US"/>
          </a:p>
        </p:txBody>
      </p:sp>
    </p:spTree>
    <p:extLst>
      <p:ext uri="{BB962C8B-B14F-4D97-AF65-F5344CB8AC3E}">
        <p14:creationId xmlns:p14="http://schemas.microsoft.com/office/powerpoint/2010/main" val="3197047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A8DEDCC-E10C-4C4B-B8FB-8C75F28E78C3}" type="datetime1">
              <a:rPr lang="en-US" smtClean="0"/>
              <a:t>3/21/2025</a:t>
            </a:fld>
            <a:endParaRPr lang="en-US"/>
          </a:p>
        </p:txBody>
      </p:sp>
      <p:sp>
        <p:nvSpPr>
          <p:cNvPr id="5" name="Footer Placeholder 4"/>
          <p:cNvSpPr>
            <a:spLocks noGrp="1"/>
          </p:cNvSpPr>
          <p:nvPr>
            <p:ph type="ftr" sz="quarter" idx="11"/>
          </p:nvPr>
        </p:nvSpPr>
        <p:spPr/>
        <p:txBody>
          <a:bodyPr/>
          <a:lstStyle/>
          <a:p>
            <a:r>
              <a:rPr lang="en-US"/>
              <a:t>EVSELab brief introduction</a:t>
            </a:r>
          </a:p>
        </p:txBody>
      </p:sp>
      <p:sp>
        <p:nvSpPr>
          <p:cNvPr id="6" name="Slide Number Placeholder 5"/>
          <p:cNvSpPr>
            <a:spLocks noGrp="1"/>
          </p:cNvSpPr>
          <p:nvPr>
            <p:ph type="sldNum" sz="quarter" idx="12"/>
          </p:nvPr>
        </p:nvSpPr>
        <p:spPr/>
        <p:txBody>
          <a:bodyPr/>
          <a:lstStyle/>
          <a:p>
            <a:fld id="{6FC7B32C-BCDB-467B-AAD1-D0D29C12FD8E}" type="slidenum">
              <a:rPr lang="en-US" smtClean="0"/>
              <a:t>‹#›</a:t>
            </a:fld>
            <a:endParaRPr lang="en-US"/>
          </a:p>
        </p:txBody>
      </p:sp>
    </p:spTree>
    <p:extLst>
      <p:ext uri="{BB962C8B-B14F-4D97-AF65-F5344CB8AC3E}">
        <p14:creationId xmlns:p14="http://schemas.microsoft.com/office/powerpoint/2010/main" val="2600384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3" y="365125"/>
            <a:ext cx="2135981"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1039" y="365125"/>
            <a:ext cx="6242844"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97940C4-A1F9-4C45-8027-9FEC331E6005}" type="datetime1">
              <a:rPr lang="en-US" smtClean="0"/>
              <a:t>3/21/2025</a:t>
            </a:fld>
            <a:endParaRPr lang="en-US"/>
          </a:p>
        </p:txBody>
      </p:sp>
      <p:sp>
        <p:nvSpPr>
          <p:cNvPr id="5" name="Footer Placeholder 4"/>
          <p:cNvSpPr>
            <a:spLocks noGrp="1"/>
          </p:cNvSpPr>
          <p:nvPr>
            <p:ph type="ftr" sz="quarter" idx="11"/>
          </p:nvPr>
        </p:nvSpPr>
        <p:spPr/>
        <p:txBody>
          <a:bodyPr/>
          <a:lstStyle/>
          <a:p>
            <a:r>
              <a:rPr lang="en-US"/>
              <a:t>EVSELab brief introduction</a:t>
            </a:r>
          </a:p>
        </p:txBody>
      </p:sp>
      <p:sp>
        <p:nvSpPr>
          <p:cNvPr id="6" name="Slide Number Placeholder 5"/>
          <p:cNvSpPr>
            <a:spLocks noGrp="1"/>
          </p:cNvSpPr>
          <p:nvPr>
            <p:ph type="sldNum" sz="quarter" idx="12"/>
          </p:nvPr>
        </p:nvSpPr>
        <p:spPr/>
        <p:txBody>
          <a:bodyPr/>
          <a:lstStyle/>
          <a:p>
            <a:fld id="{6FC7B32C-BCDB-467B-AAD1-D0D29C12FD8E}" type="slidenum">
              <a:rPr lang="en-US" smtClean="0"/>
              <a:t>‹#›</a:t>
            </a:fld>
            <a:endParaRPr lang="en-US"/>
          </a:p>
        </p:txBody>
      </p:sp>
    </p:spTree>
    <p:extLst>
      <p:ext uri="{BB962C8B-B14F-4D97-AF65-F5344CB8AC3E}">
        <p14:creationId xmlns:p14="http://schemas.microsoft.com/office/powerpoint/2010/main" val="1090043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8"/>
            <a:ext cx="8543925"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81038" y="6356353"/>
            <a:ext cx="2228850" cy="365125"/>
          </a:xfrm>
          <a:prstGeom prst="rect">
            <a:avLst/>
          </a:prstGeom>
        </p:spPr>
        <p:txBody>
          <a:bodyPr vert="horz" lIns="91440" tIns="45720" rIns="91440" bIns="45720" rtlCol="0" anchor="ctr"/>
          <a:lstStyle>
            <a:lvl1pPr algn="l">
              <a:defRPr sz="1200">
                <a:solidFill>
                  <a:schemeClr val="tx1">
                    <a:tint val="75000"/>
                  </a:schemeClr>
                </a:solidFill>
                <a:latin typeface="Asana" panose="02000603000000000000"/>
              </a:defRPr>
            </a:lvl1pPr>
          </a:lstStyle>
          <a:p>
            <a:fld id="{6B1036F8-06E0-4557-8645-2D4F4EB94467}" type="datetime1">
              <a:rPr lang="en-US" smtClean="0"/>
              <a:t>3/21/2025</a:t>
            </a:fld>
            <a:endParaRPr lang="en-US"/>
          </a:p>
        </p:txBody>
      </p:sp>
      <p:sp>
        <p:nvSpPr>
          <p:cNvPr id="5" name="Footer Placeholder 4"/>
          <p:cNvSpPr>
            <a:spLocks noGrp="1"/>
          </p:cNvSpPr>
          <p:nvPr>
            <p:ph type="ftr" sz="quarter" idx="3"/>
          </p:nvPr>
        </p:nvSpPr>
        <p:spPr>
          <a:xfrm>
            <a:off x="3281363" y="6356353"/>
            <a:ext cx="3343275" cy="365125"/>
          </a:xfrm>
          <a:prstGeom prst="rect">
            <a:avLst/>
          </a:prstGeom>
        </p:spPr>
        <p:txBody>
          <a:bodyPr vert="horz" lIns="91440" tIns="45720" rIns="91440" bIns="45720" rtlCol="0" anchor="ctr"/>
          <a:lstStyle>
            <a:lvl1pPr algn="ctr">
              <a:defRPr sz="1200">
                <a:solidFill>
                  <a:schemeClr val="tx1">
                    <a:tint val="75000"/>
                  </a:schemeClr>
                </a:solidFill>
                <a:latin typeface="Asana" panose="02000603000000000000"/>
              </a:defRPr>
            </a:lvl1pPr>
          </a:lstStyle>
          <a:p>
            <a:r>
              <a:rPr lang="en-US"/>
              <a:t>EVSELab brief introduction</a:t>
            </a:r>
          </a:p>
        </p:txBody>
      </p:sp>
      <p:sp>
        <p:nvSpPr>
          <p:cNvPr id="6" name="Slide Number Placeholder 5"/>
          <p:cNvSpPr>
            <a:spLocks noGrp="1"/>
          </p:cNvSpPr>
          <p:nvPr>
            <p:ph type="sldNum" sz="quarter" idx="4"/>
          </p:nvPr>
        </p:nvSpPr>
        <p:spPr>
          <a:xfrm>
            <a:off x="6996113" y="6356353"/>
            <a:ext cx="2228850" cy="365125"/>
          </a:xfrm>
          <a:prstGeom prst="rect">
            <a:avLst/>
          </a:prstGeom>
        </p:spPr>
        <p:txBody>
          <a:bodyPr vert="horz" lIns="91440" tIns="45720" rIns="91440" bIns="45720" rtlCol="0" anchor="ctr"/>
          <a:lstStyle>
            <a:lvl1pPr algn="r">
              <a:defRPr sz="1200">
                <a:solidFill>
                  <a:schemeClr val="tx1">
                    <a:tint val="75000"/>
                  </a:schemeClr>
                </a:solidFill>
                <a:latin typeface="Asana" panose="02000603000000000000"/>
              </a:defRPr>
            </a:lvl1pPr>
          </a:lstStyle>
          <a:p>
            <a:fld id="{6FC7B32C-BCDB-467B-AAD1-D0D29C12FD8E}" type="slidenum">
              <a:rPr lang="en-US" smtClean="0"/>
              <a:t>‹#›</a:t>
            </a:fld>
            <a:endParaRPr lang="en-US"/>
          </a:p>
        </p:txBody>
      </p:sp>
    </p:spTree>
    <p:extLst>
      <p:ext uri="{BB962C8B-B14F-4D97-AF65-F5344CB8AC3E}">
        <p14:creationId xmlns:p14="http://schemas.microsoft.com/office/powerpoint/2010/main" val="20047989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defTabSz="914400" rtl="0" eaLnBrk="1" latinLnBrk="0" hangingPunct="1">
        <a:lnSpc>
          <a:spcPct val="90000"/>
        </a:lnSpc>
        <a:spcBef>
          <a:spcPct val="0"/>
        </a:spcBef>
        <a:buNone/>
        <a:defRPr sz="4400" kern="1200">
          <a:solidFill>
            <a:schemeClr val="tx1"/>
          </a:solidFill>
          <a:latin typeface="Asana" panose="0200060300000000000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ana" panose="0200060300000000000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ana" panose="0200060300000000000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ana" panose="0200060300000000000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ana" panose="0200060300000000000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ana" panose="0200060300000000000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12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5.png"/><Relationship Id="rId10" Type="http://schemas.openxmlformats.org/officeDocument/2006/relationships/image" Target="../media/image14.png"/><Relationship Id="rId4" Type="http://schemas.openxmlformats.org/officeDocument/2006/relationships/image" Target="../media/image4.png"/><Relationship Id="rId9" Type="http://schemas.openxmlformats.org/officeDocument/2006/relationships/image" Target="../media/image13.png"/><Relationship Id="rId1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20.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40.png"/><Relationship Id="rId5" Type="http://schemas.openxmlformats.org/officeDocument/2006/relationships/image" Target="../media/image27.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9.png"/><Relationship Id="rId7" Type="http://schemas.openxmlformats.org/officeDocument/2006/relationships/image" Target="../media/image30.png"/><Relationship Id="rId12"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4.png"/><Relationship Id="rId10" Type="http://schemas.openxmlformats.org/officeDocument/2006/relationships/image" Target="../media/image32.png"/><Relationship Id="rId4" Type="http://schemas.openxmlformats.org/officeDocument/2006/relationships/image" Target="../media/image28.png"/><Relationship Id="rId9" Type="http://schemas.openxmlformats.org/officeDocument/2006/relationships/image" Target="../media/image15.png"/></Relationships>
</file>

<file path=ppt/slides/_rels/slide11.xml.rels><?xml version="1.0" encoding="UTF-8" standalone="yes"?>
<Relationships xmlns="http://schemas.openxmlformats.org/package/2006/relationships"><Relationship Id="rId7"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20.png"/></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140.png"/><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54FAB818-6B30-A7C5-7D4E-1D98E2B32425}"/>
              </a:ext>
            </a:extLst>
          </p:cNvPr>
          <p:cNvSpPr>
            <a:spLocks noGrp="1"/>
          </p:cNvSpPr>
          <p:nvPr>
            <p:ph type="ctrTitle"/>
          </p:nvPr>
        </p:nvSpPr>
        <p:spPr>
          <a:xfrm>
            <a:off x="856081" y="1775281"/>
            <a:ext cx="8205541" cy="3122034"/>
          </a:xfrm>
        </p:spPr>
        <p:txBody>
          <a:bodyPr>
            <a:normAutofit/>
          </a:bodyPr>
          <a:lstStyle/>
          <a:p>
            <a:r>
              <a:rPr lang="en-US" sz="4500">
                <a:solidFill>
                  <a:srgbClr val="262626"/>
                </a:solidFill>
              </a:rPr>
              <a:t>BÀI BÁO CÁO :</a:t>
            </a:r>
            <a:br>
              <a:rPr lang="en-US" sz="4500">
                <a:solidFill>
                  <a:srgbClr val="262626"/>
                </a:solidFill>
              </a:rPr>
            </a:br>
            <a:r>
              <a:rPr lang="en-US" sz="4500">
                <a:solidFill>
                  <a:srgbClr val="262626"/>
                </a:solidFill>
              </a:rPr>
              <a:t>Phương pháp sạc ổn dòng ,ổn áp cho Pin </a:t>
            </a:r>
            <a:endParaRPr lang="en-US" sz="4200">
              <a:solidFill>
                <a:srgbClr val="262626"/>
              </a:solidFill>
            </a:endParaRPr>
          </a:p>
        </p:txBody>
      </p:sp>
      <p:sp>
        <p:nvSpPr>
          <p:cNvPr id="18" name="Subtitle 2">
            <a:extLst>
              <a:ext uri="{FF2B5EF4-FFF2-40B4-BE49-F238E27FC236}">
                <a16:creationId xmlns:a16="http://schemas.microsoft.com/office/drawing/2014/main" id="{265D6D1F-DA43-4175-DF4B-854E11B5EC0E}"/>
              </a:ext>
            </a:extLst>
          </p:cNvPr>
          <p:cNvSpPr>
            <a:spLocks noGrp="1"/>
          </p:cNvSpPr>
          <p:nvPr>
            <p:ph type="subTitle" idx="1"/>
          </p:nvPr>
        </p:nvSpPr>
        <p:spPr>
          <a:xfrm>
            <a:off x="627036" y="4897315"/>
            <a:ext cx="3100165" cy="1337406"/>
          </a:xfrm>
        </p:spPr>
        <p:txBody>
          <a:bodyPr>
            <a:normAutofit fontScale="85000" lnSpcReduction="10000"/>
          </a:bodyPr>
          <a:lstStyle/>
          <a:p>
            <a:pPr algn="l">
              <a:spcBef>
                <a:spcPts val="300"/>
              </a:spcBef>
            </a:pPr>
            <a:r>
              <a:rPr lang="en-US" sz="2900">
                <a:solidFill>
                  <a:srgbClr val="262626"/>
                </a:solidFill>
                <a:latin typeface="Dosis ExtraBold"/>
                <a:cs typeface="Lato"/>
              </a:rPr>
              <a:t>Hua Huy Hoang </a:t>
            </a:r>
          </a:p>
          <a:p>
            <a:pPr algn="l">
              <a:spcBef>
                <a:spcPts val="300"/>
              </a:spcBef>
            </a:pPr>
            <a:r>
              <a:rPr lang="en-US" sz="1800" err="1">
                <a:solidFill>
                  <a:srgbClr val="262626"/>
                </a:solidFill>
                <a:latin typeface="Dosis"/>
                <a:cs typeface="Lato"/>
              </a:rPr>
              <a:t>EVSELab</a:t>
            </a:r>
            <a:r>
              <a:rPr lang="en-US" sz="1800">
                <a:solidFill>
                  <a:srgbClr val="262626"/>
                </a:solidFill>
                <a:latin typeface="Dosis"/>
                <a:cs typeface="Lato"/>
              </a:rPr>
              <a:t> Co., Ltd., </a:t>
            </a:r>
            <a:endParaRPr lang="en-US" sz="1800">
              <a:solidFill>
                <a:srgbClr val="262626"/>
              </a:solidFill>
            </a:endParaRPr>
          </a:p>
          <a:p>
            <a:pPr algn="l">
              <a:spcBef>
                <a:spcPts val="300"/>
              </a:spcBef>
            </a:pPr>
            <a:r>
              <a:rPr lang="en-US" sz="1800">
                <a:solidFill>
                  <a:srgbClr val="262626"/>
                </a:solidFill>
                <a:latin typeface="Dosis"/>
                <a:cs typeface="Lato"/>
              </a:rPr>
              <a:t>410-C1B bldg., No. 01, Dai Co Viet Street, </a:t>
            </a:r>
            <a:endParaRPr lang="en-US" sz="1800">
              <a:solidFill>
                <a:srgbClr val="262626"/>
              </a:solidFill>
            </a:endParaRPr>
          </a:p>
          <a:p>
            <a:pPr algn="l">
              <a:spcBef>
                <a:spcPts val="300"/>
              </a:spcBef>
            </a:pPr>
            <a:r>
              <a:rPr lang="en-US" sz="1800">
                <a:solidFill>
                  <a:srgbClr val="262626"/>
                </a:solidFill>
                <a:latin typeface="Dosis"/>
                <a:cs typeface="Lato"/>
              </a:rPr>
              <a:t>Hai Ba Trung, Hanoi, Vietnam 100000</a:t>
            </a:r>
          </a:p>
          <a:p>
            <a:pPr algn="l">
              <a:spcBef>
                <a:spcPts val="300"/>
              </a:spcBef>
            </a:pPr>
            <a:r>
              <a:rPr lang="en-US" sz="1800">
                <a:solidFill>
                  <a:srgbClr val="262626"/>
                </a:solidFill>
                <a:latin typeface="Dosis"/>
                <a:cs typeface="Lato"/>
              </a:rPr>
              <a:t>Email: huahoang220504@gmail.com</a:t>
            </a:r>
            <a:endParaRPr lang="en-US" sz="1800" u="sng">
              <a:solidFill>
                <a:srgbClr val="262626"/>
              </a:solidFill>
            </a:endParaRPr>
          </a:p>
        </p:txBody>
      </p:sp>
      <p:sp>
        <p:nvSpPr>
          <p:cNvPr id="2" name="Title 15">
            <a:extLst>
              <a:ext uri="{FF2B5EF4-FFF2-40B4-BE49-F238E27FC236}">
                <a16:creationId xmlns:a16="http://schemas.microsoft.com/office/drawing/2014/main" id="{A2FBC851-2E5D-7DB8-43F1-114212A9F939}"/>
              </a:ext>
            </a:extLst>
          </p:cNvPr>
          <p:cNvSpPr txBox="1">
            <a:spLocks/>
          </p:cNvSpPr>
          <p:nvPr/>
        </p:nvSpPr>
        <p:spPr>
          <a:xfrm>
            <a:off x="3065733" y="4251248"/>
            <a:ext cx="3774534" cy="104676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b="0" kern="1200">
                <a:solidFill>
                  <a:schemeClr val="tx1">
                    <a:lumMod val="85000"/>
                    <a:lumOff val="15000"/>
                  </a:schemeClr>
                </a:solidFill>
                <a:latin typeface="Dosis ExtraBold" pitchFamily="2" charset="0"/>
                <a:ea typeface="+mj-ea"/>
                <a:cs typeface="Lato Black" panose="020F0A02020204030203" pitchFamily="34" charset="0"/>
              </a:defRPr>
            </a:lvl1pPr>
          </a:lstStyle>
          <a:p>
            <a:r>
              <a:rPr lang="en-US" sz="3500">
                <a:solidFill>
                  <a:srgbClr val="262626"/>
                </a:solidFill>
              </a:rPr>
              <a:t>01/03/2025</a:t>
            </a:r>
          </a:p>
        </p:txBody>
      </p:sp>
    </p:spTree>
    <p:extLst>
      <p:ext uri="{BB962C8B-B14F-4D97-AF65-F5344CB8AC3E}">
        <p14:creationId xmlns:p14="http://schemas.microsoft.com/office/powerpoint/2010/main" val="3211947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15AB1-0153-9053-88F6-8348999A6E5D}"/>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0B9A75F4-36A2-9241-DD9F-F920DEEEE064}"/>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2</a:t>
            </a:fld>
            <a:r>
              <a:rPr lang="en-US"/>
              <a:t> 	</a:t>
            </a:r>
          </a:p>
        </p:txBody>
      </p:sp>
      <p:sp>
        <p:nvSpPr>
          <p:cNvPr id="20" name="Date Placeholder 3">
            <a:extLst>
              <a:ext uri="{FF2B5EF4-FFF2-40B4-BE49-F238E27FC236}">
                <a16:creationId xmlns:a16="http://schemas.microsoft.com/office/drawing/2014/main" id="{C0279912-E027-0298-919A-52F556625443}"/>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3/21/2025</a:t>
            </a:fld>
            <a:endParaRPr lang="en-US"/>
          </a:p>
        </p:txBody>
      </p:sp>
      <p:sp>
        <p:nvSpPr>
          <p:cNvPr id="21" name="Footer Placeholder 5">
            <a:extLst>
              <a:ext uri="{FF2B5EF4-FFF2-40B4-BE49-F238E27FC236}">
                <a16:creationId xmlns:a16="http://schemas.microsoft.com/office/drawing/2014/main" id="{CB09E010-F171-CD5D-8A77-FB818AEDDC0D}"/>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5" name="Title 4">
            <a:extLst>
              <a:ext uri="{FF2B5EF4-FFF2-40B4-BE49-F238E27FC236}">
                <a16:creationId xmlns:a16="http://schemas.microsoft.com/office/drawing/2014/main" id="{5CBC5009-B4DA-B2D3-1DA2-11D0025EF9E1}"/>
              </a:ext>
            </a:extLst>
          </p:cNvPr>
          <p:cNvSpPr>
            <a:spLocks noGrp="1"/>
          </p:cNvSpPr>
          <p:nvPr>
            <p:ph type="title"/>
          </p:nvPr>
        </p:nvSpPr>
        <p:spPr/>
        <p:txBody>
          <a:bodyPr/>
          <a:lstStyle/>
          <a:p>
            <a:r>
              <a:rPr lang="en-US"/>
              <a:t>Outline</a:t>
            </a:r>
          </a:p>
        </p:txBody>
      </p:sp>
      <p:sp>
        <p:nvSpPr>
          <p:cNvPr id="2" name="TextBox 1">
            <a:extLst>
              <a:ext uri="{FF2B5EF4-FFF2-40B4-BE49-F238E27FC236}">
                <a16:creationId xmlns:a16="http://schemas.microsoft.com/office/drawing/2014/main" id="{912A53BA-4116-B770-0DF7-F78A70857F91}"/>
              </a:ext>
            </a:extLst>
          </p:cNvPr>
          <p:cNvSpPr txBox="1"/>
          <p:nvPr/>
        </p:nvSpPr>
        <p:spPr>
          <a:xfrm>
            <a:off x="263804" y="987188"/>
            <a:ext cx="9372995" cy="3048142"/>
          </a:xfrm>
          <a:prstGeom prst="rect">
            <a:avLst/>
          </a:prstGeom>
          <a:noFill/>
        </p:spPr>
        <p:txBody>
          <a:bodyPr wrap="square">
            <a:spAutoFit/>
          </a:bodyPr>
          <a:lstStyle/>
          <a:p>
            <a:pPr marL="457200" indent="-457200">
              <a:lnSpc>
                <a:spcPct val="150000"/>
              </a:lnSpc>
              <a:buFont typeface="Wingdings" panose="05000000000000000000" pitchFamily="2" charset="2"/>
              <a:buChar char="q"/>
            </a:pPr>
            <a:r>
              <a:rPr lang="en-US" sz="3600"/>
              <a:t>Motivation </a:t>
            </a:r>
          </a:p>
          <a:p>
            <a:pPr marL="457200" indent="-457200">
              <a:lnSpc>
                <a:spcPct val="150000"/>
              </a:lnSpc>
              <a:buFont typeface="Wingdings" panose="05000000000000000000" pitchFamily="2" charset="2"/>
              <a:buChar char="q"/>
            </a:pPr>
            <a:r>
              <a:rPr lang="en-US" sz="3600" b="0" i="0">
                <a:solidFill>
                  <a:srgbClr val="262626"/>
                </a:solidFill>
                <a:effectLst/>
                <a:latin typeface="Inter"/>
              </a:rPr>
              <a:t>Tìm hiểu về phương pháp sạc  </a:t>
            </a:r>
            <a:endParaRPr lang="en-US" sz="3600">
              <a:solidFill>
                <a:srgbClr val="262626"/>
              </a:solidFill>
              <a:latin typeface="Inter"/>
            </a:endParaRPr>
          </a:p>
          <a:p>
            <a:pPr marL="914400" lvl="1" indent="-457200">
              <a:lnSpc>
                <a:spcPct val="150000"/>
              </a:lnSpc>
              <a:buFont typeface="Wingdings" panose="05000000000000000000" pitchFamily="2" charset="2"/>
              <a:buChar char="v"/>
            </a:pPr>
            <a:r>
              <a:rPr lang="en-US" sz="3000">
                <a:solidFill>
                  <a:srgbClr val="262626"/>
                </a:solidFill>
              </a:rPr>
              <a:t>CC</a:t>
            </a:r>
          </a:p>
          <a:p>
            <a:pPr marL="914400" lvl="1" indent="-457200">
              <a:lnSpc>
                <a:spcPct val="150000"/>
              </a:lnSpc>
              <a:buFont typeface="Wingdings" panose="05000000000000000000" pitchFamily="2" charset="2"/>
              <a:buChar char="v"/>
            </a:pPr>
            <a:r>
              <a:rPr lang="en-US" sz="3000">
                <a:solidFill>
                  <a:srgbClr val="262626"/>
                </a:solidFill>
              </a:rPr>
              <a:t>CV</a:t>
            </a:r>
          </a:p>
        </p:txBody>
      </p:sp>
    </p:spTree>
    <p:extLst>
      <p:ext uri="{BB962C8B-B14F-4D97-AF65-F5344CB8AC3E}">
        <p14:creationId xmlns:p14="http://schemas.microsoft.com/office/powerpoint/2010/main" val="238613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2DFC5-0EEF-0DAF-91BB-165A5F748F03}"/>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D012EE3B-0C6A-D1C3-1290-3351BBE9902A}"/>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3</a:t>
            </a:fld>
            <a:r>
              <a:rPr lang="en-US"/>
              <a:t> 	</a:t>
            </a:r>
          </a:p>
        </p:txBody>
      </p:sp>
      <p:sp>
        <p:nvSpPr>
          <p:cNvPr id="20" name="Date Placeholder 3">
            <a:extLst>
              <a:ext uri="{FF2B5EF4-FFF2-40B4-BE49-F238E27FC236}">
                <a16:creationId xmlns:a16="http://schemas.microsoft.com/office/drawing/2014/main" id="{22BECB67-D8CF-790C-E68D-EB6F7E504C44}"/>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3/21/2025</a:t>
            </a:fld>
            <a:endParaRPr lang="en-US"/>
          </a:p>
        </p:txBody>
      </p:sp>
      <p:sp>
        <p:nvSpPr>
          <p:cNvPr id="21" name="Footer Placeholder 5">
            <a:extLst>
              <a:ext uri="{FF2B5EF4-FFF2-40B4-BE49-F238E27FC236}">
                <a16:creationId xmlns:a16="http://schemas.microsoft.com/office/drawing/2014/main" id="{6C1D1D23-D051-2B4D-4CD7-B684CA4C15DF}"/>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5" name="Title 4">
            <a:extLst>
              <a:ext uri="{FF2B5EF4-FFF2-40B4-BE49-F238E27FC236}">
                <a16:creationId xmlns:a16="http://schemas.microsoft.com/office/drawing/2014/main" id="{BBC44F39-B6D1-1F44-EF2F-197601C7847D}"/>
              </a:ext>
            </a:extLst>
          </p:cNvPr>
          <p:cNvSpPr>
            <a:spLocks noGrp="1"/>
          </p:cNvSpPr>
          <p:nvPr>
            <p:ph type="title"/>
          </p:nvPr>
        </p:nvSpPr>
        <p:spPr>
          <a:xfrm>
            <a:off x="466887" y="89570"/>
            <a:ext cx="9766931" cy="548731"/>
          </a:xfrm>
        </p:spPr>
        <p:txBody>
          <a:bodyPr/>
          <a:lstStyle/>
          <a:p>
            <a:r>
              <a:rPr lang="en-US" sz="4000">
                <a:solidFill>
                  <a:srgbClr val="262626"/>
                </a:solidFill>
              </a:rPr>
              <a:t>Tổng quan về các phương pháp sạc</a:t>
            </a:r>
            <a:endParaRPr lang="en-US"/>
          </a:p>
        </p:txBody>
      </p:sp>
      <p:sp>
        <p:nvSpPr>
          <p:cNvPr id="2" name="TextBox 1">
            <a:extLst>
              <a:ext uri="{FF2B5EF4-FFF2-40B4-BE49-F238E27FC236}">
                <a16:creationId xmlns:a16="http://schemas.microsoft.com/office/drawing/2014/main" id="{C7A11388-83DC-C9FC-C85D-590F27BD449C}"/>
              </a:ext>
            </a:extLst>
          </p:cNvPr>
          <p:cNvSpPr txBox="1"/>
          <p:nvPr/>
        </p:nvSpPr>
        <p:spPr>
          <a:xfrm>
            <a:off x="160180" y="887139"/>
            <a:ext cx="4126070" cy="646331"/>
          </a:xfrm>
          <a:prstGeom prst="rect">
            <a:avLst/>
          </a:prstGeom>
          <a:noFill/>
        </p:spPr>
        <p:txBody>
          <a:bodyPr wrap="square">
            <a:spAutoFit/>
          </a:bodyPr>
          <a:lstStyle/>
          <a:p>
            <a:pPr marL="342900" indent="-342900">
              <a:buFont typeface="Wingdings" panose="05000000000000000000" pitchFamily="2" charset="2"/>
              <a:buChar char="q"/>
            </a:pPr>
            <a:r>
              <a:rPr lang="en-US" sz="3600">
                <a:solidFill>
                  <a:srgbClr val="262626"/>
                </a:solidFill>
              </a:rPr>
              <a:t>Motivation </a:t>
            </a:r>
          </a:p>
        </p:txBody>
      </p:sp>
      <p:sp>
        <p:nvSpPr>
          <p:cNvPr id="3" name="TextBox 2">
            <a:extLst>
              <a:ext uri="{FF2B5EF4-FFF2-40B4-BE49-F238E27FC236}">
                <a16:creationId xmlns:a16="http://schemas.microsoft.com/office/drawing/2014/main" id="{6E8C4CB4-5383-9343-C622-B3949BB8D0AD}"/>
              </a:ext>
            </a:extLst>
          </p:cNvPr>
          <p:cNvSpPr txBox="1"/>
          <p:nvPr/>
        </p:nvSpPr>
        <p:spPr>
          <a:xfrm>
            <a:off x="83980" y="1485214"/>
            <a:ext cx="9661839" cy="1015663"/>
          </a:xfrm>
          <a:prstGeom prst="rect">
            <a:avLst/>
          </a:prstGeom>
          <a:noFill/>
        </p:spPr>
        <p:txBody>
          <a:bodyPr wrap="square">
            <a:spAutoFit/>
          </a:bodyPr>
          <a:lstStyle/>
          <a:p>
            <a:pPr marL="342900" indent="-342900">
              <a:buFont typeface="Arial" panose="020B0604020202020204" pitchFamily="34" charset="0"/>
              <a:buChar char="•"/>
            </a:pPr>
            <a:r>
              <a:rPr lang="en-US" sz="2000" b="1">
                <a:solidFill>
                  <a:srgbClr val="262626"/>
                </a:solidFill>
              </a:rPr>
              <a:t>Sạc pin </a:t>
            </a:r>
            <a:r>
              <a:rPr lang="en-US" sz="2000">
                <a:solidFill>
                  <a:srgbClr val="262626"/>
                </a:solidFill>
              </a:rPr>
              <a:t>đóng vai trò vô cùng quan trọng trong hệ thống quản lý Pin, trong đó việc thiết kế, sử dụng phương pháp sạc có ảnh hưởng mạnh mẽ đến hiệu suất, vòng đời của Pin </a:t>
            </a:r>
          </a:p>
        </p:txBody>
      </p:sp>
      <p:sp>
        <p:nvSpPr>
          <p:cNvPr id="6" name="Oval 5">
            <a:extLst>
              <a:ext uri="{FF2B5EF4-FFF2-40B4-BE49-F238E27FC236}">
                <a16:creationId xmlns:a16="http://schemas.microsoft.com/office/drawing/2014/main" id="{75634F2A-01C4-897D-E1BF-7B4751B521D7}"/>
              </a:ext>
            </a:extLst>
          </p:cNvPr>
          <p:cNvSpPr/>
          <p:nvPr/>
        </p:nvSpPr>
        <p:spPr>
          <a:xfrm>
            <a:off x="6315075" y="3248817"/>
            <a:ext cx="1209675" cy="1145133"/>
          </a:xfrm>
          <a:prstGeom prst="ellipse">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Hiệu quả sạc</a:t>
            </a:r>
          </a:p>
        </p:txBody>
      </p:sp>
      <p:sp>
        <p:nvSpPr>
          <p:cNvPr id="7" name="Oval 6">
            <a:extLst>
              <a:ext uri="{FF2B5EF4-FFF2-40B4-BE49-F238E27FC236}">
                <a16:creationId xmlns:a16="http://schemas.microsoft.com/office/drawing/2014/main" id="{F77F81DF-A8A4-574B-2A21-D7581F37A9FC}"/>
              </a:ext>
            </a:extLst>
          </p:cNvPr>
          <p:cNvSpPr/>
          <p:nvPr/>
        </p:nvSpPr>
        <p:spPr>
          <a:xfrm>
            <a:off x="6579393" y="4363945"/>
            <a:ext cx="1209675" cy="1145133"/>
          </a:xfrm>
          <a:prstGeom prst="ellipse">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Tuổi thọ pin</a:t>
            </a:r>
          </a:p>
        </p:txBody>
      </p:sp>
      <p:sp>
        <p:nvSpPr>
          <p:cNvPr id="8" name="Oval 7">
            <a:extLst>
              <a:ext uri="{FF2B5EF4-FFF2-40B4-BE49-F238E27FC236}">
                <a16:creationId xmlns:a16="http://schemas.microsoft.com/office/drawing/2014/main" id="{5E4B4B75-007F-9961-9188-900423FA2399}"/>
              </a:ext>
            </a:extLst>
          </p:cNvPr>
          <p:cNvSpPr/>
          <p:nvPr/>
        </p:nvSpPr>
        <p:spPr>
          <a:xfrm>
            <a:off x="7789068" y="4363945"/>
            <a:ext cx="1209675" cy="1145133"/>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Độ phức tạp </a:t>
            </a:r>
          </a:p>
        </p:txBody>
      </p:sp>
      <p:sp>
        <p:nvSpPr>
          <p:cNvPr id="9" name="Oval 8">
            <a:extLst>
              <a:ext uri="{FF2B5EF4-FFF2-40B4-BE49-F238E27FC236}">
                <a16:creationId xmlns:a16="http://schemas.microsoft.com/office/drawing/2014/main" id="{E6119207-4C62-B606-A514-C9135B6AF18C}"/>
              </a:ext>
            </a:extLst>
          </p:cNvPr>
          <p:cNvSpPr/>
          <p:nvPr/>
        </p:nvSpPr>
        <p:spPr>
          <a:xfrm>
            <a:off x="8039100" y="3264099"/>
            <a:ext cx="1209675" cy="1145133"/>
          </a:xfrm>
          <a:prstGeom prst="ellipse">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Chi phí </a:t>
            </a:r>
          </a:p>
        </p:txBody>
      </p:sp>
      <p:sp>
        <p:nvSpPr>
          <p:cNvPr id="10" name="Oval 9">
            <a:extLst>
              <a:ext uri="{FF2B5EF4-FFF2-40B4-BE49-F238E27FC236}">
                <a16:creationId xmlns:a16="http://schemas.microsoft.com/office/drawing/2014/main" id="{6BC14052-347F-180E-1AAD-F46B92748A35}"/>
              </a:ext>
            </a:extLst>
          </p:cNvPr>
          <p:cNvSpPr/>
          <p:nvPr/>
        </p:nvSpPr>
        <p:spPr>
          <a:xfrm>
            <a:off x="7188996" y="2408758"/>
            <a:ext cx="1209675" cy="1145133"/>
          </a:xfrm>
          <a:prstGeom prst="ellips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Thời gian sạc </a:t>
            </a:r>
          </a:p>
        </p:txBody>
      </p:sp>
      <p:sp>
        <p:nvSpPr>
          <p:cNvPr id="11" name="Rectangle 10">
            <a:extLst>
              <a:ext uri="{FF2B5EF4-FFF2-40B4-BE49-F238E27FC236}">
                <a16:creationId xmlns:a16="http://schemas.microsoft.com/office/drawing/2014/main" id="{FCE0A965-799C-D994-7F33-0CF1DE63F621}"/>
              </a:ext>
            </a:extLst>
          </p:cNvPr>
          <p:cNvSpPr/>
          <p:nvPr/>
        </p:nvSpPr>
        <p:spPr>
          <a:xfrm>
            <a:off x="7221140" y="3431107"/>
            <a:ext cx="1097755" cy="1246141"/>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Phương pháp sạc</a:t>
            </a:r>
          </a:p>
        </p:txBody>
      </p:sp>
      <p:sp>
        <p:nvSpPr>
          <p:cNvPr id="14" name="TextBox 13">
            <a:extLst>
              <a:ext uri="{FF2B5EF4-FFF2-40B4-BE49-F238E27FC236}">
                <a16:creationId xmlns:a16="http://schemas.microsoft.com/office/drawing/2014/main" id="{C27FEB4D-D692-80D2-620E-DC10E0FCBE14}"/>
              </a:ext>
            </a:extLst>
          </p:cNvPr>
          <p:cNvSpPr txBox="1"/>
          <p:nvPr/>
        </p:nvSpPr>
        <p:spPr>
          <a:xfrm>
            <a:off x="6579393" y="5656171"/>
            <a:ext cx="2569609" cy="307777"/>
          </a:xfrm>
          <a:prstGeom prst="rect">
            <a:avLst/>
          </a:prstGeom>
          <a:noFill/>
        </p:spPr>
        <p:txBody>
          <a:bodyPr wrap="square">
            <a:spAutoFit/>
          </a:bodyPr>
          <a:lstStyle/>
          <a:p>
            <a:r>
              <a:rPr lang="en-US" sz="1400"/>
              <a:t>H1 : Đại lượng ảnh hưởng pps</a:t>
            </a:r>
          </a:p>
        </p:txBody>
      </p:sp>
      <p:sp>
        <p:nvSpPr>
          <p:cNvPr id="15" name="TextBox 14">
            <a:extLst>
              <a:ext uri="{FF2B5EF4-FFF2-40B4-BE49-F238E27FC236}">
                <a16:creationId xmlns:a16="http://schemas.microsoft.com/office/drawing/2014/main" id="{A333A3DB-4F40-DB51-56A6-7FD71F2E3EDF}"/>
              </a:ext>
            </a:extLst>
          </p:cNvPr>
          <p:cNvSpPr txBox="1"/>
          <p:nvPr/>
        </p:nvSpPr>
        <p:spPr>
          <a:xfrm>
            <a:off x="83980" y="2430531"/>
            <a:ext cx="6145370" cy="1015663"/>
          </a:xfrm>
          <a:prstGeom prst="rect">
            <a:avLst/>
          </a:prstGeom>
          <a:noFill/>
        </p:spPr>
        <p:txBody>
          <a:bodyPr wrap="square">
            <a:spAutoFit/>
          </a:bodyPr>
          <a:lstStyle/>
          <a:p>
            <a:pPr marL="342900" indent="-342900">
              <a:buFont typeface="Arial" panose="020B0604020202020204" pitchFamily="34" charset="0"/>
              <a:buChar char="•"/>
            </a:pPr>
            <a:r>
              <a:rPr lang="en-US" sz="2000" b="1">
                <a:solidFill>
                  <a:srgbClr val="262626"/>
                </a:solidFill>
              </a:rPr>
              <a:t>Phương pháp sạc</a:t>
            </a:r>
            <a:r>
              <a:rPr lang="en-US" sz="2000">
                <a:solidFill>
                  <a:srgbClr val="262626"/>
                </a:solidFill>
              </a:rPr>
              <a:t>: Cách thức cung cấp năng lượng cho Pin từ nguồn bên ngoài giúp Pin phục hồi năng lượng</a:t>
            </a:r>
          </a:p>
        </p:txBody>
      </p:sp>
      <p:sp>
        <p:nvSpPr>
          <p:cNvPr id="16" name="TextBox 15">
            <a:extLst>
              <a:ext uri="{FF2B5EF4-FFF2-40B4-BE49-F238E27FC236}">
                <a16:creationId xmlns:a16="http://schemas.microsoft.com/office/drawing/2014/main" id="{4877E6C4-8071-B2D8-9360-2702CC5A7B49}"/>
              </a:ext>
            </a:extLst>
          </p:cNvPr>
          <p:cNvSpPr txBox="1"/>
          <p:nvPr/>
        </p:nvSpPr>
        <p:spPr>
          <a:xfrm>
            <a:off x="77384" y="3408951"/>
            <a:ext cx="5278045" cy="707886"/>
          </a:xfrm>
          <a:prstGeom prst="rect">
            <a:avLst/>
          </a:prstGeom>
          <a:noFill/>
        </p:spPr>
        <p:txBody>
          <a:bodyPr wrap="square">
            <a:spAutoFit/>
          </a:bodyPr>
          <a:lstStyle/>
          <a:p>
            <a:pPr marL="342900" indent="-342900">
              <a:buFont typeface="Arial" panose="020B0604020202020204" pitchFamily="34" charset="0"/>
              <a:buChar char="•"/>
            </a:pPr>
            <a:r>
              <a:rPr lang="en-US" sz="2000" b="1">
                <a:solidFill>
                  <a:srgbClr val="262626"/>
                </a:solidFill>
              </a:rPr>
              <a:t>Các đại lượng ảnh hưởng đến phương pháp sạc </a:t>
            </a:r>
            <a:r>
              <a:rPr lang="en-US" sz="2000">
                <a:solidFill>
                  <a:srgbClr val="262626"/>
                </a:solidFill>
              </a:rPr>
              <a:t>(h1)</a:t>
            </a:r>
            <a:endParaRPr lang="en-US">
              <a:solidFill>
                <a:srgbClr val="262626"/>
              </a:solidFill>
            </a:endParaRPr>
          </a:p>
        </p:txBody>
      </p:sp>
      <p:sp>
        <p:nvSpPr>
          <p:cNvPr id="17" name="TextBox 16">
            <a:extLst>
              <a:ext uri="{FF2B5EF4-FFF2-40B4-BE49-F238E27FC236}">
                <a16:creationId xmlns:a16="http://schemas.microsoft.com/office/drawing/2014/main" id="{33DEBBAC-7F82-5E1D-23C7-5A561BBB7470}"/>
              </a:ext>
            </a:extLst>
          </p:cNvPr>
          <p:cNvSpPr txBox="1"/>
          <p:nvPr/>
        </p:nvSpPr>
        <p:spPr>
          <a:xfrm>
            <a:off x="86959" y="4143027"/>
            <a:ext cx="6215612" cy="1323439"/>
          </a:xfrm>
          <a:prstGeom prst="rect">
            <a:avLst/>
          </a:prstGeom>
          <a:noFill/>
        </p:spPr>
        <p:txBody>
          <a:bodyPr wrap="square">
            <a:spAutoFit/>
          </a:bodyPr>
          <a:lstStyle/>
          <a:p>
            <a:pPr marL="342900" indent="-342900">
              <a:buFont typeface="Wingdings" panose="05000000000000000000" pitchFamily="2" charset="2"/>
              <a:buChar char="à"/>
            </a:pPr>
            <a:r>
              <a:rPr lang="en-US" sz="2000">
                <a:solidFill>
                  <a:srgbClr val="262626"/>
                </a:solidFill>
                <a:sym typeface="Wingdings" panose="05000000000000000000" pitchFamily="2" charset="2"/>
              </a:rPr>
              <a:t>Khi thiết kế phương pháp sạc, không thể đạt được</a:t>
            </a:r>
          </a:p>
          <a:p>
            <a:r>
              <a:rPr lang="en-US" sz="2000">
                <a:solidFill>
                  <a:srgbClr val="262626"/>
                </a:solidFill>
                <a:sym typeface="Wingdings" panose="05000000000000000000" pitchFamily="2" charset="2"/>
              </a:rPr>
              <a:t>     tối ưu toàn bộ các đại lượng trên, mà cần thiết kế </a:t>
            </a:r>
          </a:p>
          <a:p>
            <a:r>
              <a:rPr lang="en-US" sz="2000">
                <a:solidFill>
                  <a:srgbClr val="262626"/>
                </a:solidFill>
                <a:sym typeface="Wingdings" panose="05000000000000000000" pitchFamily="2" charset="2"/>
              </a:rPr>
              <a:t>     hướng tới các đại lượng chính tùy thuộc vào yêu</a:t>
            </a:r>
          </a:p>
          <a:p>
            <a:r>
              <a:rPr lang="en-US" sz="2000">
                <a:solidFill>
                  <a:srgbClr val="262626"/>
                </a:solidFill>
                <a:sym typeface="Wingdings" panose="05000000000000000000" pitchFamily="2" charset="2"/>
              </a:rPr>
              <a:t>     cầu của pin    </a:t>
            </a:r>
            <a:endParaRPr lang="en-US" sz="2000">
              <a:solidFill>
                <a:srgbClr val="262626"/>
              </a:solidFill>
            </a:endParaRPr>
          </a:p>
        </p:txBody>
      </p:sp>
    </p:spTree>
    <p:extLst>
      <p:ext uri="{BB962C8B-B14F-4D97-AF65-F5344CB8AC3E}">
        <p14:creationId xmlns:p14="http://schemas.microsoft.com/office/powerpoint/2010/main" val="2378923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349CA-593A-E467-F961-5B141D48520E}"/>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8768C38C-9ED4-133B-58C2-EB5EC611151A}"/>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4</a:t>
            </a:fld>
            <a:r>
              <a:rPr lang="en-US"/>
              <a:t> 	</a:t>
            </a:r>
          </a:p>
        </p:txBody>
      </p:sp>
      <p:sp>
        <p:nvSpPr>
          <p:cNvPr id="20" name="Date Placeholder 3">
            <a:extLst>
              <a:ext uri="{FF2B5EF4-FFF2-40B4-BE49-F238E27FC236}">
                <a16:creationId xmlns:a16="http://schemas.microsoft.com/office/drawing/2014/main" id="{287CFC57-6798-C9C3-1C60-5BCC63739364}"/>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3/21/2025</a:t>
            </a:fld>
            <a:endParaRPr lang="en-US"/>
          </a:p>
        </p:txBody>
      </p:sp>
      <p:sp>
        <p:nvSpPr>
          <p:cNvPr id="21" name="Footer Placeholder 5">
            <a:extLst>
              <a:ext uri="{FF2B5EF4-FFF2-40B4-BE49-F238E27FC236}">
                <a16:creationId xmlns:a16="http://schemas.microsoft.com/office/drawing/2014/main" id="{3BB03A0C-0B8A-C663-8817-B99DFE4BD425}"/>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5" name="Title 4">
            <a:extLst>
              <a:ext uri="{FF2B5EF4-FFF2-40B4-BE49-F238E27FC236}">
                <a16:creationId xmlns:a16="http://schemas.microsoft.com/office/drawing/2014/main" id="{707861A9-9166-2B2D-1074-0F3615935FE2}"/>
              </a:ext>
            </a:extLst>
          </p:cNvPr>
          <p:cNvSpPr>
            <a:spLocks noGrp="1"/>
          </p:cNvSpPr>
          <p:nvPr>
            <p:ph type="title"/>
          </p:nvPr>
        </p:nvSpPr>
        <p:spPr>
          <a:xfrm>
            <a:off x="466887" y="89570"/>
            <a:ext cx="9766931" cy="548731"/>
          </a:xfrm>
        </p:spPr>
        <p:txBody>
          <a:bodyPr/>
          <a:lstStyle/>
          <a:p>
            <a:r>
              <a:rPr lang="en-US" sz="4000">
                <a:solidFill>
                  <a:srgbClr val="262626"/>
                </a:solidFill>
              </a:rPr>
              <a:t>Tổng quan về các phương pháp sạc</a:t>
            </a:r>
            <a:endParaRPr lang="en-US"/>
          </a:p>
        </p:txBody>
      </p:sp>
      <p:sp>
        <p:nvSpPr>
          <p:cNvPr id="2" name="TextBox 1">
            <a:extLst>
              <a:ext uri="{FF2B5EF4-FFF2-40B4-BE49-F238E27FC236}">
                <a16:creationId xmlns:a16="http://schemas.microsoft.com/office/drawing/2014/main" id="{1FEC4E04-CFE9-802D-EF3A-8C9CDAC0C5F2}"/>
              </a:ext>
            </a:extLst>
          </p:cNvPr>
          <p:cNvSpPr txBox="1"/>
          <p:nvPr/>
        </p:nvSpPr>
        <p:spPr>
          <a:xfrm>
            <a:off x="160179" y="887139"/>
            <a:ext cx="8264729" cy="646331"/>
          </a:xfrm>
          <a:prstGeom prst="rect">
            <a:avLst/>
          </a:prstGeom>
          <a:noFill/>
        </p:spPr>
        <p:txBody>
          <a:bodyPr wrap="square">
            <a:spAutoFit/>
          </a:bodyPr>
          <a:lstStyle/>
          <a:p>
            <a:pPr marL="342900" indent="-342900">
              <a:buFont typeface="Wingdings" panose="05000000000000000000" pitchFamily="2" charset="2"/>
              <a:buChar char="q"/>
            </a:pPr>
            <a:r>
              <a:rPr lang="en-US" sz="3600">
                <a:solidFill>
                  <a:srgbClr val="262626"/>
                </a:solidFill>
              </a:rPr>
              <a:t>Mô hình pin đơn giản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A72B984-262B-D16E-CAA4-3F632F300BFA}"/>
                  </a:ext>
                </a:extLst>
              </p:cNvPr>
              <p:cNvSpPr txBox="1"/>
              <p:nvPr/>
            </p:nvSpPr>
            <p:spPr>
              <a:xfrm>
                <a:off x="405546" y="1523945"/>
                <a:ext cx="5288120" cy="1348061"/>
              </a:xfrm>
              <a:prstGeom prst="rect">
                <a:avLst/>
              </a:prstGeom>
              <a:noFill/>
            </p:spPr>
            <p:txBody>
              <a:bodyPr wrap="square">
                <a:spAutoFit/>
              </a:bodyPr>
              <a:lstStyle/>
              <a:p>
                <a:pPr marL="342900" indent="-342900">
                  <a:buFont typeface="Arial" panose="020B0604020202020204" pitchFamily="34" charset="0"/>
                  <a:buChar char="•"/>
                </a:pPr>
                <a14:m>
                  <m:oMath xmlns:m="http://schemas.openxmlformats.org/officeDocument/2006/math">
                    <m:sSub>
                      <m:sSubPr>
                        <m:ctrlPr>
                          <a:rPr lang="en-US" sz="2000" b="0" i="1" smtClean="0">
                            <a:solidFill>
                              <a:srgbClr val="262626"/>
                            </a:solidFill>
                            <a:latin typeface="Cambria Math" panose="02040503050406030204" pitchFamily="18" charset="0"/>
                          </a:rPr>
                        </m:ctrlPr>
                      </m:sSubPr>
                      <m:e>
                        <m:r>
                          <a:rPr lang="en-US" sz="2000" b="0" i="1" smtClean="0">
                            <a:solidFill>
                              <a:srgbClr val="262626"/>
                            </a:solidFill>
                            <a:latin typeface="Cambria Math" panose="02040503050406030204" pitchFamily="18" charset="0"/>
                          </a:rPr>
                          <m:t>𝑉</m:t>
                        </m:r>
                      </m:e>
                      <m:sub>
                        <m:r>
                          <a:rPr lang="en-US" sz="2000" b="0" i="1" smtClean="0">
                            <a:solidFill>
                              <a:srgbClr val="262626"/>
                            </a:solidFill>
                            <a:latin typeface="Cambria Math" panose="02040503050406030204" pitchFamily="18" charset="0"/>
                          </a:rPr>
                          <m:t>𝑡</m:t>
                        </m:r>
                      </m:sub>
                    </m:sSub>
                  </m:oMath>
                </a14:m>
                <a:r>
                  <a:rPr lang="en-US" sz="2000">
                    <a:solidFill>
                      <a:srgbClr val="262626"/>
                    </a:solidFill>
                  </a:rPr>
                  <a:t>  : Điện áp sạc theo thời gian</a:t>
                </a:r>
              </a:p>
              <a:p>
                <a:pPr marL="342900" indent="-342900">
                  <a:buFont typeface="Arial" panose="020B0604020202020204" pitchFamily="34" charset="0"/>
                  <a:buChar char="•"/>
                </a:pPr>
                <a14:m>
                  <m:oMath xmlns:m="http://schemas.openxmlformats.org/officeDocument/2006/math">
                    <m:sSub>
                      <m:sSubPr>
                        <m:ctrlPr>
                          <a:rPr lang="en-US" sz="2000" b="0" i="1" smtClean="0">
                            <a:solidFill>
                              <a:srgbClr val="262626"/>
                            </a:solidFill>
                            <a:latin typeface="Cambria Math" panose="02040503050406030204" pitchFamily="18" charset="0"/>
                          </a:rPr>
                        </m:ctrlPr>
                      </m:sSubPr>
                      <m:e>
                        <m:r>
                          <a:rPr lang="en-US" sz="2000" b="0" i="1" smtClean="0">
                            <a:solidFill>
                              <a:srgbClr val="262626"/>
                            </a:solidFill>
                            <a:latin typeface="Cambria Math" panose="02040503050406030204" pitchFamily="18" charset="0"/>
                          </a:rPr>
                          <m:t>𝑅</m:t>
                        </m:r>
                      </m:e>
                      <m:sub>
                        <m:r>
                          <a:rPr lang="en-US" sz="2000" b="0" i="1" smtClean="0">
                            <a:solidFill>
                              <a:srgbClr val="262626"/>
                            </a:solidFill>
                            <a:latin typeface="Cambria Math" panose="02040503050406030204" pitchFamily="18" charset="0"/>
                          </a:rPr>
                          <m:t>𝑏</m:t>
                        </m:r>
                      </m:sub>
                    </m:sSub>
                    <m:r>
                      <a:rPr lang="en-US" sz="2000" b="0" i="0" smtClean="0">
                        <a:solidFill>
                          <a:srgbClr val="262626"/>
                        </a:solidFill>
                        <a:latin typeface="Cambria Math" panose="02040503050406030204" pitchFamily="18" charset="0"/>
                      </a:rPr>
                      <m:t> </m:t>
                    </m:r>
                  </m:oMath>
                </a14:m>
                <a:r>
                  <a:rPr lang="en-US" sz="2000">
                    <a:solidFill>
                      <a:srgbClr val="262626"/>
                    </a:solidFill>
                  </a:rPr>
                  <a:t>: Nội trở của Pin</a:t>
                </a:r>
              </a:p>
              <a:p>
                <a:pPr marL="342900" indent="-342900">
                  <a:buFont typeface="Arial" panose="020B0604020202020204" pitchFamily="34" charset="0"/>
                  <a:buChar char="•"/>
                </a:pPr>
                <a14:m>
                  <m:oMath xmlns:m="http://schemas.openxmlformats.org/officeDocument/2006/math">
                    <m:sSub>
                      <m:sSubPr>
                        <m:ctrlPr>
                          <a:rPr lang="en-US" sz="2000" b="0" i="1" smtClean="0">
                            <a:solidFill>
                              <a:srgbClr val="262626"/>
                            </a:solidFill>
                            <a:latin typeface="Cambria Math" panose="02040503050406030204" pitchFamily="18" charset="0"/>
                          </a:rPr>
                        </m:ctrlPr>
                      </m:sSubPr>
                      <m:e>
                        <m:r>
                          <a:rPr lang="en-US" sz="2000" b="0" i="1" smtClean="0">
                            <a:solidFill>
                              <a:srgbClr val="262626"/>
                            </a:solidFill>
                            <a:latin typeface="Cambria Math" panose="02040503050406030204" pitchFamily="18" charset="0"/>
                          </a:rPr>
                          <m:t>𝐶</m:t>
                        </m:r>
                      </m:e>
                      <m:sub>
                        <m:r>
                          <a:rPr lang="en-US" sz="2000" b="0" i="1" smtClean="0">
                            <a:solidFill>
                              <a:srgbClr val="262626"/>
                            </a:solidFill>
                            <a:latin typeface="Cambria Math" panose="02040503050406030204" pitchFamily="18" charset="0"/>
                          </a:rPr>
                          <m:t>𝑏</m:t>
                        </m:r>
                      </m:sub>
                    </m:sSub>
                  </m:oMath>
                </a14:m>
                <a:r>
                  <a:rPr lang="en-US" sz="2000">
                    <a:solidFill>
                      <a:srgbClr val="262626"/>
                    </a:solidFill>
                  </a:rPr>
                  <a:t> : Tụ điện mang năng lượng</a:t>
                </a:r>
              </a:p>
              <a:p>
                <a:pPr marL="342900" indent="-342900">
                  <a:buFont typeface="Arial" panose="020B0604020202020204" pitchFamily="34" charset="0"/>
                  <a:buChar char="•"/>
                </a:pPr>
                <a14:m>
                  <m:oMath xmlns:m="http://schemas.openxmlformats.org/officeDocument/2006/math">
                    <m:sSub>
                      <m:sSubPr>
                        <m:ctrlPr>
                          <a:rPr lang="en-US" sz="2000" b="0" i="1" smtClean="0">
                            <a:solidFill>
                              <a:srgbClr val="262626"/>
                            </a:solidFill>
                            <a:latin typeface="Cambria Math" panose="02040503050406030204" pitchFamily="18" charset="0"/>
                          </a:rPr>
                        </m:ctrlPr>
                      </m:sSubPr>
                      <m:e>
                        <m:r>
                          <a:rPr lang="en-US" sz="2000" b="0" i="1" smtClean="0">
                            <a:solidFill>
                              <a:srgbClr val="262626"/>
                            </a:solidFill>
                            <a:latin typeface="Cambria Math" panose="02040503050406030204" pitchFamily="18" charset="0"/>
                          </a:rPr>
                          <m:t>𝑉</m:t>
                        </m:r>
                      </m:e>
                      <m:sub>
                        <m:r>
                          <a:rPr lang="en-US" sz="2000" b="0" i="1" smtClean="0">
                            <a:solidFill>
                              <a:srgbClr val="262626"/>
                            </a:solidFill>
                            <a:latin typeface="Cambria Math" panose="02040503050406030204" pitchFamily="18" charset="0"/>
                          </a:rPr>
                          <m:t>𝑐𝑢𝑡𝑜𝑓𝑓</m:t>
                        </m:r>
                      </m:sub>
                    </m:sSub>
                  </m:oMath>
                </a14:m>
                <a:r>
                  <a:rPr lang="en-US" sz="2000">
                    <a:solidFill>
                      <a:srgbClr val="262626"/>
                    </a:solidFill>
                  </a:rPr>
                  <a:t> : Điện áp ngưỡng sạc pin</a:t>
                </a:r>
              </a:p>
            </p:txBody>
          </p:sp>
        </mc:Choice>
        <mc:Fallback xmlns="">
          <p:sp>
            <p:nvSpPr>
              <p:cNvPr id="3" name="TextBox 2">
                <a:extLst>
                  <a:ext uri="{FF2B5EF4-FFF2-40B4-BE49-F238E27FC236}">
                    <a16:creationId xmlns:a16="http://schemas.microsoft.com/office/drawing/2014/main" id="{AA72B984-262B-D16E-CAA4-3F632F300BFA}"/>
                  </a:ext>
                </a:extLst>
              </p:cNvPr>
              <p:cNvSpPr txBox="1">
                <a:spLocks noRot="1" noChangeAspect="1" noMove="1" noResize="1" noEditPoints="1" noAdjustHandles="1" noChangeArrowheads="1" noChangeShapeType="1" noTextEdit="1"/>
              </p:cNvSpPr>
              <p:nvPr/>
            </p:nvSpPr>
            <p:spPr>
              <a:xfrm>
                <a:off x="405546" y="1523945"/>
                <a:ext cx="5288120" cy="1348061"/>
              </a:xfrm>
              <a:prstGeom prst="rect">
                <a:avLst/>
              </a:prstGeom>
              <a:blipFill>
                <a:blip r:embed="rId3"/>
                <a:stretch>
                  <a:fillRect l="-1038" t="-2262" b="-5430"/>
                </a:stretch>
              </a:blipFill>
            </p:spPr>
            <p:txBody>
              <a:bodyPr/>
              <a:lstStyle/>
              <a:p>
                <a:r>
                  <a:rPr lang="en-US">
                    <a:noFill/>
                  </a:rPr>
                  <a:t> </a:t>
                </a:r>
              </a:p>
            </p:txBody>
          </p:sp>
        </mc:Fallback>
      </mc:AlternateContent>
      <p:grpSp>
        <p:nvGrpSpPr>
          <p:cNvPr id="9" name="Group 8">
            <a:extLst>
              <a:ext uri="{FF2B5EF4-FFF2-40B4-BE49-F238E27FC236}">
                <a16:creationId xmlns:a16="http://schemas.microsoft.com/office/drawing/2014/main" id="{69A2E299-DA47-37B6-59A7-1E9274D90C99}"/>
              </a:ext>
            </a:extLst>
          </p:cNvPr>
          <p:cNvGrpSpPr/>
          <p:nvPr/>
        </p:nvGrpSpPr>
        <p:grpSpPr>
          <a:xfrm>
            <a:off x="6340917" y="992716"/>
            <a:ext cx="2726827" cy="1901699"/>
            <a:chOff x="6029324" y="1094117"/>
            <a:chExt cx="3020121" cy="2373206"/>
          </a:xfrm>
        </p:grpSpPr>
        <p:pic>
          <p:nvPicPr>
            <p:cNvPr id="6" name="Picture 5">
              <a:extLst>
                <a:ext uri="{FF2B5EF4-FFF2-40B4-BE49-F238E27FC236}">
                  <a16:creationId xmlns:a16="http://schemas.microsoft.com/office/drawing/2014/main" id="{0F4AAA2A-8193-BBCC-2C73-423286B02BE2}"/>
                </a:ext>
              </a:extLst>
            </p:cNvPr>
            <p:cNvPicPr>
              <a:picLocks noChangeAspect="1"/>
            </p:cNvPicPr>
            <p:nvPr/>
          </p:nvPicPr>
          <p:blipFill>
            <a:blip r:embed="rId4"/>
            <a:srcRect l="10382" t="-3417" r="10118" b="10179"/>
            <a:stretch/>
          </p:blipFill>
          <p:spPr>
            <a:xfrm>
              <a:off x="6029324" y="1094117"/>
              <a:ext cx="2767014" cy="2373206"/>
            </a:xfrm>
            <a:prstGeom prst="rect">
              <a:avLst/>
            </a:prstGeom>
          </p:spPr>
          <p:style>
            <a:lnRef idx="2">
              <a:schemeClr val="dk1"/>
            </a:lnRef>
            <a:fillRef idx="1">
              <a:schemeClr val="lt1"/>
            </a:fillRef>
            <a:effectRef idx="0">
              <a:schemeClr val="dk1"/>
            </a:effectRef>
            <a:fontRef idx="minor">
              <a:schemeClr val="dk1"/>
            </a:fontRef>
          </p:style>
        </p:pic>
        <p:sp>
          <p:nvSpPr>
            <p:cNvPr id="4" name="Rectangle 3">
              <a:extLst>
                <a:ext uri="{FF2B5EF4-FFF2-40B4-BE49-F238E27FC236}">
                  <a16:creationId xmlns:a16="http://schemas.microsoft.com/office/drawing/2014/main" id="{2B17ED90-31F1-2E3A-3DC3-CCAD9A93851A}"/>
                </a:ext>
              </a:extLst>
            </p:cNvPr>
            <p:cNvSpPr/>
            <p:nvPr/>
          </p:nvSpPr>
          <p:spPr>
            <a:xfrm>
              <a:off x="7991475" y="1717587"/>
              <a:ext cx="323850" cy="1113789"/>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72EC38B-E8BD-4F7C-928E-CAE323FA6D2D}"/>
                </a:ext>
              </a:extLst>
            </p:cNvPr>
            <p:cNvSpPr txBox="1"/>
            <p:nvPr/>
          </p:nvSpPr>
          <p:spPr>
            <a:xfrm>
              <a:off x="8103745" y="1284572"/>
              <a:ext cx="945700" cy="364934"/>
            </a:xfrm>
            <a:prstGeom prst="rect">
              <a:avLst/>
            </a:prstGeom>
            <a:noFill/>
          </p:spPr>
          <p:txBody>
            <a:bodyPr wrap="square">
              <a:spAutoFit/>
            </a:bodyPr>
            <a:lstStyle/>
            <a:p>
              <a:r>
                <a:rPr lang="en-US" sz="1400">
                  <a:solidFill>
                    <a:srgbClr val="FF0000"/>
                  </a:solidFill>
                </a:rPr>
                <a:t>Battery </a:t>
              </a:r>
            </a:p>
          </p:txBody>
        </p:sp>
      </p:grpSp>
      <p:sp>
        <p:nvSpPr>
          <p:cNvPr id="8" name="TextBox 7">
            <a:extLst>
              <a:ext uri="{FF2B5EF4-FFF2-40B4-BE49-F238E27FC236}">
                <a16:creationId xmlns:a16="http://schemas.microsoft.com/office/drawing/2014/main" id="{794754EB-EBDE-77F9-DC8F-F83F32EC92AD}"/>
              </a:ext>
            </a:extLst>
          </p:cNvPr>
          <p:cNvSpPr txBox="1"/>
          <p:nvPr/>
        </p:nvSpPr>
        <p:spPr>
          <a:xfrm>
            <a:off x="6751172" y="2898553"/>
            <a:ext cx="1889642" cy="307777"/>
          </a:xfrm>
          <a:prstGeom prst="rect">
            <a:avLst/>
          </a:prstGeom>
          <a:noFill/>
        </p:spPr>
        <p:txBody>
          <a:bodyPr wrap="square">
            <a:spAutoFit/>
          </a:bodyPr>
          <a:lstStyle/>
          <a:p>
            <a:r>
              <a:rPr lang="en-US" sz="1400"/>
              <a:t>H2 : Mô hình Rint</a:t>
            </a:r>
          </a:p>
        </p:txBody>
      </p:sp>
      <p:sp>
        <p:nvSpPr>
          <p:cNvPr id="10" name="TextBox 9">
            <a:extLst>
              <a:ext uri="{FF2B5EF4-FFF2-40B4-BE49-F238E27FC236}">
                <a16:creationId xmlns:a16="http://schemas.microsoft.com/office/drawing/2014/main" id="{77DC2E4E-DC56-CCB5-17E3-6B8333ABEA66}"/>
              </a:ext>
            </a:extLst>
          </p:cNvPr>
          <p:cNvSpPr txBox="1"/>
          <p:nvPr/>
        </p:nvSpPr>
        <p:spPr>
          <a:xfrm>
            <a:off x="160180" y="3072176"/>
            <a:ext cx="9064783" cy="646331"/>
          </a:xfrm>
          <a:prstGeom prst="rect">
            <a:avLst/>
          </a:prstGeom>
          <a:noFill/>
        </p:spPr>
        <p:txBody>
          <a:bodyPr wrap="square">
            <a:spAutoFit/>
          </a:bodyPr>
          <a:lstStyle/>
          <a:p>
            <a:pPr marL="342900" indent="-342900">
              <a:buFont typeface="Wingdings" panose="05000000000000000000" pitchFamily="2" charset="2"/>
              <a:buChar char="q"/>
            </a:pPr>
            <a:r>
              <a:rPr lang="en-US" sz="3600">
                <a:solidFill>
                  <a:srgbClr val="262626"/>
                </a:solidFill>
              </a:rPr>
              <a:t>Phân loại các phương pháp sạc xe điện [2]</a:t>
            </a:r>
          </a:p>
        </p:txBody>
      </p:sp>
      <p:sp>
        <p:nvSpPr>
          <p:cNvPr id="11" name="Rectangle 10">
            <a:extLst>
              <a:ext uri="{FF2B5EF4-FFF2-40B4-BE49-F238E27FC236}">
                <a16:creationId xmlns:a16="http://schemas.microsoft.com/office/drawing/2014/main" id="{4B49BC12-B77B-2E7D-6884-37D67B4577E5}"/>
              </a:ext>
            </a:extLst>
          </p:cNvPr>
          <p:cNvSpPr/>
          <p:nvPr/>
        </p:nvSpPr>
        <p:spPr>
          <a:xfrm>
            <a:off x="3525203" y="3879865"/>
            <a:ext cx="3114675" cy="578388"/>
          </a:xfrm>
          <a:prstGeom prst="rect">
            <a:avLst/>
          </a:prstGeom>
          <a:noFill/>
          <a:ln w="1905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262626"/>
                </a:solidFill>
              </a:rPr>
              <a:t>Phương pháp sạc</a:t>
            </a:r>
          </a:p>
        </p:txBody>
      </p:sp>
      <p:sp>
        <p:nvSpPr>
          <p:cNvPr id="12" name="Rectangle 11">
            <a:extLst>
              <a:ext uri="{FF2B5EF4-FFF2-40B4-BE49-F238E27FC236}">
                <a16:creationId xmlns:a16="http://schemas.microsoft.com/office/drawing/2014/main" id="{C516FEA6-5172-0FE1-6002-C1088F1282E5}"/>
              </a:ext>
            </a:extLst>
          </p:cNvPr>
          <p:cNvSpPr/>
          <p:nvPr/>
        </p:nvSpPr>
        <p:spPr>
          <a:xfrm>
            <a:off x="612156" y="4812094"/>
            <a:ext cx="1185863" cy="757439"/>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rgbClr val="262626"/>
                </a:solidFill>
              </a:rPr>
              <a:t>Constant-current charging</a:t>
            </a:r>
          </a:p>
        </p:txBody>
      </p:sp>
      <p:sp>
        <p:nvSpPr>
          <p:cNvPr id="13" name="Rectangle 12">
            <a:extLst>
              <a:ext uri="{FF2B5EF4-FFF2-40B4-BE49-F238E27FC236}">
                <a16:creationId xmlns:a16="http://schemas.microsoft.com/office/drawing/2014/main" id="{E2D49265-5A87-C8CF-4E16-48C17C6E1353}"/>
              </a:ext>
            </a:extLst>
          </p:cNvPr>
          <p:cNvSpPr/>
          <p:nvPr/>
        </p:nvSpPr>
        <p:spPr>
          <a:xfrm>
            <a:off x="2393912" y="4808008"/>
            <a:ext cx="1326955" cy="757438"/>
          </a:xfrm>
          <a:prstGeom prst="rect">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rgbClr val="262626"/>
                </a:solidFill>
              </a:rPr>
              <a:t>Constant-voltage charging</a:t>
            </a:r>
          </a:p>
        </p:txBody>
      </p:sp>
      <p:sp>
        <p:nvSpPr>
          <p:cNvPr id="14" name="Rectangle 13">
            <a:extLst>
              <a:ext uri="{FF2B5EF4-FFF2-40B4-BE49-F238E27FC236}">
                <a16:creationId xmlns:a16="http://schemas.microsoft.com/office/drawing/2014/main" id="{B5783EBE-5186-B3E0-290A-487A432A8058}"/>
              </a:ext>
            </a:extLst>
          </p:cNvPr>
          <p:cNvSpPr/>
          <p:nvPr/>
        </p:nvSpPr>
        <p:spPr>
          <a:xfrm>
            <a:off x="4343863" y="4813721"/>
            <a:ext cx="1185864" cy="752982"/>
          </a:xfrm>
          <a:prstGeom prst="rect">
            <a:avLst/>
          </a:prstGeom>
          <a:noFill/>
          <a:ln w="190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rgbClr val="262626"/>
                </a:solidFill>
              </a:rPr>
              <a:t>CCCV</a:t>
            </a:r>
          </a:p>
        </p:txBody>
      </p:sp>
      <p:sp>
        <p:nvSpPr>
          <p:cNvPr id="15" name="Rectangle 14">
            <a:extLst>
              <a:ext uri="{FF2B5EF4-FFF2-40B4-BE49-F238E27FC236}">
                <a16:creationId xmlns:a16="http://schemas.microsoft.com/office/drawing/2014/main" id="{39EF34BB-A76B-075B-5F7C-FB0F9CBA6056}"/>
              </a:ext>
            </a:extLst>
          </p:cNvPr>
          <p:cNvSpPr/>
          <p:nvPr/>
        </p:nvSpPr>
        <p:spPr>
          <a:xfrm>
            <a:off x="6097438" y="4812094"/>
            <a:ext cx="1255484" cy="762177"/>
          </a:xfrm>
          <a:prstGeom prst="rect">
            <a:avLst/>
          </a:prstGeom>
          <a:noFill/>
          <a:ln w="19050">
            <a:solidFill>
              <a:srgbClr val="B686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262626"/>
                </a:solidFill>
              </a:rPr>
              <a:t>MSCC</a:t>
            </a:r>
          </a:p>
        </p:txBody>
      </p:sp>
      <p:cxnSp>
        <p:nvCxnSpPr>
          <p:cNvPr id="30" name="Straight Connector 29">
            <a:extLst>
              <a:ext uri="{FF2B5EF4-FFF2-40B4-BE49-F238E27FC236}">
                <a16:creationId xmlns:a16="http://schemas.microsoft.com/office/drawing/2014/main" id="{B9D070AC-39CE-059F-16FE-DB98618D5064}"/>
              </a:ext>
            </a:extLst>
          </p:cNvPr>
          <p:cNvCxnSpPr>
            <a:cxnSpLocks/>
          </p:cNvCxnSpPr>
          <p:nvPr/>
        </p:nvCxnSpPr>
        <p:spPr>
          <a:xfrm flipV="1">
            <a:off x="1205088" y="4458253"/>
            <a:ext cx="3877453" cy="353841"/>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608539A-3BDA-D62B-A8DF-FB07D90F1283}"/>
              </a:ext>
            </a:extLst>
          </p:cNvPr>
          <p:cNvCxnSpPr>
            <a:cxnSpLocks/>
          </p:cNvCxnSpPr>
          <p:nvPr/>
        </p:nvCxnSpPr>
        <p:spPr>
          <a:xfrm flipV="1">
            <a:off x="3057390" y="4458253"/>
            <a:ext cx="2025151" cy="349755"/>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018B05B-FB4D-E819-5DB0-2F49B8DB8185}"/>
              </a:ext>
            </a:extLst>
          </p:cNvPr>
          <p:cNvCxnSpPr>
            <a:cxnSpLocks/>
          </p:cNvCxnSpPr>
          <p:nvPr/>
        </p:nvCxnSpPr>
        <p:spPr>
          <a:xfrm flipV="1">
            <a:off x="4936795" y="4458253"/>
            <a:ext cx="145746" cy="355468"/>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A4A2968-F695-BFFF-3B3A-353572F524FF}"/>
              </a:ext>
            </a:extLst>
          </p:cNvPr>
          <p:cNvCxnSpPr>
            <a:cxnSpLocks/>
          </p:cNvCxnSpPr>
          <p:nvPr/>
        </p:nvCxnSpPr>
        <p:spPr>
          <a:xfrm flipH="1" flipV="1">
            <a:off x="5082541" y="4458253"/>
            <a:ext cx="1642639" cy="353841"/>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15A94688-0A60-D82E-6A1B-6600CA4BDEDD}"/>
              </a:ext>
            </a:extLst>
          </p:cNvPr>
          <p:cNvSpPr/>
          <p:nvPr/>
        </p:nvSpPr>
        <p:spPr>
          <a:xfrm>
            <a:off x="7935874" y="4808008"/>
            <a:ext cx="1425119" cy="757438"/>
          </a:xfrm>
          <a:prstGeom prst="rect">
            <a:avLst/>
          </a:pr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262626"/>
                </a:solidFill>
              </a:rPr>
              <a:t>Pulse charge</a:t>
            </a:r>
          </a:p>
        </p:txBody>
      </p:sp>
      <p:cxnSp>
        <p:nvCxnSpPr>
          <p:cNvPr id="54" name="Straight Connector 53">
            <a:extLst>
              <a:ext uri="{FF2B5EF4-FFF2-40B4-BE49-F238E27FC236}">
                <a16:creationId xmlns:a16="http://schemas.microsoft.com/office/drawing/2014/main" id="{7993D616-32CD-1531-4C62-9737B665FB63}"/>
              </a:ext>
            </a:extLst>
          </p:cNvPr>
          <p:cNvCxnSpPr>
            <a:cxnSpLocks/>
          </p:cNvCxnSpPr>
          <p:nvPr/>
        </p:nvCxnSpPr>
        <p:spPr>
          <a:xfrm flipH="1" flipV="1">
            <a:off x="5082541" y="4458253"/>
            <a:ext cx="3565893" cy="349755"/>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5370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D688B-AAD5-B096-4C03-9FFC471CA82F}"/>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71B0D0FF-1B19-8AEF-F52F-C92FC3013AD9}"/>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5</a:t>
            </a:fld>
            <a:r>
              <a:rPr lang="en-US"/>
              <a:t> 	</a:t>
            </a:r>
          </a:p>
        </p:txBody>
      </p:sp>
      <p:sp>
        <p:nvSpPr>
          <p:cNvPr id="20" name="Date Placeholder 3">
            <a:extLst>
              <a:ext uri="{FF2B5EF4-FFF2-40B4-BE49-F238E27FC236}">
                <a16:creationId xmlns:a16="http://schemas.microsoft.com/office/drawing/2014/main" id="{A9C3C040-F73C-402C-0270-3A7910D9AC67}"/>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3/21/2025</a:t>
            </a:fld>
            <a:endParaRPr lang="en-US"/>
          </a:p>
        </p:txBody>
      </p:sp>
      <p:sp>
        <p:nvSpPr>
          <p:cNvPr id="21" name="Footer Placeholder 5">
            <a:extLst>
              <a:ext uri="{FF2B5EF4-FFF2-40B4-BE49-F238E27FC236}">
                <a16:creationId xmlns:a16="http://schemas.microsoft.com/office/drawing/2014/main" id="{4B9F2ECB-A96C-EEA7-DECE-FE995CB73AF8}"/>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5" name="Title 4">
            <a:extLst>
              <a:ext uri="{FF2B5EF4-FFF2-40B4-BE49-F238E27FC236}">
                <a16:creationId xmlns:a16="http://schemas.microsoft.com/office/drawing/2014/main" id="{4D618B3E-EDE0-95A2-3CEC-E6A332ACAADC}"/>
              </a:ext>
            </a:extLst>
          </p:cNvPr>
          <p:cNvSpPr>
            <a:spLocks noGrp="1"/>
          </p:cNvSpPr>
          <p:nvPr>
            <p:ph type="title"/>
          </p:nvPr>
        </p:nvSpPr>
        <p:spPr>
          <a:xfrm>
            <a:off x="466887" y="89570"/>
            <a:ext cx="9766931" cy="548731"/>
          </a:xfrm>
        </p:spPr>
        <p:txBody>
          <a:bodyPr/>
          <a:lstStyle/>
          <a:p>
            <a:r>
              <a:rPr lang="en-US" sz="4000">
                <a:solidFill>
                  <a:srgbClr val="262626"/>
                </a:solidFill>
              </a:rPr>
              <a:t>Tổng quan về các phương pháp sạc</a:t>
            </a:r>
            <a:endParaRPr lang="en-US"/>
          </a:p>
        </p:txBody>
      </p:sp>
      <p:sp>
        <p:nvSpPr>
          <p:cNvPr id="2" name="TextBox 1">
            <a:extLst>
              <a:ext uri="{FF2B5EF4-FFF2-40B4-BE49-F238E27FC236}">
                <a16:creationId xmlns:a16="http://schemas.microsoft.com/office/drawing/2014/main" id="{EAC30561-082F-BC2E-9DD4-4C7BA0C2D4C7}"/>
              </a:ext>
            </a:extLst>
          </p:cNvPr>
          <p:cNvSpPr txBox="1"/>
          <p:nvPr/>
        </p:nvSpPr>
        <p:spPr>
          <a:xfrm>
            <a:off x="160180" y="887139"/>
            <a:ext cx="7483494" cy="646331"/>
          </a:xfrm>
          <a:prstGeom prst="rect">
            <a:avLst/>
          </a:prstGeom>
          <a:noFill/>
        </p:spPr>
        <p:txBody>
          <a:bodyPr wrap="square">
            <a:spAutoFit/>
          </a:bodyPr>
          <a:lstStyle/>
          <a:p>
            <a:pPr marL="342900" indent="-342900">
              <a:buFont typeface="Wingdings" panose="05000000000000000000" pitchFamily="2" charset="2"/>
              <a:buChar char="q"/>
            </a:pPr>
            <a:r>
              <a:rPr lang="en-US" sz="3600">
                <a:solidFill>
                  <a:srgbClr val="262626"/>
                </a:solidFill>
              </a:rPr>
              <a:t>Phương pháp ổn dòng (CC) </a:t>
            </a:r>
          </a:p>
        </p:txBody>
      </p:sp>
      <p:sp>
        <p:nvSpPr>
          <p:cNvPr id="3" name="TextBox 2">
            <a:extLst>
              <a:ext uri="{FF2B5EF4-FFF2-40B4-BE49-F238E27FC236}">
                <a16:creationId xmlns:a16="http://schemas.microsoft.com/office/drawing/2014/main" id="{15404D74-95E4-12AD-10A8-65E2F113C5E4}"/>
              </a:ext>
            </a:extLst>
          </p:cNvPr>
          <p:cNvSpPr txBox="1"/>
          <p:nvPr/>
        </p:nvSpPr>
        <p:spPr>
          <a:xfrm>
            <a:off x="83980" y="1485214"/>
            <a:ext cx="9661840" cy="1723549"/>
          </a:xfrm>
          <a:prstGeom prst="rect">
            <a:avLst/>
          </a:prstGeom>
          <a:noFill/>
        </p:spPr>
        <p:txBody>
          <a:bodyPr wrap="square">
            <a:spAutoFit/>
          </a:bodyPr>
          <a:lstStyle/>
          <a:p>
            <a:pPr marL="342900" indent="-342900">
              <a:buFont typeface="Arial" panose="020B0604020202020204" pitchFamily="34" charset="0"/>
              <a:buChar char="•"/>
            </a:pPr>
            <a:r>
              <a:rPr lang="en-US" sz="2200" b="1">
                <a:solidFill>
                  <a:srgbClr val="262626"/>
                </a:solidFill>
              </a:rPr>
              <a:t>KN</a:t>
            </a:r>
            <a:r>
              <a:rPr lang="en-US" sz="2200">
                <a:solidFill>
                  <a:srgbClr val="262626"/>
                </a:solidFill>
              </a:rPr>
              <a:t> : Trong suốt quá trình sạc, dòng điện của nguồn cung cấp tới pin được giữ không đổi (h2) </a:t>
            </a:r>
          </a:p>
          <a:p>
            <a:pPr marL="342900" indent="-342900">
              <a:buFont typeface="Arial" panose="020B0604020202020204" pitchFamily="34" charset="0"/>
              <a:buChar char="•"/>
            </a:pPr>
            <a:r>
              <a:rPr lang="en-US" sz="2200" b="1">
                <a:solidFill>
                  <a:srgbClr val="262626"/>
                </a:solidFill>
              </a:rPr>
              <a:t>Sơ đồ sạc CC (h3) :</a:t>
            </a:r>
          </a:p>
          <a:p>
            <a:pPr lvl="1"/>
            <a:endParaRPr lang="en-US" sz="2000">
              <a:solidFill>
                <a:srgbClr val="262626"/>
              </a:solidFill>
            </a:endParaRPr>
          </a:p>
          <a:p>
            <a:pPr lvl="1"/>
            <a:endParaRPr lang="en-US" sz="2000">
              <a:solidFill>
                <a:srgbClr val="262626"/>
              </a:solidFill>
            </a:endParaRPr>
          </a:p>
        </p:txBody>
      </p:sp>
      <p:pic>
        <p:nvPicPr>
          <p:cNvPr id="10" name="Picture 9">
            <a:extLst>
              <a:ext uri="{FF2B5EF4-FFF2-40B4-BE49-F238E27FC236}">
                <a16:creationId xmlns:a16="http://schemas.microsoft.com/office/drawing/2014/main" id="{3A6475D8-551C-1AE5-ECD4-F9ECAE943DF3}"/>
              </a:ext>
            </a:extLst>
          </p:cNvPr>
          <p:cNvPicPr>
            <a:picLocks noChangeAspect="1"/>
          </p:cNvPicPr>
          <p:nvPr/>
        </p:nvPicPr>
        <p:blipFill>
          <a:blip r:embed="rId3"/>
          <a:srcRect l="-12796" b="10309"/>
          <a:stretch/>
        </p:blipFill>
        <p:spPr>
          <a:xfrm>
            <a:off x="5313317" y="2764687"/>
            <a:ext cx="3956253" cy="2608099"/>
          </a:xfrm>
          <a:prstGeom prst="rect">
            <a:avLst/>
          </a:prstGeom>
        </p:spPr>
        <p:style>
          <a:lnRef idx="2">
            <a:schemeClr val="dk1"/>
          </a:lnRef>
          <a:fillRef idx="1">
            <a:schemeClr val="lt1"/>
          </a:fillRef>
          <a:effectRef idx="0">
            <a:schemeClr val="dk1"/>
          </a:effectRef>
          <a:fontRef idx="minor">
            <a:schemeClr val="dk1"/>
          </a:fontRef>
        </p:style>
      </p:pic>
      <p:sp>
        <p:nvSpPr>
          <p:cNvPr id="8" name="TextBox 7">
            <a:extLst>
              <a:ext uri="{FF2B5EF4-FFF2-40B4-BE49-F238E27FC236}">
                <a16:creationId xmlns:a16="http://schemas.microsoft.com/office/drawing/2014/main" id="{DEF11C5C-F8DD-9445-9F91-784B0597821E}"/>
              </a:ext>
            </a:extLst>
          </p:cNvPr>
          <p:cNvSpPr txBox="1"/>
          <p:nvPr/>
        </p:nvSpPr>
        <p:spPr>
          <a:xfrm>
            <a:off x="5535409" y="4464301"/>
            <a:ext cx="887075" cy="338554"/>
          </a:xfrm>
          <a:prstGeom prst="rect">
            <a:avLst/>
          </a:prstGeom>
          <a:noFill/>
        </p:spPr>
        <p:txBody>
          <a:bodyPr wrap="square">
            <a:spAutoFit/>
          </a:bodyPr>
          <a:lstStyle/>
          <a:p>
            <a:r>
              <a:rPr lang="en-US" sz="1600" b="1" i="1">
                <a:solidFill>
                  <a:schemeClr val="accent1">
                    <a:lumMod val="50000"/>
                  </a:schemeClr>
                </a:solidFill>
              </a:rPr>
              <a:t>OCV</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A6A907C-8CAB-80E2-DB30-507E2A9E0638}"/>
                  </a:ext>
                </a:extLst>
              </p:cNvPr>
              <p:cNvSpPr txBox="1"/>
              <p:nvPr/>
            </p:nvSpPr>
            <p:spPr>
              <a:xfrm>
                <a:off x="5233486" y="2749590"/>
                <a:ext cx="887075" cy="3618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chemeClr val="accent1">
                                  <a:lumMod val="50000"/>
                                </a:schemeClr>
                              </a:solidFill>
                              <a:latin typeface="Cambria Math" panose="02040503050406030204" pitchFamily="18" charset="0"/>
                            </a:rPr>
                          </m:ctrlPr>
                        </m:sSubPr>
                        <m:e>
                          <m:r>
                            <a:rPr lang="en-US" sz="1600" b="1" i="1" smtClean="0">
                              <a:solidFill>
                                <a:schemeClr val="accent1">
                                  <a:lumMod val="50000"/>
                                </a:schemeClr>
                              </a:solidFill>
                              <a:latin typeface="Cambria Math" panose="02040503050406030204" pitchFamily="18" charset="0"/>
                            </a:rPr>
                            <m:t>𝑽</m:t>
                          </m:r>
                        </m:e>
                        <m:sub>
                          <m:r>
                            <a:rPr lang="en-US" sz="1600" b="1" i="1" smtClean="0">
                              <a:solidFill>
                                <a:schemeClr val="accent1">
                                  <a:lumMod val="50000"/>
                                </a:schemeClr>
                              </a:solidFill>
                              <a:latin typeface="Cambria Math" panose="02040503050406030204" pitchFamily="18" charset="0"/>
                            </a:rPr>
                            <m:t>𝒄𝒖𝒕𝒐𝒇𝒇</m:t>
                          </m:r>
                        </m:sub>
                      </m:sSub>
                    </m:oMath>
                  </m:oMathPara>
                </a14:m>
                <a:endParaRPr lang="en-US" sz="1600" b="1">
                  <a:solidFill>
                    <a:schemeClr val="accent1">
                      <a:lumMod val="50000"/>
                    </a:schemeClr>
                  </a:solidFill>
                </a:endParaRPr>
              </a:p>
            </p:txBody>
          </p:sp>
        </mc:Choice>
        <mc:Fallback xmlns="">
          <p:sp>
            <p:nvSpPr>
              <p:cNvPr id="11" name="TextBox 10">
                <a:extLst>
                  <a:ext uri="{FF2B5EF4-FFF2-40B4-BE49-F238E27FC236}">
                    <a16:creationId xmlns:a16="http://schemas.microsoft.com/office/drawing/2014/main" id="{CA6A907C-8CAB-80E2-DB30-507E2A9E0638}"/>
                  </a:ext>
                </a:extLst>
              </p:cNvPr>
              <p:cNvSpPr txBox="1">
                <a:spLocks noRot="1" noChangeAspect="1" noMove="1" noResize="1" noEditPoints="1" noAdjustHandles="1" noChangeArrowheads="1" noChangeShapeType="1" noTextEdit="1"/>
              </p:cNvSpPr>
              <p:nvPr/>
            </p:nvSpPr>
            <p:spPr>
              <a:xfrm>
                <a:off x="5233486" y="2749590"/>
                <a:ext cx="887075" cy="361894"/>
              </a:xfrm>
              <a:prstGeom prst="rect">
                <a:avLst/>
              </a:prstGeom>
              <a:blipFill>
                <a:blip r:embed="rId4"/>
                <a:stretch>
                  <a:fillRect b="-6780"/>
                </a:stretch>
              </a:blipFill>
            </p:spPr>
            <p:txBody>
              <a:bodyPr/>
              <a:lstStyle/>
              <a:p>
                <a:r>
                  <a:rPr lang="en-US">
                    <a:noFill/>
                  </a:rPr>
                  <a:t> </a:t>
                </a:r>
              </a:p>
            </p:txBody>
          </p:sp>
        </mc:Fallback>
      </mc:AlternateContent>
      <p:sp>
        <p:nvSpPr>
          <p:cNvPr id="12" name="Oval 11">
            <a:extLst>
              <a:ext uri="{FF2B5EF4-FFF2-40B4-BE49-F238E27FC236}">
                <a16:creationId xmlns:a16="http://schemas.microsoft.com/office/drawing/2014/main" id="{B34CE1F3-2035-3111-6286-84AFB96568D8}"/>
              </a:ext>
            </a:extLst>
          </p:cNvPr>
          <p:cNvSpPr/>
          <p:nvPr/>
        </p:nvSpPr>
        <p:spPr>
          <a:xfrm>
            <a:off x="6086672" y="4583075"/>
            <a:ext cx="57898" cy="732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244B9BF-31E5-1518-263A-CC3BB02AF9A9}"/>
              </a:ext>
            </a:extLst>
          </p:cNvPr>
          <p:cNvSpPr/>
          <p:nvPr/>
        </p:nvSpPr>
        <p:spPr>
          <a:xfrm>
            <a:off x="6093620" y="2991667"/>
            <a:ext cx="57898" cy="732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FB059CB9-888D-E472-066B-E2EDA67DAED0}"/>
              </a:ext>
            </a:extLst>
          </p:cNvPr>
          <p:cNvCxnSpPr>
            <a:cxnSpLocks/>
          </p:cNvCxnSpPr>
          <p:nvPr/>
        </p:nvCxnSpPr>
        <p:spPr>
          <a:xfrm>
            <a:off x="6194380" y="3028310"/>
            <a:ext cx="2721191"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E1027848-46C7-FB81-5EA0-34084036C0A8}"/>
              </a:ext>
            </a:extLst>
          </p:cNvPr>
          <p:cNvPicPr>
            <a:picLocks noChangeAspect="1"/>
          </p:cNvPicPr>
          <p:nvPr/>
        </p:nvPicPr>
        <p:blipFill>
          <a:blip r:embed="rId5"/>
          <a:srcRect l="4984" b="8315"/>
          <a:stretch/>
        </p:blipFill>
        <p:spPr>
          <a:xfrm>
            <a:off x="1038494" y="2785287"/>
            <a:ext cx="2810111" cy="2587499"/>
          </a:xfrm>
          <a:prstGeom prst="rect">
            <a:avLst/>
          </a:prstGeom>
        </p:spPr>
        <p:style>
          <a:lnRef idx="2">
            <a:schemeClr val="dk1"/>
          </a:lnRef>
          <a:fillRef idx="1">
            <a:schemeClr val="lt1"/>
          </a:fillRef>
          <a:effectRef idx="0">
            <a:schemeClr val="dk1"/>
          </a:effectRef>
          <a:fontRef idx="minor">
            <a:schemeClr val="dk1"/>
          </a:fontRef>
        </p:style>
      </p:pic>
      <p:sp>
        <p:nvSpPr>
          <p:cNvPr id="7" name="Oval 6">
            <a:extLst>
              <a:ext uri="{FF2B5EF4-FFF2-40B4-BE49-F238E27FC236}">
                <a16:creationId xmlns:a16="http://schemas.microsoft.com/office/drawing/2014/main" id="{23129785-CF78-8770-8E85-361C48E151E7}"/>
              </a:ext>
            </a:extLst>
          </p:cNvPr>
          <p:cNvSpPr/>
          <p:nvPr/>
        </p:nvSpPr>
        <p:spPr>
          <a:xfrm>
            <a:off x="6093620" y="3191692"/>
            <a:ext cx="57898" cy="732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D85BB6C-334C-1F0E-400E-1F311F78B2AA}"/>
                  </a:ext>
                </a:extLst>
              </p:cNvPr>
              <p:cNvSpPr txBox="1"/>
              <p:nvPr/>
            </p:nvSpPr>
            <p:spPr>
              <a:xfrm>
                <a:off x="5347972" y="3129712"/>
                <a:ext cx="887075"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chemeClr val="accent1">
                                  <a:lumMod val="50000"/>
                                </a:schemeClr>
                              </a:solidFill>
                              <a:latin typeface="Cambria Math" panose="02040503050406030204" pitchFamily="18" charset="0"/>
                            </a:rPr>
                          </m:ctrlPr>
                        </m:sSubPr>
                        <m:e>
                          <m:r>
                            <a:rPr lang="en-US" sz="1600" b="1" i="1" smtClean="0">
                              <a:solidFill>
                                <a:schemeClr val="accent1">
                                  <a:lumMod val="50000"/>
                                </a:schemeClr>
                              </a:solidFill>
                              <a:latin typeface="Cambria Math" panose="02040503050406030204" pitchFamily="18" charset="0"/>
                            </a:rPr>
                            <m:t>𝑰</m:t>
                          </m:r>
                        </m:e>
                        <m:sub>
                          <m:r>
                            <a:rPr lang="en-US" sz="1600" b="1" i="1" smtClean="0">
                              <a:solidFill>
                                <a:schemeClr val="accent1">
                                  <a:lumMod val="50000"/>
                                </a:schemeClr>
                              </a:solidFill>
                              <a:latin typeface="Cambria Math" panose="02040503050406030204" pitchFamily="18" charset="0"/>
                            </a:rPr>
                            <m:t>𝟎</m:t>
                          </m:r>
                        </m:sub>
                      </m:sSub>
                    </m:oMath>
                  </m:oMathPara>
                </a14:m>
                <a:endParaRPr lang="en-US" sz="1600" b="1">
                  <a:solidFill>
                    <a:schemeClr val="accent1">
                      <a:lumMod val="50000"/>
                    </a:schemeClr>
                  </a:solidFill>
                </a:endParaRPr>
              </a:p>
            </p:txBody>
          </p:sp>
        </mc:Choice>
        <mc:Fallback xmlns="">
          <p:sp>
            <p:nvSpPr>
              <p:cNvPr id="9" name="TextBox 8">
                <a:extLst>
                  <a:ext uri="{FF2B5EF4-FFF2-40B4-BE49-F238E27FC236}">
                    <a16:creationId xmlns:a16="http://schemas.microsoft.com/office/drawing/2014/main" id="{5D85BB6C-334C-1F0E-400E-1F311F78B2AA}"/>
                  </a:ext>
                </a:extLst>
              </p:cNvPr>
              <p:cNvSpPr txBox="1">
                <a:spLocks noRot="1" noChangeAspect="1" noMove="1" noResize="1" noEditPoints="1" noAdjustHandles="1" noChangeArrowheads="1" noChangeShapeType="1" noTextEdit="1"/>
              </p:cNvSpPr>
              <p:nvPr/>
            </p:nvSpPr>
            <p:spPr>
              <a:xfrm>
                <a:off x="5347972" y="3129712"/>
                <a:ext cx="887075" cy="338554"/>
              </a:xfrm>
              <a:prstGeom prst="rect">
                <a:avLst/>
              </a:prstGeom>
              <a:blipFill>
                <a:blip r:embed="rId6"/>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6686F1EF-115F-AA6B-9536-8A7D28C12954}"/>
              </a:ext>
            </a:extLst>
          </p:cNvPr>
          <p:cNvSpPr txBox="1"/>
          <p:nvPr/>
        </p:nvSpPr>
        <p:spPr>
          <a:xfrm>
            <a:off x="6422484" y="5491113"/>
            <a:ext cx="1889642" cy="307777"/>
          </a:xfrm>
          <a:prstGeom prst="rect">
            <a:avLst/>
          </a:prstGeom>
          <a:noFill/>
        </p:spPr>
        <p:txBody>
          <a:bodyPr wrap="square">
            <a:spAutoFit/>
          </a:bodyPr>
          <a:lstStyle/>
          <a:p>
            <a:r>
              <a:rPr lang="en-US" sz="1400"/>
              <a:t>H2 : Đồ thị V,I pp CC</a:t>
            </a:r>
          </a:p>
        </p:txBody>
      </p:sp>
      <p:sp>
        <p:nvSpPr>
          <p:cNvPr id="14" name="TextBox 13">
            <a:extLst>
              <a:ext uri="{FF2B5EF4-FFF2-40B4-BE49-F238E27FC236}">
                <a16:creationId xmlns:a16="http://schemas.microsoft.com/office/drawing/2014/main" id="{AF54CB2E-21C6-8CCB-6DB1-2A087370DEAB}"/>
              </a:ext>
            </a:extLst>
          </p:cNvPr>
          <p:cNvSpPr txBox="1"/>
          <p:nvPr/>
        </p:nvSpPr>
        <p:spPr>
          <a:xfrm>
            <a:off x="1579973" y="5491113"/>
            <a:ext cx="1889642" cy="307777"/>
          </a:xfrm>
          <a:prstGeom prst="rect">
            <a:avLst/>
          </a:prstGeom>
          <a:noFill/>
        </p:spPr>
        <p:txBody>
          <a:bodyPr wrap="square">
            <a:spAutoFit/>
          </a:bodyPr>
          <a:lstStyle/>
          <a:p>
            <a:r>
              <a:rPr lang="en-US" sz="1400"/>
              <a:t>H3 : Sơ đồ sạc CC</a:t>
            </a:r>
          </a:p>
        </p:txBody>
      </p:sp>
    </p:spTree>
    <p:extLst>
      <p:ext uri="{BB962C8B-B14F-4D97-AF65-F5344CB8AC3E}">
        <p14:creationId xmlns:p14="http://schemas.microsoft.com/office/powerpoint/2010/main" val="1747433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70167-66A4-D81F-AEAA-B5C23B5D5E23}"/>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5A223F82-A057-B928-AB9F-FC9F4B3FF9A4}"/>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6</a:t>
            </a:fld>
            <a:r>
              <a:rPr lang="en-US"/>
              <a:t> 	</a:t>
            </a:r>
          </a:p>
        </p:txBody>
      </p:sp>
      <p:sp>
        <p:nvSpPr>
          <p:cNvPr id="20" name="Date Placeholder 3">
            <a:extLst>
              <a:ext uri="{FF2B5EF4-FFF2-40B4-BE49-F238E27FC236}">
                <a16:creationId xmlns:a16="http://schemas.microsoft.com/office/drawing/2014/main" id="{CD2C30F0-1DC9-9EDC-02A8-D86CAA6A87F0}"/>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3/21/2025</a:t>
            </a:fld>
            <a:endParaRPr lang="en-US"/>
          </a:p>
        </p:txBody>
      </p:sp>
      <p:sp>
        <p:nvSpPr>
          <p:cNvPr id="21" name="Footer Placeholder 5">
            <a:extLst>
              <a:ext uri="{FF2B5EF4-FFF2-40B4-BE49-F238E27FC236}">
                <a16:creationId xmlns:a16="http://schemas.microsoft.com/office/drawing/2014/main" id="{FB372138-7127-AF7B-9175-6E3A223BF523}"/>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5" name="Title 4">
            <a:extLst>
              <a:ext uri="{FF2B5EF4-FFF2-40B4-BE49-F238E27FC236}">
                <a16:creationId xmlns:a16="http://schemas.microsoft.com/office/drawing/2014/main" id="{85C4D354-CC35-6148-6FEB-ABE05CBBB199}"/>
              </a:ext>
            </a:extLst>
          </p:cNvPr>
          <p:cNvSpPr>
            <a:spLocks noGrp="1"/>
          </p:cNvSpPr>
          <p:nvPr>
            <p:ph type="title"/>
          </p:nvPr>
        </p:nvSpPr>
        <p:spPr>
          <a:xfrm>
            <a:off x="466887" y="89570"/>
            <a:ext cx="9766931" cy="548731"/>
          </a:xfrm>
        </p:spPr>
        <p:txBody>
          <a:bodyPr/>
          <a:lstStyle/>
          <a:p>
            <a:r>
              <a:rPr lang="en-US" sz="4000">
                <a:solidFill>
                  <a:srgbClr val="262626"/>
                </a:solidFill>
              </a:rPr>
              <a:t>Tổng quan về các phương pháp sạc</a:t>
            </a:r>
            <a:endParaRPr lang="en-US"/>
          </a:p>
        </p:txBody>
      </p:sp>
      <p:sp>
        <p:nvSpPr>
          <p:cNvPr id="2" name="TextBox 1">
            <a:extLst>
              <a:ext uri="{FF2B5EF4-FFF2-40B4-BE49-F238E27FC236}">
                <a16:creationId xmlns:a16="http://schemas.microsoft.com/office/drawing/2014/main" id="{F01F395D-3E6F-C9CC-5206-3E5603C5AF92}"/>
              </a:ext>
            </a:extLst>
          </p:cNvPr>
          <p:cNvSpPr txBox="1"/>
          <p:nvPr/>
        </p:nvSpPr>
        <p:spPr>
          <a:xfrm>
            <a:off x="160180" y="887139"/>
            <a:ext cx="7483494" cy="646331"/>
          </a:xfrm>
          <a:prstGeom prst="rect">
            <a:avLst/>
          </a:prstGeom>
          <a:noFill/>
        </p:spPr>
        <p:txBody>
          <a:bodyPr wrap="square">
            <a:spAutoFit/>
          </a:bodyPr>
          <a:lstStyle/>
          <a:p>
            <a:pPr marL="342900" indent="-342900">
              <a:buFont typeface="Wingdings" panose="05000000000000000000" pitchFamily="2" charset="2"/>
              <a:buChar char="q"/>
            </a:pPr>
            <a:r>
              <a:rPr lang="en-US" sz="3600">
                <a:solidFill>
                  <a:srgbClr val="262626"/>
                </a:solidFill>
              </a:rPr>
              <a:t>Phương pháp ổn dòng (CC)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A0977A5-684D-FCF9-F29D-ECEC5E7D0F8D}"/>
                  </a:ext>
                </a:extLst>
              </p:cNvPr>
              <p:cNvSpPr txBox="1"/>
              <p:nvPr/>
            </p:nvSpPr>
            <p:spPr>
              <a:xfrm>
                <a:off x="83980" y="1485214"/>
                <a:ext cx="9661840" cy="5235536"/>
              </a:xfrm>
              <a:prstGeom prst="rect">
                <a:avLst/>
              </a:prstGeom>
              <a:noFill/>
            </p:spPr>
            <p:txBody>
              <a:bodyPr wrap="square">
                <a:spAutoFit/>
              </a:bodyPr>
              <a:lstStyle/>
              <a:p>
                <a:pPr marL="342900" indent="-342900">
                  <a:buFont typeface="Arial" panose="020B0604020202020204" pitchFamily="34" charset="0"/>
                  <a:buChar char="•"/>
                </a:pPr>
                <a:r>
                  <a:rPr lang="en-US" sz="2200" b="1">
                    <a:solidFill>
                      <a:srgbClr val="262626"/>
                    </a:solidFill>
                  </a:rPr>
                  <a:t>Tính toán :</a:t>
                </a:r>
              </a:p>
              <a:p>
                <a:pPr marL="800100" lvl="1" indent="-342900">
                  <a:buFont typeface="Courier New" panose="02070309020205020404" pitchFamily="49" charset="0"/>
                  <a:buChar char="o"/>
                </a:pPr>
                <a:r>
                  <a:rPr lang="en-US">
                    <a:solidFill>
                      <a:srgbClr val="262626"/>
                    </a:solidFill>
                  </a:rPr>
                  <a:t>Mô hình pin : Theo kiểu Rin </a:t>
                </a:r>
              </a:p>
              <a:p>
                <a:pPr marL="800100" lvl="1" indent="-342900">
                  <a:buFont typeface="Courier New" panose="02070309020205020404" pitchFamily="49" charset="0"/>
                  <a:buChar char="o"/>
                </a:pPr>
                <a:r>
                  <a:rPr lang="en-US">
                    <a:solidFill>
                      <a:srgbClr val="262626"/>
                    </a:solidFill>
                  </a:rPr>
                  <a:t>Trước chuyển mạch : </a:t>
                </a:r>
                <a14:m>
                  <m:oMath xmlns:m="http://schemas.openxmlformats.org/officeDocument/2006/math">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𝑉</m:t>
                        </m:r>
                      </m:e>
                      <m:sub>
                        <m:r>
                          <a:rPr lang="en-US" b="0" i="1" smtClean="0">
                            <a:solidFill>
                              <a:srgbClr val="262626"/>
                            </a:solidFill>
                            <a:latin typeface="Cambria Math" panose="02040503050406030204" pitchFamily="18" charset="0"/>
                          </a:rPr>
                          <m:t>𝐶𝑏</m:t>
                        </m:r>
                        <m:r>
                          <a:rPr lang="en-US" b="0" i="1" smtClean="0">
                            <a:solidFill>
                              <a:srgbClr val="262626"/>
                            </a:solidFill>
                            <a:latin typeface="Cambria Math" panose="02040503050406030204" pitchFamily="18" charset="0"/>
                          </a:rPr>
                          <m:t>0</m:t>
                        </m:r>
                      </m:sub>
                    </m:sSub>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𝑂𝐶𝑉</m:t>
                    </m:r>
                    <m:r>
                      <a:rPr lang="en-US" b="0" i="1" smtClean="0">
                        <a:solidFill>
                          <a:srgbClr val="262626"/>
                        </a:solidFill>
                        <a:latin typeface="Cambria Math" panose="02040503050406030204" pitchFamily="18" charset="0"/>
                      </a:rPr>
                      <m:t> </m:t>
                    </m:r>
                    <m:d>
                      <m:dPr>
                        <m:ctrlPr>
                          <a:rPr lang="en-US" b="0" i="1" smtClean="0">
                            <a:solidFill>
                              <a:srgbClr val="262626"/>
                            </a:solidFill>
                            <a:latin typeface="Cambria Math" panose="02040503050406030204" pitchFamily="18" charset="0"/>
                          </a:rPr>
                        </m:ctrlPr>
                      </m:dPr>
                      <m:e>
                        <m:r>
                          <a:rPr lang="en-US" b="0" i="1" smtClean="0">
                            <a:solidFill>
                              <a:srgbClr val="262626"/>
                            </a:solidFill>
                            <a:latin typeface="Cambria Math" panose="02040503050406030204" pitchFamily="18" charset="0"/>
                          </a:rPr>
                          <m:t>𝑉</m:t>
                        </m:r>
                      </m:e>
                    </m:d>
                  </m:oMath>
                </a14:m>
                <a:endParaRPr lang="en-US" b="0">
                  <a:solidFill>
                    <a:srgbClr val="262626"/>
                  </a:solidFill>
                </a:endParaRPr>
              </a:p>
              <a:p>
                <a:pPr marL="800100" lvl="1" indent="-342900">
                  <a:buFont typeface="Courier New" panose="02070309020205020404" pitchFamily="49" charset="0"/>
                  <a:buChar char="o"/>
                </a:pPr>
                <a:r>
                  <a:rPr lang="en-US">
                    <a:solidFill>
                      <a:srgbClr val="262626"/>
                    </a:solidFill>
                  </a:rPr>
                  <a:t>Sau chuyển mạch (h4) :</a:t>
                </a:r>
              </a:p>
              <a:p>
                <a:pPr lvl="1">
                  <a:lnSpc>
                    <a:spcPct val="150000"/>
                  </a:lnSpc>
                </a:pPr>
                <a:r>
                  <a:rPr lang="en-US" b="0">
                    <a:solidFill>
                      <a:srgbClr val="262626"/>
                    </a:solidFill>
                  </a:rPr>
                  <a:t>         </a:t>
                </a:r>
                <a14:m>
                  <m:oMath xmlns:m="http://schemas.openxmlformats.org/officeDocument/2006/math">
                    <m:f>
                      <m:fPr>
                        <m:ctrlPr>
                          <a:rPr lang="en-US" b="0" i="1" smtClean="0">
                            <a:solidFill>
                              <a:srgbClr val="262626"/>
                            </a:solidFill>
                            <a:latin typeface="Cambria Math" panose="02040503050406030204" pitchFamily="18" charset="0"/>
                          </a:rPr>
                        </m:ctrlPr>
                      </m:fPr>
                      <m:num>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𝐼</m:t>
                            </m:r>
                          </m:e>
                          <m:sub>
                            <m:r>
                              <a:rPr lang="en-US" b="0" i="1" smtClean="0">
                                <a:solidFill>
                                  <a:srgbClr val="262626"/>
                                </a:solidFill>
                                <a:latin typeface="Cambria Math" panose="02040503050406030204" pitchFamily="18" charset="0"/>
                              </a:rPr>
                              <m:t>𝐶𝐶</m:t>
                            </m:r>
                          </m:sub>
                        </m:sSub>
                      </m:num>
                      <m:den>
                        <m:r>
                          <a:rPr lang="en-US" b="0" i="1" smtClean="0">
                            <a:solidFill>
                              <a:srgbClr val="262626"/>
                            </a:solidFill>
                            <a:latin typeface="Cambria Math" panose="02040503050406030204" pitchFamily="18" charset="0"/>
                          </a:rPr>
                          <m:t>𝑠</m:t>
                        </m:r>
                      </m:den>
                    </m:f>
                    <m:r>
                      <a:rPr lang="en-US" i="1">
                        <a:solidFill>
                          <a:srgbClr val="262626"/>
                        </a:solidFill>
                        <a:latin typeface="Cambria Math" panose="02040503050406030204" pitchFamily="18" charset="0"/>
                      </a:rPr>
                      <m:t>×</m:t>
                    </m:r>
                    <m:d>
                      <m:dPr>
                        <m:ctrlPr>
                          <a:rPr lang="en-US" b="0" i="1" smtClean="0">
                            <a:solidFill>
                              <a:srgbClr val="262626"/>
                            </a:solidFill>
                            <a:latin typeface="Cambria Math" panose="02040503050406030204" pitchFamily="18" charset="0"/>
                          </a:rPr>
                        </m:ctrlPr>
                      </m:dPr>
                      <m:e>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𝑅</m:t>
                            </m:r>
                          </m:e>
                          <m:sub>
                            <m:r>
                              <a:rPr lang="en-US" b="0" i="1" smtClean="0">
                                <a:solidFill>
                                  <a:srgbClr val="262626"/>
                                </a:solidFill>
                                <a:latin typeface="Cambria Math" panose="02040503050406030204" pitchFamily="18" charset="0"/>
                              </a:rPr>
                              <m:t>𝑏</m:t>
                            </m:r>
                          </m:sub>
                        </m:sSub>
                        <m:r>
                          <a:rPr lang="en-US" b="0" i="1" smtClean="0">
                            <a:solidFill>
                              <a:srgbClr val="262626"/>
                            </a:solidFill>
                            <a:latin typeface="Cambria Math" panose="02040503050406030204" pitchFamily="18" charset="0"/>
                          </a:rPr>
                          <m:t>+</m:t>
                        </m:r>
                        <m:f>
                          <m:fPr>
                            <m:ctrlPr>
                              <a:rPr lang="en-US" b="0" i="1" smtClean="0">
                                <a:solidFill>
                                  <a:srgbClr val="262626"/>
                                </a:solidFill>
                                <a:latin typeface="Cambria Math" panose="02040503050406030204" pitchFamily="18" charset="0"/>
                              </a:rPr>
                            </m:ctrlPr>
                          </m:fPr>
                          <m:num>
                            <m:r>
                              <a:rPr lang="en-US" b="0" i="1" smtClean="0">
                                <a:solidFill>
                                  <a:srgbClr val="262626"/>
                                </a:solidFill>
                                <a:latin typeface="Cambria Math" panose="02040503050406030204" pitchFamily="18" charset="0"/>
                              </a:rPr>
                              <m:t>1</m:t>
                            </m:r>
                          </m:num>
                          <m:den>
                            <m:r>
                              <a:rPr lang="en-US" b="0" i="1" smtClean="0">
                                <a:solidFill>
                                  <a:srgbClr val="262626"/>
                                </a:solidFill>
                                <a:latin typeface="Cambria Math" panose="02040503050406030204" pitchFamily="18" charset="0"/>
                              </a:rPr>
                              <m:t>𝑠𝐶</m:t>
                            </m:r>
                          </m:den>
                        </m:f>
                      </m:e>
                    </m:d>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𝑉</m:t>
                    </m:r>
                    <m:d>
                      <m:dPr>
                        <m:ctrlPr>
                          <a:rPr lang="en-US" b="0" i="1" smtClean="0">
                            <a:solidFill>
                              <a:srgbClr val="262626"/>
                            </a:solidFill>
                            <a:latin typeface="Cambria Math" panose="02040503050406030204" pitchFamily="18" charset="0"/>
                          </a:rPr>
                        </m:ctrlPr>
                      </m:dPr>
                      <m:e>
                        <m:r>
                          <a:rPr lang="en-US" b="0" i="1" smtClean="0">
                            <a:solidFill>
                              <a:srgbClr val="262626"/>
                            </a:solidFill>
                            <a:latin typeface="Cambria Math" panose="02040503050406030204" pitchFamily="18" charset="0"/>
                          </a:rPr>
                          <m:t>𝑠</m:t>
                        </m:r>
                      </m:e>
                    </m:d>
                    <m:r>
                      <a:rPr lang="en-US" b="0" i="1" smtClean="0">
                        <a:solidFill>
                          <a:srgbClr val="262626"/>
                        </a:solidFill>
                        <a:latin typeface="Cambria Math" panose="02040503050406030204" pitchFamily="18" charset="0"/>
                      </a:rPr>
                      <m:t>−</m:t>
                    </m:r>
                    <m:f>
                      <m:fPr>
                        <m:ctrlPr>
                          <a:rPr lang="en-US" b="0" i="1" smtClean="0">
                            <a:solidFill>
                              <a:srgbClr val="262626"/>
                            </a:solidFill>
                            <a:latin typeface="Cambria Math" panose="02040503050406030204" pitchFamily="18" charset="0"/>
                          </a:rPr>
                        </m:ctrlPr>
                      </m:fPr>
                      <m:num>
                        <m:r>
                          <a:rPr lang="en-US" b="0" i="1" smtClean="0">
                            <a:solidFill>
                              <a:srgbClr val="262626"/>
                            </a:solidFill>
                            <a:latin typeface="Cambria Math" panose="02040503050406030204" pitchFamily="18" charset="0"/>
                          </a:rPr>
                          <m:t>𝑂𝐶𝑉</m:t>
                        </m:r>
                      </m:num>
                      <m:den>
                        <m:r>
                          <a:rPr lang="en-US" b="0" i="1" smtClean="0">
                            <a:solidFill>
                              <a:srgbClr val="262626"/>
                            </a:solidFill>
                            <a:latin typeface="Cambria Math" panose="02040503050406030204" pitchFamily="18" charset="0"/>
                          </a:rPr>
                          <m:t>𝑠</m:t>
                        </m:r>
                      </m:den>
                    </m:f>
                  </m:oMath>
                </a14:m>
                <a:endParaRPr lang="en-US">
                  <a:solidFill>
                    <a:srgbClr val="262626"/>
                  </a:solidFill>
                </a:endParaRPr>
              </a:p>
              <a:p>
                <a:pPr marL="742950" lvl="1" indent="-285750">
                  <a:lnSpc>
                    <a:spcPct val="150000"/>
                  </a:lnSpc>
                  <a:buFont typeface="Courier New" panose="02070309020205020404" pitchFamily="49" charset="0"/>
                  <a:buChar char="o"/>
                </a:pPr>
                <a:r>
                  <a:rPr lang="en-US">
                    <a:solidFill>
                      <a:srgbClr val="262626"/>
                    </a:solidFill>
                  </a:rPr>
                  <a:t>Điện áp sạc Pin :</a:t>
                </a:r>
              </a:p>
              <a:p>
                <a:pPr lvl="1">
                  <a:lnSpc>
                    <a:spcPct val="150000"/>
                  </a:lnSpc>
                </a:pPr>
                <a:r>
                  <a:rPr lang="en-US" b="0">
                    <a:solidFill>
                      <a:srgbClr val="262626"/>
                    </a:solidFill>
                    <a:sym typeface="Wingdings" panose="05000000000000000000" pitchFamily="2" charset="2"/>
                  </a:rPr>
                  <a:t>          </a:t>
                </a:r>
                <a14:m>
                  <m:oMath xmlns:m="http://schemas.openxmlformats.org/officeDocument/2006/math">
                    <m:r>
                      <a:rPr lang="en-US" b="0" i="1" smtClean="0">
                        <a:solidFill>
                          <a:srgbClr val="262626"/>
                        </a:solidFill>
                        <a:latin typeface="Cambria Math" panose="02040503050406030204" pitchFamily="18" charset="0"/>
                        <a:sym typeface="Wingdings" panose="05000000000000000000" pitchFamily="2" charset="2"/>
                      </a:rPr>
                      <m:t>𝑉</m:t>
                    </m:r>
                    <m:d>
                      <m:dPr>
                        <m:ctrlPr>
                          <a:rPr lang="en-US" b="0" i="1" smtClean="0">
                            <a:solidFill>
                              <a:srgbClr val="262626"/>
                            </a:solidFill>
                            <a:latin typeface="Cambria Math" panose="02040503050406030204" pitchFamily="18" charset="0"/>
                            <a:sym typeface="Wingdings" panose="05000000000000000000" pitchFamily="2" charset="2"/>
                          </a:rPr>
                        </m:ctrlPr>
                      </m:dPr>
                      <m:e>
                        <m:r>
                          <a:rPr lang="en-US" b="0" i="1" smtClean="0">
                            <a:solidFill>
                              <a:srgbClr val="262626"/>
                            </a:solidFill>
                            <a:latin typeface="Cambria Math" panose="02040503050406030204" pitchFamily="18" charset="0"/>
                            <a:sym typeface="Wingdings" panose="05000000000000000000" pitchFamily="2" charset="2"/>
                          </a:rPr>
                          <m:t>𝑡</m:t>
                        </m:r>
                      </m:e>
                    </m:d>
                    <m:r>
                      <a:rPr lang="en-US" b="0" i="1" smtClean="0">
                        <a:solidFill>
                          <a:srgbClr val="262626"/>
                        </a:solidFill>
                        <a:latin typeface="Cambria Math" panose="02040503050406030204" pitchFamily="18" charset="0"/>
                        <a:sym typeface="Wingdings" panose="05000000000000000000" pitchFamily="2" charset="2"/>
                      </a:rPr>
                      <m:t>=</m:t>
                    </m:r>
                    <m:d>
                      <m:dPr>
                        <m:ctrlPr>
                          <a:rPr lang="en-US" b="0" i="1" smtClean="0">
                            <a:solidFill>
                              <a:srgbClr val="262626"/>
                            </a:solidFill>
                            <a:latin typeface="Cambria Math" panose="02040503050406030204" pitchFamily="18" charset="0"/>
                            <a:sym typeface="Wingdings" panose="05000000000000000000" pitchFamily="2" charset="2"/>
                          </a:rPr>
                        </m:ctrlPr>
                      </m:dPr>
                      <m:e>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𝐼</m:t>
                            </m:r>
                          </m:e>
                          <m:sub>
                            <m:r>
                              <a:rPr lang="en-US" i="1">
                                <a:solidFill>
                                  <a:srgbClr val="262626"/>
                                </a:solidFill>
                                <a:latin typeface="Cambria Math" panose="02040503050406030204" pitchFamily="18" charset="0"/>
                              </a:rPr>
                              <m:t>𝐶𝐶</m:t>
                            </m:r>
                          </m:sub>
                        </m:sSub>
                        <m:r>
                          <a:rPr lang="en-US" b="0" i="1" smtClean="0">
                            <a:solidFill>
                              <a:srgbClr val="262626"/>
                            </a:solidFill>
                            <a:latin typeface="Cambria Math" panose="02040503050406030204" pitchFamily="18" charset="0"/>
                            <a:sym typeface="Wingdings" panose="05000000000000000000" pitchFamily="2" charset="2"/>
                          </a:rPr>
                          <m:t>𝑅</m:t>
                        </m:r>
                        <m:r>
                          <a:rPr lang="en-US" b="0" i="1" smtClean="0">
                            <a:solidFill>
                              <a:srgbClr val="262626"/>
                            </a:solidFill>
                            <a:latin typeface="Cambria Math" panose="02040503050406030204" pitchFamily="18" charset="0"/>
                            <a:sym typeface="Wingdings" panose="05000000000000000000" pitchFamily="2" charset="2"/>
                          </a:rPr>
                          <m:t>+</m:t>
                        </m:r>
                        <m:r>
                          <a:rPr lang="en-US" b="0" i="1" smtClean="0">
                            <a:solidFill>
                              <a:srgbClr val="262626"/>
                            </a:solidFill>
                            <a:latin typeface="Cambria Math" panose="02040503050406030204" pitchFamily="18" charset="0"/>
                            <a:sym typeface="Wingdings" panose="05000000000000000000" pitchFamily="2" charset="2"/>
                          </a:rPr>
                          <m:t>𝑂𝐶𝑉</m:t>
                        </m:r>
                      </m:e>
                    </m:d>
                    <m:r>
                      <a:rPr lang="en-US" b="0" i="1" smtClean="0">
                        <a:solidFill>
                          <a:srgbClr val="262626"/>
                        </a:solidFill>
                        <a:latin typeface="Cambria Math" panose="02040503050406030204" pitchFamily="18" charset="0"/>
                        <a:sym typeface="Wingdings" panose="05000000000000000000" pitchFamily="2" charset="2"/>
                      </a:rPr>
                      <m:t>+</m:t>
                    </m:r>
                  </m:oMath>
                </a14:m>
                <a:r>
                  <a:rPr lang="en-US">
                    <a:solidFill>
                      <a:srgbClr val="262626"/>
                    </a:solidFill>
                  </a:rPr>
                  <a:t> </a:t>
                </a:r>
                <a14:m>
                  <m:oMath xmlns:m="http://schemas.openxmlformats.org/officeDocument/2006/math">
                    <m:f>
                      <m:fPr>
                        <m:ctrlPr>
                          <a:rPr lang="en-US" i="1">
                            <a:solidFill>
                              <a:srgbClr val="262626"/>
                            </a:solidFill>
                            <a:latin typeface="Cambria Math" panose="02040503050406030204" pitchFamily="18" charset="0"/>
                          </a:rPr>
                        </m:ctrlPr>
                      </m:fPr>
                      <m:num>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𝐼</m:t>
                            </m:r>
                          </m:e>
                          <m:sub>
                            <m:r>
                              <a:rPr lang="en-US" i="1">
                                <a:solidFill>
                                  <a:srgbClr val="262626"/>
                                </a:solidFill>
                                <a:latin typeface="Cambria Math" panose="02040503050406030204" pitchFamily="18" charset="0"/>
                              </a:rPr>
                              <m:t>𝐶𝐶</m:t>
                            </m:r>
                          </m:sub>
                        </m:sSub>
                      </m:num>
                      <m:den>
                        <m:r>
                          <a:rPr lang="en-US" b="0" i="1" smtClean="0">
                            <a:solidFill>
                              <a:srgbClr val="262626"/>
                            </a:solidFill>
                            <a:latin typeface="Cambria Math" panose="02040503050406030204" pitchFamily="18" charset="0"/>
                          </a:rPr>
                          <m:t>𝐶</m:t>
                        </m:r>
                      </m:den>
                    </m:f>
                    <m:r>
                      <a:rPr lang="en-US" i="1">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𝑡</m:t>
                    </m:r>
                  </m:oMath>
                </a14:m>
                <a:r>
                  <a:rPr lang="en-US">
                    <a:solidFill>
                      <a:srgbClr val="262626"/>
                    </a:solidFill>
                  </a:rPr>
                  <a:t>   (V)   </a:t>
                </a:r>
              </a:p>
              <a:p>
                <a:pPr marL="742950" lvl="1" indent="-285750">
                  <a:lnSpc>
                    <a:spcPct val="150000"/>
                  </a:lnSpc>
                  <a:buFont typeface="Courier New" panose="02070309020205020404" pitchFamily="49" charset="0"/>
                  <a:buChar char="o"/>
                </a:pPr>
                <a:r>
                  <a:rPr lang="en-US">
                    <a:solidFill>
                      <a:srgbClr val="262626"/>
                    </a:solidFill>
                  </a:rPr>
                  <a:t>Thời gian sạc : ( Quá trình sạc kết thúc khi </a:t>
                </a:r>
                <a14:m>
                  <m:oMath xmlns:m="http://schemas.openxmlformats.org/officeDocument/2006/math">
                    <m:r>
                      <a:rPr lang="en-US" b="0" i="1" smtClean="0">
                        <a:solidFill>
                          <a:srgbClr val="262626"/>
                        </a:solidFill>
                        <a:latin typeface="Cambria Math" panose="02040503050406030204" pitchFamily="18" charset="0"/>
                        <a:sym typeface="Wingdings" panose="05000000000000000000" pitchFamily="2" charset="2"/>
                      </a:rPr>
                      <m:t>𝑉</m:t>
                    </m:r>
                    <m:d>
                      <m:dPr>
                        <m:ctrlPr>
                          <a:rPr lang="en-US" b="0" i="1" smtClean="0">
                            <a:solidFill>
                              <a:srgbClr val="262626"/>
                            </a:solidFill>
                            <a:latin typeface="Cambria Math" panose="02040503050406030204" pitchFamily="18" charset="0"/>
                            <a:sym typeface="Wingdings" panose="05000000000000000000" pitchFamily="2" charset="2"/>
                          </a:rPr>
                        </m:ctrlPr>
                      </m:dPr>
                      <m:e>
                        <m:r>
                          <a:rPr lang="en-US" b="0" i="1" smtClean="0">
                            <a:solidFill>
                              <a:srgbClr val="262626"/>
                            </a:solidFill>
                            <a:latin typeface="Cambria Math" panose="02040503050406030204" pitchFamily="18" charset="0"/>
                            <a:sym typeface="Wingdings" panose="05000000000000000000" pitchFamily="2" charset="2"/>
                          </a:rPr>
                          <m:t>𝑡</m:t>
                        </m:r>
                      </m:e>
                    </m:d>
                    <m:r>
                      <a:rPr lang="en-US" b="0" i="1" smtClean="0">
                        <a:solidFill>
                          <a:srgbClr val="262626"/>
                        </a:solidFill>
                        <a:latin typeface="Cambria Math" panose="02040503050406030204" pitchFamily="18" charset="0"/>
                        <a:sym typeface="Wingdings" panose="05000000000000000000" pitchFamily="2" charset="2"/>
                      </a:rPr>
                      <m:t>=</m:t>
                    </m:r>
                    <m:sSub>
                      <m:sSubPr>
                        <m:ctrlPr>
                          <a:rPr lang="en-US" i="1" smtClean="0">
                            <a:solidFill>
                              <a:srgbClr val="262626"/>
                            </a:solidFill>
                            <a:latin typeface="Cambria Math" panose="02040503050406030204" pitchFamily="18" charset="0"/>
                          </a:rPr>
                        </m:ctrlPr>
                      </m:sSubPr>
                      <m:e>
                        <m:r>
                          <a:rPr lang="en-US" b="0" i="1">
                            <a:solidFill>
                              <a:srgbClr val="262626"/>
                            </a:solidFill>
                            <a:latin typeface="Cambria Math" panose="02040503050406030204" pitchFamily="18" charset="0"/>
                          </a:rPr>
                          <m:t>𝑉</m:t>
                        </m:r>
                      </m:e>
                      <m:sub>
                        <m:r>
                          <a:rPr lang="en-US" b="0" i="1">
                            <a:solidFill>
                              <a:srgbClr val="262626"/>
                            </a:solidFill>
                            <a:latin typeface="Cambria Math" panose="02040503050406030204" pitchFamily="18" charset="0"/>
                          </a:rPr>
                          <m:t>𝑐𝑢𝑡𝑜𝑓𝑓</m:t>
                        </m:r>
                      </m:sub>
                    </m:sSub>
                  </m:oMath>
                </a14:m>
                <a:r>
                  <a:rPr lang="en-US">
                    <a:solidFill>
                      <a:srgbClr val="262626"/>
                    </a:solidFill>
                  </a:rPr>
                  <a:t> )</a:t>
                </a:r>
              </a:p>
              <a:p>
                <a:pPr lvl="1">
                  <a:lnSpc>
                    <a:spcPct val="150000"/>
                  </a:lnSpc>
                </a:pPr>
                <a:r>
                  <a:rPr lang="en-US" b="0">
                    <a:solidFill>
                      <a:srgbClr val="262626"/>
                    </a:solidFill>
                  </a:rPr>
                  <a:t>         </a:t>
                </a:r>
                <a14:m>
                  <m:oMath xmlns:m="http://schemas.openxmlformats.org/officeDocument/2006/math">
                    <m:r>
                      <a:rPr lang="en-US" b="0" i="1" smtClean="0">
                        <a:solidFill>
                          <a:srgbClr val="262626"/>
                        </a:solidFill>
                        <a:latin typeface="Cambria Math" panose="02040503050406030204" pitchFamily="18" charset="0"/>
                      </a:rPr>
                      <m:t> </m:t>
                    </m:r>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𝑡</m:t>
                        </m:r>
                      </m:e>
                      <m:sub>
                        <m:r>
                          <a:rPr lang="en-US" b="0" i="1" smtClean="0">
                            <a:solidFill>
                              <a:srgbClr val="262626"/>
                            </a:solidFill>
                            <a:latin typeface="Cambria Math" panose="02040503050406030204" pitchFamily="18" charset="0"/>
                          </a:rPr>
                          <m:t>𝑐h𝑎𝑟</m:t>
                        </m:r>
                      </m:sub>
                    </m:sSub>
                    <m:r>
                      <a:rPr lang="en-US" b="0" i="1" smtClean="0">
                        <a:solidFill>
                          <a:srgbClr val="262626"/>
                        </a:solidFill>
                        <a:latin typeface="Cambria Math" panose="02040503050406030204" pitchFamily="18" charset="0"/>
                      </a:rPr>
                      <m:t>=</m:t>
                    </m:r>
                    <m:r>
                      <a:rPr lang="en-US" i="1">
                        <a:solidFill>
                          <a:srgbClr val="262626"/>
                        </a:solidFill>
                        <a:latin typeface="Cambria Math" panose="02040503050406030204" pitchFamily="18" charset="0"/>
                      </a:rPr>
                      <m:t>𝐶</m:t>
                    </m:r>
                    <m:r>
                      <a:rPr lang="en-US" i="1">
                        <a:solidFill>
                          <a:srgbClr val="262626"/>
                        </a:solidFill>
                        <a:latin typeface="Cambria Math" panose="02040503050406030204" pitchFamily="18" charset="0"/>
                      </a:rPr>
                      <m:t>×</m:t>
                    </m:r>
                    <m:d>
                      <m:dPr>
                        <m:ctrlPr>
                          <a:rPr lang="en-US" b="0" i="1" smtClean="0">
                            <a:solidFill>
                              <a:srgbClr val="262626"/>
                            </a:solidFill>
                            <a:latin typeface="Cambria Math" panose="02040503050406030204" pitchFamily="18" charset="0"/>
                          </a:rPr>
                        </m:ctrlPr>
                      </m:dPr>
                      <m:e>
                        <m:f>
                          <m:fPr>
                            <m:ctrlPr>
                              <a:rPr lang="en-US" b="0" i="1" smtClean="0">
                                <a:solidFill>
                                  <a:srgbClr val="262626"/>
                                </a:solidFill>
                                <a:latin typeface="Cambria Math" panose="02040503050406030204" pitchFamily="18" charset="0"/>
                              </a:rPr>
                            </m:ctrlPr>
                          </m:fPr>
                          <m:num>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𝑉</m:t>
                                </m:r>
                              </m:e>
                              <m:sub>
                                <m:r>
                                  <a:rPr lang="en-US" i="1">
                                    <a:solidFill>
                                      <a:srgbClr val="262626"/>
                                    </a:solidFill>
                                    <a:latin typeface="Cambria Math" panose="02040503050406030204" pitchFamily="18" charset="0"/>
                                  </a:rPr>
                                  <m:t>𝑐𝑢𝑡𝑜𝑓𝑓</m:t>
                                </m:r>
                              </m:sub>
                            </m:sSub>
                            <m:r>
                              <a:rPr lang="en-US" b="0" i="1" smtClean="0">
                                <a:solidFill>
                                  <a:srgbClr val="262626"/>
                                </a:solidFill>
                                <a:latin typeface="Cambria Math" panose="02040503050406030204" pitchFamily="18" charset="0"/>
                              </a:rPr>
                              <m:t>−</m:t>
                            </m:r>
                            <m:r>
                              <a:rPr lang="en-US" i="1">
                                <a:solidFill>
                                  <a:srgbClr val="262626"/>
                                </a:solidFill>
                                <a:latin typeface="Cambria Math" panose="02040503050406030204" pitchFamily="18" charset="0"/>
                                <a:sym typeface="Wingdings" panose="05000000000000000000" pitchFamily="2" charset="2"/>
                              </a:rPr>
                              <m:t>𝑂𝐶</m:t>
                            </m:r>
                            <m:r>
                              <a:rPr lang="en-US" b="0" i="1" smtClean="0">
                                <a:solidFill>
                                  <a:srgbClr val="262626"/>
                                </a:solidFill>
                                <a:latin typeface="Cambria Math" panose="02040503050406030204" pitchFamily="18" charset="0"/>
                                <a:sym typeface="Wingdings" panose="05000000000000000000" pitchFamily="2" charset="2"/>
                              </a:rPr>
                              <m:t>𝑉</m:t>
                            </m:r>
                            <m:r>
                              <a:rPr lang="en-US" b="0" i="1" smtClean="0">
                                <a:solidFill>
                                  <a:srgbClr val="262626"/>
                                </a:solidFill>
                                <a:latin typeface="Cambria Math" panose="02040503050406030204" pitchFamily="18" charset="0"/>
                                <a:sym typeface="Wingdings" panose="05000000000000000000" pitchFamily="2" charset="2"/>
                              </a:rPr>
                              <m:t>−</m:t>
                            </m:r>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𝐼</m:t>
                                </m:r>
                              </m:e>
                              <m:sub>
                                <m:r>
                                  <a:rPr lang="en-US" i="1">
                                    <a:solidFill>
                                      <a:srgbClr val="262626"/>
                                    </a:solidFill>
                                    <a:latin typeface="Cambria Math" panose="02040503050406030204" pitchFamily="18" charset="0"/>
                                  </a:rPr>
                                  <m:t>𝐶𝐶</m:t>
                                </m:r>
                              </m:sub>
                            </m:sSub>
                            <m:r>
                              <a:rPr lang="en-US" i="1">
                                <a:solidFill>
                                  <a:srgbClr val="262626"/>
                                </a:solidFill>
                                <a:latin typeface="Cambria Math" panose="02040503050406030204" pitchFamily="18" charset="0"/>
                                <a:sym typeface="Wingdings" panose="05000000000000000000" pitchFamily="2" charset="2"/>
                              </a:rPr>
                              <m:t>𝑅</m:t>
                            </m:r>
                          </m:num>
                          <m:den>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𝐼</m:t>
                                </m:r>
                              </m:e>
                              <m:sub>
                                <m:r>
                                  <a:rPr lang="en-US" i="1">
                                    <a:solidFill>
                                      <a:srgbClr val="262626"/>
                                    </a:solidFill>
                                    <a:latin typeface="Cambria Math" panose="02040503050406030204" pitchFamily="18" charset="0"/>
                                  </a:rPr>
                                  <m:t>𝐶𝐶</m:t>
                                </m:r>
                              </m:sub>
                            </m:sSub>
                          </m:den>
                        </m:f>
                      </m:e>
                    </m:d>
                    <m:r>
                      <a:rPr lang="en-US" b="0" i="1" smtClean="0">
                        <a:solidFill>
                          <a:srgbClr val="262626"/>
                        </a:solidFill>
                        <a:latin typeface="Cambria Math" panose="02040503050406030204" pitchFamily="18" charset="0"/>
                      </a:rPr>
                      <m:t>=</m:t>
                    </m:r>
                  </m:oMath>
                </a14:m>
                <a:r>
                  <a:rPr lang="en-US">
                    <a:solidFill>
                      <a:srgbClr val="262626"/>
                    </a:solidFill>
                  </a:rPr>
                  <a:t> </a:t>
                </a:r>
                <a14:m>
                  <m:oMath xmlns:m="http://schemas.openxmlformats.org/officeDocument/2006/math">
                    <m:r>
                      <a:rPr lang="en-US" i="1">
                        <a:solidFill>
                          <a:srgbClr val="262626"/>
                        </a:solidFill>
                        <a:latin typeface="Cambria Math" panose="02040503050406030204" pitchFamily="18" charset="0"/>
                      </a:rPr>
                      <m:t>𝐶</m:t>
                    </m:r>
                    <m:r>
                      <a:rPr lang="en-US" i="1">
                        <a:solidFill>
                          <a:srgbClr val="262626"/>
                        </a:solidFill>
                        <a:latin typeface="Cambria Math" panose="02040503050406030204" pitchFamily="18" charset="0"/>
                      </a:rPr>
                      <m:t>×</m:t>
                    </m:r>
                    <m:d>
                      <m:dPr>
                        <m:ctrlPr>
                          <a:rPr lang="en-US" i="1">
                            <a:solidFill>
                              <a:srgbClr val="262626"/>
                            </a:solidFill>
                            <a:latin typeface="Cambria Math" panose="02040503050406030204" pitchFamily="18" charset="0"/>
                          </a:rPr>
                        </m:ctrlPr>
                      </m:dPr>
                      <m:e>
                        <m:f>
                          <m:fPr>
                            <m:ctrlPr>
                              <a:rPr lang="en-US" i="1">
                                <a:solidFill>
                                  <a:srgbClr val="262626"/>
                                </a:solidFill>
                                <a:latin typeface="Cambria Math" panose="02040503050406030204" pitchFamily="18" charset="0"/>
                              </a:rPr>
                            </m:ctrlPr>
                          </m:fPr>
                          <m:num>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𝑉</m:t>
                                </m:r>
                              </m:e>
                              <m:sub>
                                <m:r>
                                  <a:rPr lang="en-US" i="1">
                                    <a:solidFill>
                                      <a:srgbClr val="262626"/>
                                    </a:solidFill>
                                    <a:latin typeface="Cambria Math" panose="02040503050406030204" pitchFamily="18" charset="0"/>
                                  </a:rPr>
                                  <m:t>𝑐𝑢𝑡𝑜𝑓𝑓</m:t>
                                </m:r>
                              </m:sub>
                            </m:sSub>
                            <m:r>
                              <a:rPr lang="en-US" i="1">
                                <a:solidFill>
                                  <a:srgbClr val="262626"/>
                                </a:solidFill>
                                <a:latin typeface="Cambria Math" panose="02040503050406030204" pitchFamily="18" charset="0"/>
                              </a:rPr>
                              <m:t>−</m:t>
                            </m:r>
                            <m:r>
                              <a:rPr lang="en-US" i="1">
                                <a:solidFill>
                                  <a:srgbClr val="262626"/>
                                </a:solidFill>
                                <a:latin typeface="Cambria Math" panose="02040503050406030204" pitchFamily="18" charset="0"/>
                                <a:sym typeface="Wingdings" panose="05000000000000000000" pitchFamily="2" charset="2"/>
                              </a:rPr>
                              <m:t>𝑂𝐶𝑉</m:t>
                            </m:r>
                          </m:num>
                          <m:den>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𝐼</m:t>
                                </m:r>
                              </m:e>
                              <m:sub>
                                <m:r>
                                  <a:rPr lang="en-US" i="1">
                                    <a:solidFill>
                                      <a:srgbClr val="262626"/>
                                    </a:solidFill>
                                    <a:latin typeface="Cambria Math" panose="02040503050406030204" pitchFamily="18" charset="0"/>
                                  </a:rPr>
                                  <m:t>𝐶𝐶</m:t>
                                </m:r>
                              </m:sub>
                            </m:sSub>
                          </m:den>
                        </m:f>
                        <m:r>
                          <a:rPr lang="en-US" b="0" i="1" smtClean="0">
                            <a:solidFill>
                              <a:srgbClr val="262626"/>
                            </a:solidFill>
                            <a:latin typeface="Cambria Math" panose="02040503050406030204" pitchFamily="18" charset="0"/>
                            <a:sym typeface="Wingdings" panose="05000000000000000000" pitchFamily="2" charset="2"/>
                          </a:rPr>
                          <m:t>−</m:t>
                        </m:r>
                        <m:r>
                          <a:rPr lang="en-US" b="0" i="1" smtClean="0">
                            <a:solidFill>
                              <a:srgbClr val="262626"/>
                            </a:solidFill>
                            <a:latin typeface="Cambria Math" panose="02040503050406030204" pitchFamily="18" charset="0"/>
                            <a:sym typeface="Wingdings" panose="05000000000000000000" pitchFamily="2" charset="2"/>
                          </a:rPr>
                          <m:t>𝑅</m:t>
                        </m:r>
                      </m:e>
                    </m:d>
                  </m:oMath>
                </a14:m>
                <a:endParaRPr lang="en-US">
                  <a:solidFill>
                    <a:srgbClr val="262626"/>
                  </a:solidFill>
                </a:endParaRPr>
              </a:p>
              <a:p>
                <a:pPr marL="742950" lvl="1" indent="-285750">
                  <a:lnSpc>
                    <a:spcPct val="150000"/>
                  </a:lnSpc>
                  <a:buFont typeface="Courier New" panose="02070309020205020404" pitchFamily="49" charset="0"/>
                  <a:buChar char="o"/>
                </a:pPr>
                <a:r>
                  <a:rPr lang="en-US">
                    <a:solidFill>
                      <a:srgbClr val="262626"/>
                    </a:solidFill>
                  </a:rPr>
                  <a:t>Dung lượng của Pin : </a:t>
                </a:r>
              </a:p>
              <a:p>
                <a:pPr lvl="1">
                  <a:lnSpc>
                    <a:spcPct val="150000"/>
                  </a:lnSpc>
                </a:pPr>
                <a:r>
                  <a:rPr lang="en-US">
                    <a:solidFill>
                      <a:srgbClr val="262626"/>
                    </a:solidFill>
                  </a:rPr>
                  <a:t>         </a:t>
                </a:r>
                <a14:m>
                  <m:oMath xmlns:m="http://schemas.openxmlformats.org/officeDocument/2006/math">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𝑄</m:t>
                        </m:r>
                      </m:e>
                      <m:sub>
                        <m:r>
                          <a:rPr lang="en-US" b="0" i="1" smtClean="0">
                            <a:solidFill>
                              <a:srgbClr val="262626"/>
                            </a:solidFill>
                            <a:latin typeface="Cambria Math" panose="02040503050406030204" pitchFamily="18" charset="0"/>
                          </a:rPr>
                          <m:t>𝐶𝐶</m:t>
                        </m:r>
                      </m:sub>
                    </m:sSub>
                    <m:r>
                      <a:rPr lang="en-US" b="0" i="1" smtClean="0">
                        <a:solidFill>
                          <a:srgbClr val="262626"/>
                        </a:solidFill>
                        <a:latin typeface="Cambria Math" panose="02040503050406030204" pitchFamily="18" charset="0"/>
                      </a:rPr>
                      <m:t>=</m:t>
                    </m:r>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𝐼</m:t>
                        </m:r>
                      </m:e>
                      <m:sub>
                        <m:r>
                          <a:rPr lang="en-US" i="1">
                            <a:solidFill>
                              <a:srgbClr val="262626"/>
                            </a:solidFill>
                            <a:latin typeface="Cambria Math" panose="02040503050406030204" pitchFamily="18" charset="0"/>
                          </a:rPr>
                          <m:t>𝐶𝐶</m:t>
                        </m:r>
                      </m:sub>
                    </m:sSub>
                    <m:r>
                      <a:rPr lang="en-US" i="1">
                        <a:solidFill>
                          <a:srgbClr val="262626"/>
                        </a:solidFill>
                        <a:latin typeface="Cambria Math" panose="02040503050406030204" pitchFamily="18" charset="0"/>
                      </a:rPr>
                      <m:t>×</m:t>
                    </m:r>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𝑡</m:t>
                        </m:r>
                      </m:e>
                      <m:sub>
                        <m:r>
                          <a:rPr lang="en-US" i="1">
                            <a:solidFill>
                              <a:srgbClr val="262626"/>
                            </a:solidFill>
                            <a:latin typeface="Cambria Math" panose="02040503050406030204" pitchFamily="18" charset="0"/>
                          </a:rPr>
                          <m:t>𝑐h𝑎𝑟</m:t>
                        </m:r>
                      </m:sub>
                    </m:sSub>
                    <m:r>
                      <a:rPr lang="en-US" b="0" i="1" smtClean="0">
                        <a:solidFill>
                          <a:srgbClr val="262626"/>
                        </a:solidFill>
                        <a:latin typeface="Cambria Math" panose="02040503050406030204" pitchFamily="18" charset="0"/>
                      </a:rPr>
                      <m:t>=</m:t>
                    </m:r>
                    <m:sSub>
                      <m:sSubPr>
                        <m:ctrlPr>
                          <a:rPr lang="en-US" b="0" i="1" smtClean="0">
                            <a:solidFill>
                              <a:srgbClr val="262626"/>
                            </a:solidFill>
                            <a:latin typeface="Cambria Math" panose="02040503050406030204" pitchFamily="18" charset="0"/>
                            <a:sym typeface="Wingdings" panose="05000000000000000000" pitchFamily="2" charset="2"/>
                          </a:rPr>
                        </m:ctrlPr>
                      </m:sSubPr>
                      <m:e>
                        <m:r>
                          <a:rPr lang="en-US" b="0" i="1" smtClean="0">
                            <a:solidFill>
                              <a:srgbClr val="262626"/>
                            </a:solidFill>
                            <a:latin typeface="Cambria Math" panose="02040503050406030204" pitchFamily="18" charset="0"/>
                            <a:sym typeface="Wingdings" panose="05000000000000000000" pitchFamily="2" charset="2"/>
                          </a:rPr>
                          <m:t>(</m:t>
                        </m:r>
                        <m:r>
                          <a:rPr lang="en-US" i="1">
                            <a:solidFill>
                              <a:srgbClr val="262626"/>
                            </a:solidFill>
                            <a:latin typeface="Cambria Math" panose="02040503050406030204" pitchFamily="18" charset="0"/>
                            <a:sym typeface="Wingdings" panose="05000000000000000000" pitchFamily="2" charset="2"/>
                          </a:rPr>
                          <m:t>𝑉</m:t>
                        </m:r>
                      </m:e>
                      <m:sub>
                        <m:r>
                          <a:rPr lang="en-US" b="0" i="1" smtClean="0">
                            <a:solidFill>
                              <a:srgbClr val="262626"/>
                            </a:solidFill>
                            <a:latin typeface="Cambria Math" panose="02040503050406030204" pitchFamily="18" charset="0"/>
                            <a:sym typeface="Wingdings" panose="05000000000000000000" pitchFamily="2" charset="2"/>
                          </a:rPr>
                          <m:t>𝑐𝑢𝑡𝑜𝑓𝑓</m:t>
                        </m:r>
                      </m:sub>
                    </m:sSub>
                    <m:r>
                      <a:rPr lang="en-US" b="0" i="1" smtClean="0">
                        <a:solidFill>
                          <a:srgbClr val="262626"/>
                        </a:solidFill>
                        <a:latin typeface="Cambria Math" panose="02040503050406030204" pitchFamily="18" charset="0"/>
                        <a:sym typeface="Wingdings" panose="05000000000000000000" pitchFamily="2" charset="2"/>
                      </a:rPr>
                      <m:t>−</m:t>
                    </m:r>
                    <m:r>
                      <a:rPr lang="en-US" b="0" i="1" smtClean="0">
                        <a:solidFill>
                          <a:srgbClr val="262626"/>
                        </a:solidFill>
                        <a:latin typeface="Cambria Math" panose="02040503050406030204" pitchFamily="18" charset="0"/>
                        <a:sym typeface="Wingdings" panose="05000000000000000000" pitchFamily="2" charset="2"/>
                      </a:rPr>
                      <m:t>𝑂𝐶𝑉</m:t>
                    </m:r>
                    <m:r>
                      <a:rPr lang="en-US" b="0" i="1" smtClean="0">
                        <a:solidFill>
                          <a:srgbClr val="262626"/>
                        </a:solidFill>
                        <a:latin typeface="Cambria Math" panose="02040503050406030204" pitchFamily="18" charset="0"/>
                        <a:sym typeface="Wingdings" panose="05000000000000000000" pitchFamily="2" charset="2"/>
                      </a:rPr>
                      <m:t>−</m:t>
                    </m:r>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𝐼</m:t>
                        </m:r>
                      </m:e>
                      <m:sub>
                        <m:r>
                          <a:rPr lang="en-US" i="1">
                            <a:solidFill>
                              <a:srgbClr val="262626"/>
                            </a:solidFill>
                            <a:latin typeface="Cambria Math" panose="02040503050406030204" pitchFamily="18" charset="0"/>
                          </a:rPr>
                          <m:t>𝐶𝐶</m:t>
                        </m:r>
                      </m:sub>
                    </m:sSub>
                    <m:r>
                      <a:rPr lang="en-US" b="0" i="1" smtClean="0">
                        <a:solidFill>
                          <a:srgbClr val="262626"/>
                        </a:solidFill>
                        <a:latin typeface="Cambria Math" panose="02040503050406030204" pitchFamily="18" charset="0"/>
                        <a:sym typeface="Wingdings" panose="05000000000000000000" pitchFamily="2" charset="2"/>
                      </a:rPr>
                      <m:t>𝑅</m:t>
                    </m:r>
                    <m:r>
                      <a:rPr lang="en-US" b="0" i="1" smtClean="0">
                        <a:solidFill>
                          <a:srgbClr val="262626"/>
                        </a:solidFill>
                        <a:latin typeface="Cambria Math" panose="02040503050406030204" pitchFamily="18" charset="0"/>
                        <a:sym typeface="Wingdings" panose="05000000000000000000" pitchFamily="2" charset="2"/>
                      </a:rPr>
                      <m:t>)×</m:t>
                    </m:r>
                    <m:r>
                      <a:rPr lang="en-US" b="0" i="1" smtClean="0">
                        <a:solidFill>
                          <a:srgbClr val="262626"/>
                        </a:solidFill>
                        <a:latin typeface="Cambria Math" panose="02040503050406030204" pitchFamily="18" charset="0"/>
                      </a:rPr>
                      <m:t>𝐶</m:t>
                    </m:r>
                    <m:r>
                      <a:rPr lang="en-US" i="1" smtClean="0">
                        <a:solidFill>
                          <a:srgbClr val="262626"/>
                        </a:solidFill>
                        <a:latin typeface="Cambria Math" panose="02040503050406030204" pitchFamily="18" charset="0"/>
                        <a:sym typeface="Wingdings" panose="05000000000000000000" pitchFamily="2" charset="2"/>
                      </a:rPr>
                      <m:t> </m:t>
                    </m:r>
                  </m:oMath>
                </a14:m>
                <a:r>
                  <a:rPr lang="en-US">
                    <a:solidFill>
                      <a:srgbClr val="262626"/>
                    </a:solidFill>
                  </a:rPr>
                  <a:t>(C) </a:t>
                </a:r>
              </a:p>
              <a:p>
                <a:pPr lvl="1">
                  <a:lnSpc>
                    <a:spcPct val="150000"/>
                  </a:lnSpc>
                </a:pPr>
                <a:endParaRPr lang="en-US">
                  <a:solidFill>
                    <a:srgbClr val="262626"/>
                  </a:solidFill>
                </a:endParaRPr>
              </a:p>
            </p:txBody>
          </p:sp>
        </mc:Choice>
        <mc:Fallback xmlns="">
          <p:sp>
            <p:nvSpPr>
              <p:cNvPr id="3" name="TextBox 2">
                <a:extLst>
                  <a:ext uri="{FF2B5EF4-FFF2-40B4-BE49-F238E27FC236}">
                    <a16:creationId xmlns:a16="http://schemas.microsoft.com/office/drawing/2014/main" id="{1A0977A5-684D-FCF9-F29D-ECEC5E7D0F8D}"/>
                  </a:ext>
                </a:extLst>
              </p:cNvPr>
              <p:cNvSpPr txBox="1">
                <a:spLocks noRot="1" noChangeAspect="1" noMove="1" noResize="1" noEditPoints="1" noAdjustHandles="1" noChangeArrowheads="1" noChangeShapeType="1" noTextEdit="1"/>
              </p:cNvSpPr>
              <p:nvPr/>
            </p:nvSpPr>
            <p:spPr>
              <a:xfrm>
                <a:off x="83980" y="1485214"/>
                <a:ext cx="9661840" cy="5235536"/>
              </a:xfrm>
              <a:prstGeom prst="rect">
                <a:avLst/>
              </a:prstGeom>
              <a:blipFill>
                <a:blip r:embed="rId3"/>
                <a:stretch>
                  <a:fillRect l="-757" t="-816"/>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9C4C88DA-23FA-7610-B99B-745119566F84}"/>
              </a:ext>
            </a:extLst>
          </p:cNvPr>
          <p:cNvPicPr>
            <a:picLocks noChangeAspect="1"/>
          </p:cNvPicPr>
          <p:nvPr/>
        </p:nvPicPr>
        <p:blipFill>
          <a:blip r:embed="rId4"/>
          <a:srcRect l="17804" r="17384" b="14372"/>
          <a:stretch/>
        </p:blipFill>
        <p:spPr>
          <a:xfrm>
            <a:off x="4953000" y="1562298"/>
            <a:ext cx="1912591" cy="1847946"/>
          </a:xfrm>
          <a:prstGeom prst="rect">
            <a:avLst/>
          </a:prstGeom>
          <a:noFill/>
          <a:ln>
            <a:noFill/>
          </a:ln>
        </p:spPr>
        <p:style>
          <a:lnRef idx="0">
            <a:scrgbClr r="0" g="0" b="0"/>
          </a:lnRef>
          <a:fillRef idx="0">
            <a:scrgbClr r="0" g="0" b="0"/>
          </a:fillRef>
          <a:effectRef idx="0">
            <a:scrgbClr r="0" g="0" b="0"/>
          </a:effectRef>
          <a:fontRef idx="minor">
            <a:schemeClr val="dk1"/>
          </a:fontRef>
        </p:style>
      </p:pic>
      <p:grpSp>
        <p:nvGrpSpPr>
          <p:cNvPr id="27" name="Group 26">
            <a:extLst>
              <a:ext uri="{FF2B5EF4-FFF2-40B4-BE49-F238E27FC236}">
                <a16:creationId xmlns:a16="http://schemas.microsoft.com/office/drawing/2014/main" id="{D50BEEB1-E00A-2D06-E386-5386761B6005}"/>
              </a:ext>
            </a:extLst>
          </p:cNvPr>
          <p:cNvGrpSpPr/>
          <p:nvPr/>
        </p:nvGrpSpPr>
        <p:grpSpPr>
          <a:xfrm>
            <a:off x="7015760" y="1374124"/>
            <a:ext cx="2653214" cy="1899825"/>
            <a:chOff x="6328861" y="1445337"/>
            <a:chExt cx="3034214" cy="1963852"/>
          </a:xfrm>
        </p:grpSpPr>
        <p:grpSp>
          <p:nvGrpSpPr>
            <p:cNvPr id="22" name="Group 21">
              <a:extLst>
                <a:ext uri="{FF2B5EF4-FFF2-40B4-BE49-F238E27FC236}">
                  <a16:creationId xmlns:a16="http://schemas.microsoft.com/office/drawing/2014/main" id="{7913D14D-ADB9-2EBF-82B3-D30F105029DC}"/>
                </a:ext>
              </a:extLst>
            </p:cNvPr>
            <p:cNvGrpSpPr/>
            <p:nvPr/>
          </p:nvGrpSpPr>
          <p:grpSpPr>
            <a:xfrm>
              <a:off x="6328861" y="1445337"/>
              <a:ext cx="3034214" cy="1963852"/>
              <a:chOff x="1917400" y="2957489"/>
              <a:chExt cx="4094620" cy="2573614"/>
            </a:xfrm>
          </p:grpSpPr>
          <p:pic>
            <p:nvPicPr>
              <p:cNvPr id="7" name="Picture 6">
                <a:extLst>
                  <a:ext uri="{FF2B5EF4-FFF2-40B4-BE49-F238E27FC236}">
                    <a16:creationId xmlns:a16="http://schemas.microsoft.com/office/drawing/2014/main" id="{B4889F71-179E-59F9-A8F4-ADD45E6E632C}"/>
                  </a:ext>
                </a:extLst>
              </p:cNvPr>
              <p:cNvPicPr>
                <a:picLocks noChangeAspect="1"/>
              </p:cNvPicPr>
              <p:nvPr/>
            </p:nvPicPr>
            <p:blipFill>
              <a:blip r:embed="rId5"/>
              <a:srcRect l="-12796" b="10076"/>
              <a:stretch/>
            </p:blipFill>
            <p:spPr>
              <a:xfrm>
                <a:off x="2055766" y="2993287"/>
                <a:ext cx="3956254" cy="2537816"/>
              </a:xfrm>
              <a:prstGeom prst="rect">
                <a:avLst/>
              </a:prstGeom>
            </p:spPr>
            <p:style>
              <a:lnRef idx="2">
                <a:schemeClr val="dk1"/>
              </a:lnRef>
              <a:fillRef idx="1">
                <a:schemeClr val="lt1"/>
              </a:fillRef>
              <a:effectRef idx="0">
                <a:schemeClr val="dk1"/>
              </a:effectRef>
              <a:fontRef idx="minor">
                <a:schemeClr val="dk1"/>
              </a:fontRef>
            </p:style>
          </p:pic>
          <p:sp>
            <p:nvSpPr>
              <p:cNvPr id="9" name="TextBox 8">
                <a:extLst>
                  <a:ext uri="{FF2B5EF4-FFF2-40B4-BE49-F238E27FC236}">
                    <a16:creationId xmlns:a16="http://schemas.microsoft.com/office/drawing/2014/main" id="{20BC91BD-AA92-7BE2-69D6-7761B0084E36}"/>
                  </a:ext>
                </a:extLst>
              </p:cNvPr>
              <p:cNvSpPr txBox="1"/>
              <p:nvPr/>
            </p:nvSpPr>
            <p:spPr>
              <a:xfrm>
                <a:off x="2055766" y="4798614"/>
                <a:ext cx="1030990" cy="544729"/>
              </a:xfrm>
              <a:prstGeom prst="rect">
                <a:avLst/>
              </a:prstGeom>
              <a:noFill/>
            </p:spPr>
            <p:txBody>
              <a:bodyPr wrap="square">
                <a:spAutoFit/>
              </a:bodyPr>
              <a:lstStyle/>
              <a:p>
                <a:r>
                  <a:rPr lang="en-US" sz="1600" b="1" i="1">
                    <a:solidFill>
                      <a:schemeClr val="accent1">
                        <a:lumMod val="50000"/>
                      </a:schemeClr>
                    </a:solidFill>
                  </a:rPr>
                  <a:t>OCV</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F9523AF-2AE9-95DC-C242-DD9D07EF0956}"/>
                      </a:ext>
                    </a:extLst>
                  </p:cNvPr>
                  <p:cNvSpPr txBox="1"/>
                  <p:nvPr/>
                </p:nvSpPr>
                <p:spPr>
                  <a:xfrm>
                    <a:off x="1917400" y="2957489"/>
                    <a:ext cx="887076" cy="3618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chemeClr val="accent1">
                                      <a:lumMod val="50000"/>
                                    </a:schemeClr>
                                  </a:solidFill>
                                  <a:latin typeface="Cambria Math" panose="02040503050406030204" pitchFamily="18" charset="0"/>
                                </a:rPr>
                              </m:ctrlPr>
                            </m:sSubPr>
                            <m:e>
                              <m:r>
                                <a:rPr lang="en-US" sz="1600" b="1" i="1" smtClean="0">
                                  <a:solidFill>
                                    <a:schemeClr val="accent1">
                                      <a:lumMod val="50000"/>
                                    </a:schemeClr>
                                  </a:solidFill>
                                  <a:latin typeface="Cambria Math" panose="02040503050406030204" pitchFamily="18" charset="0"/>
                                </a:rPr>
                                <m:t>𝑽</m:t>
                              </m:r>
                            </m:e>
                            <m:sub>
                              <m:r>
                                <a:rPr lang="en-US" sz="1600" b="1" i="1" smtClean="0">
                                  <a:solidFill>
                                    <a:schemeClr val="accent1">
                                      <a:lumMod val="50000"/>
                                    </a:schemeClr>
                                  </a:solidFill>
                                  <a:latin typeface="Cambria Math" panose="02040503050406030204" pitchFamily="18" charset="0"/>
                                </a:rPr>
                                <m:t>𝒄𝒖𝒕𝒐𝒇𝒇</m:t>
                              </m:r>
                            </m:sub>
                          </m:sSub>
                        </m:oMath>
                      </m:oMathPara>
                    </a14:m>
                    <a:endParaRPr lang="en-US" sz="1600" b="1">
                      <a:solidFill>
                        <a:schemeClr val="accent1">
                          <a:lumMod val="50000"/>
                        </a:schemeClr>
                      </a:solidFill>
                    </a:endParaRPr>
                  </a:p>
                </p:txBody>
              </p:sp>
            </mc:Choice>
            <mc:Fallback xmlns="">
              <p:sp>
                <p:nvSpPr>
                  <p:cNvPr id="14" name="TextBox 13">
                    <a:extLst>
                      <a:ext uri="{FF2B5EF4-FFF2-40B4-BE49-F238E27FC236}">
                        <a16:creationId xmlns:a16="http://schemas.microsoft.com/office/drawing/2014/main" id="{6F9523AF-2AE9-95DC-C242-DD9D07EF0956}"/>
                      </a:ext>
                    </a:extLst>
                  </p:cNvPr>
                  <p:cNvSpPr txBox="1">
                    <a:spLocks noRot="1" noChangeAspect="1" noMove="1" noResize="1" noEditPoints="1" noAdjustHandles="1" noChangeArrowheads="1" noChangeShapeType="1" noTextEdit="1"/>
                  </p:cNvSpPr>
                  <p:nvPr/>
                </p:nvSpPr>
                <p:spPr>
                  <a:xfrm>
                    <a:off x="1917400" y="2957489"/>
                    <a:ext cx="887076" cy="361894"/>
                  </a:xfrm>
                  <a:prstGeom prst="rect">
                    <a:avLst/>
                  </a:prstGeom>
                  <a:blipFill>
                    <a:blip r:embed="rId6"/>
                    <a:stretch>
                      <a:fillRect r="-35106" b="-43182"/>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2C74E3A1-FB89-7FC4-8ACD-823D7F2278D2}"/>
                  </a:ext>
                </a:extLst>
              </p:cNvPr>
              <p:cNvSpPr/>
              <p:nvPr/>
            </p:nvSpPr>
            <p:spPr>
              <a:xfrm>
                <a:off x="2829122" y="4811675"/>
                <a:ext cx="57898" cy="732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F4B80FD9-96C1-65D2-8F43-8EF6E6318D97}"/>
                  </a:ext>
                </a:extLst>
              </p:cNvPr>
              <p:cNvSpPr/>
              <p:nvPr/>
            </p:nvSpPr>
            <p:spPr>
              <a:xfrm>
                <a:off x="2845595" y="3220267"/>
                <a:ext cx="57898" cy="732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69CF132D-B5F4-19F9-5E39-B3A5B0AAB95F}"/>
                  </a:ext>
                </a:extLst>
              </p:cNvPr>
              <p:cNvCxnSpPr>
                <a:cxnSpLocks/>
              </p:cNvCxnSpPr>
              <p:nvPr/>
            </p:nvCxnSpPr>
            <p:spPr>
              <a:xfrm>
                <a:off x="2936830" y="3256910"/>
                <a:ext cx="2721191"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DFB900F8-B54D-FB9A-7A73-7F7F2D355671}"/>
                  </a:ext>
                </a:extLst>
              </p:cNvPr>
              <p:cNvSpPr/>
              <p:nvPr/>
            </p:nvSpPr>
            <p:spPr>
              <a:xfrm>
                <a:off x="2829121" y="3424541"/>
                <a:ext cx="57898" cy="732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E9052D5-5102-366C-7215-52A30C350EF2}"/>
                    </a:ext>
                  </a:extLst>
                </p:cNvPr>
                <p:cNvSpPr txBox="1"/>
                <p:nvPr/>
              </p:nvSpPr>
              <p:spPr>
                <a:xfrm>
                  <a:off x="6581313" y="1725530"/>
                  <a:ext cx="395603" cy="3499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chemeClr val="accent1">
                                    <a:lumMod val="50000"/>
                                  </a:schemeClr>
                                </a:solidFill>
                                <a:latin typeface="Cambria Math" panose="02040503050406030204" pitchFamily="18" charset="0"/>
                              </a:rPr>
                            </m:ctrlPr>
                          </m:sSubPr>
                          <m:e>
                            <m:r>
                              <a:rPr lang="en-US" sz="1600" b="1" i="1" smtClean="0">
                                <a:solidFill>
                                  <a:schemeClr val="accent1">
                                    <a:lumMod val="50000"/>
                                  </a:schemeClr>
                                </a:solidFill>
                                <a:latin typeface="Cambria Math" panose="02040503050406030204" pitchFamily="18" charset="0"/>
                              </a:rPr>
                              <m:t>𝑰</m:t>
                            </m:r>
                          </m:e>
                          <m:sub>
                            <m:r>
                              <a:rPr lang="en-US" sz="1600" b="1" i="1" smtClean="0">
                                <a:solidFill>
                                  <a:schemeClr val="accent1">
                                    <a:lumMod val="50000"/>
                                  </a:schemeClr>
                                </a:solidFill>
                                <a:latin typeface="Cambria Math" panose="02040503050406030204" pitchFamily="18" charset="0"/>
                              </a:rPr>
                              <m:t>𝑪𝑪</m:t>
                            </m:r>
                          </m:sub>
                        </m:sSub>
                      </m:oMath>
                    </m:oMathPara>
                  </a14:m>
                  <a:endParaRPr lang="en-US" sz="1600" b="1">
                    <a:solidFill>
                      <a:schemeClr val="accent1">
                        <a:lumMod val="50000"/>
                      </a:schemeClr>
                    </a:solidFill>
                  </a:endParaRPr>
                </a:p>
              </p:txBody>
            </p:sp>
          </mc:Choice>
          <mc:Fallback xmlns="">
            <p:sp>
              <p:nvSpPr>
                <p:cNvPr id="24" name="TextBox 23">
                  <a:extLst>
                    <a:ext uri="{FF2B5EF4-FFF2-40B4-BE49-F238E27FC236}">
                      <a16:creationId xmlns:a16="http://schemas.microsoft.com/office/drawing/2014/main" id="{9E9052D5-5102-366C-7215-52A30C350EF2}"/>
                    </a:ext>
                  </a:extLst>
                </p:cNvPr>
                <p:cNvSpPr txBox="1">
                  <a:spLocks noRot="1" noChangeAspect="1" noMove="1" noResize="1" noEditPoints="1" noAdjustHandles="1" noChangeArrowheads="1" noChangeShapeType="1" noTextEdit="1"/>
                </p:cNvSpPr>
                <p:nvPr/>
              </p:nvSpPr>
              <p:spPr>
                <a:xfrm>
                  <a:off x="6581313" y="1725530"/>
                  <a:ext cx="395603" cy="349964"/>
                </a:xfrm>
                <a:prstGeom prst="rect">
                  <a:avLst/>
                </a:prstGeom>
                <a:blipFill>
                  <a:blip r:embed="rId7"/>
                  <a:stretch>
                    <a:fillRect r="-19298"/>
                  </a:stretch>
                </a:blipFill>
              </p:spPr>
              <p:txBody>
                <a:bodyPr/>
                <a:lstStyle/>
                <a:p>
                  <a:r>
                    <a:rPr lang="en-US">
                      <a:noFill/>
                    </a:rPr>
                    <a:t> </a:t>
                  </a:r>
                </a:p>
              </p:txBody>
            </p:sp>
          </mc:Fallback>
        </mc:AlternateContent>
      </p:grpSp>
      <p:pic>
        <p:nvPicPr>
          <p:cNvPr id="26" name="Picture 25">
            <a:extLst>
              <a:ext uri="{FF2B5EF4-FFF2-40B4-BE49-F238E27FC236}">
                <a16:creationId xmlns:a16="http://schemas.microsoft.com/office/drawing/2014/main" id="{AC42C7D2-AF97-655C-45A6-94DD2CE1EA41}"/>
              </a:ext>
            </a:extLst>
          </p:cNvPr>
          <p:cNvPicPr>
            <a:picLocks noChangeAspect="1"/>
          </p:cNvPicPr>
          <p:nvPr/>
        </p:nvPicPr>
        <p:blipFill>
          <a:blip r:embed="rId4"/>
          <a:srcRect l="32302" r="17384" b="14372"/>
          <a:stretch/>
        </p:blipFill>
        <p:spPr>
          <a:xfrm>
            <a:off x="8416377" y="4031867"/>
            <a:ext cx="1224298" cy="1523814"/>
          </a:xfrm>
          <a:prstGeom prst="rect">
            <a:avLst/>
          </a:prstGeom>
        </p:spPr>
      </p:pic>
      <p:sp>
        <p:nvSpPr>
          <p:cNvPr id="28" name="Rectangle 27">
            <a:extLst>
              <a:ext uri="{FF2B5EF4-FFF2-40B4-BE49-F238E27FC236}">
                <a16:creationId xmlns:a16="http://schemas.microsoft.com/office/drawing/2014/main" id="{66467564-AE0F-5D68-964A-410B7D919C89}"/>
              </a:ext>
            </a:extLst>
          </p:cNvPr>
          <p:cNvSpPr/>
          <p:nvPr/>
        </p:nvSpPr>
        <p:spPr>
          <a:xfrm>
            <a:off x="6393059" y="2022163"/>
            <a:ext cx="276225" cy="944891"/>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DFCE4397-8CDA-651E-0EFD-F3A3877BEFB4}"/>
              </a:ext>
            </a:extLst>
          </p:cNvPr>
          <p:cNvSpPr txBox="1"/>
          <p:nvPr/>
        </p:nvSpPr>
        <p:spPr>
          <a:xfrm>
            <a:off x="5519286" y="2340719"/>
            <a:ext cx="830747" cy="307777"/>
          </a:xfrm>
          <a:prstGeom prst="rect">
            <a:avLst/>
          </a:prstGeom>
          <a:noFill/>
        </p:spPr>
        <p:txBody>
          <a:bodyPr wrap="square">
            <a:spAutoFit/>
          </a:bodyPr>
          <a:lstStyle/>
          <a:p>
            <a:r>
              <a:rPr lang="en-US" sz="1400">
                <a:solidFill>
                  <a:srgbClr val="FF0000"/>
                </a:solidFill>
              </a:rPr>
              <a:t>Battery </a:t>
            </a:r>
          </a:p>
        </p:txBody>
      </p:sp>
      <p:cxnSp>
        <p:nvCxnSpPr>
          <p:cNvPr id="32" name="Straight Connector 31">
            <a:extLst>
              <a:ext uri="{FF2B5EF4-FFF2-40B4-BE49-F238E27FC236}">
                <a16:creationId xmlns:a16="http://schemas.microsoft.com/office/drawing/2014/main" id="{C8DC615E-8B42-7112-6EB8-F80CB0D73B1D}"/>
              </a:ext>
            </a:extLst>
          </p:cNvPr>
          <p:cNvCxnSpPr>
            <a:cxnSpLocks/>
          </p:cNvCxnSpPr>
          <p:nvPr/>
        </p:nvCxnSpPr>
        <p:spPr>
          <a:xfrm>
            <a:off x="7666769" y="4254977"/>
            <a:ext cx="752662"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6317BE0-F252-7F7D-637E-CB11E2E03342}"/>
              </a:ext>
            </a:extLst>
          </p:cNvPr>
          <p:cNvCxnSpPr>
            <a:cxnSpLocks/>
          </p:cNvCxnSpPr>
          <p:nvPr/>
        </p:nvCxnSpPr>
        <p:spPr>
          <a:xfrm>
            <a:off x="7674389" y="5456034"/>
            <a:ext cx="752662"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7CF2599-BA78-DD81-6409-4125CC21C30B}"/>
              </a:ext>
            </a:extLst>
          </p:cNvPr>
          <p:cNvCxnSpPr>
            <a:cxnSpLocks/>
          </p:cNvCxnSpPr>
          <p:nvPr/>
        </p:nvCxnSpPr>
        <p:spPr>
          <a:xfrm>
            <a:off x="7669626" y="4251168"/>
            <a:ext cx="0" cy="1209629"/>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pic>
        <p:nvPicPr>
          <p:cNvPr id="42" name="Picture 41">
            <a:extLst>
              <a:ext uri="{FF2B5EF4-FFF2-40B4-BE49-F238E27FC236}">
                <a16:creationId xmlns:a16="http://schemas.microsoft.com/office/drawing/2014/main" id="{6825E102-9AFE-7FE6-1C76-EBBDA47C89E1}"/>
              </a:ext>
            </a:extLst>
          </p:cNvPr>
          <p:cNvPicPr>
            <a:picLocks noChangeAspect="1"/>
          </p:cNvPicPr>
          <p:nvPr/>
        </p:nvPicPr>
        <p:blipFill>
          <a:blip r:embed="rId8"/>
          <a:srcRect l="10431" t="8210" r="7165" b="3918"/>
          <a:stretch/>
        </p:blipFill>
        <p:spPr>
          <a:xfrm>
            <a:off x="7981086" y="5240531"/>
            <a:ext cx="438149" cy="440531"/>
          </a:xfrm>
          <a:prstGeom prst="rect">
            <a:avLst/>
          </a:prstGeom>
        </p:spPr>
      </p:pic>
      <p:pic>
        <p:nvPicPr>
          <p:cNvPr id="43" name="Picture 42">
            <a:extLst>
              <a:ext uri="{FF2B5EF4-FFF2-40B4-BE49-F238E27FC236}">
                <a16:creationId xmlns:a16="http://schemas.microsoft.com/office/drawing/2014/main" id="{132C5421-4355-8B3E-ACDA-D0A53E3EC37D}"/>
              </a:ext>
            </a:extLst>
          </p:cNvPr>
          <p:cNvPicPr>
            <a:picLocks noChangeAspect="1"/>
          </p:cNvPicPr>
          <p:nvPr/>
        </p:nvPicPr>
        <p:blipFill>
          <a:blip r:embed="rId8"/>
          <a:srcRect l="10431" t="8210" r="7165" b="3918"/>
          <a:stretch/>
        </p:blipFill>
        <p:spPr>
          <a:xfrm>
            <a:off x="7457276" y="4490104"/>
            <a:ext cx="438149" cy="440531"/>
          </a:xfrm>
          <a:prstGeom prst="rect">
            <a:avLst/>
          </a:prstGeom>
        </p:spPr>
      </p:pic>
      <p:sp>
        <p:nvSpPr>
          <p:cNvPr id="45" name="TextBox 44">
            <a:extLst>
              <a:ext uri="{FF2B5EF4-FFF2-40B4-BE49-F238E27FC236}">
                <a16:creationId xmlns:a16="http://schemas.microsoft.com/office/drawing/2014/main" id="{21478066-A5EE-C22E-D6BD-76912B3C58D8}"/>
              </a:ext>
            </a:extLst>
          </p:cNvPr>
          <p:cNvSpPr txBox="1"/>
          <p:nvPr/>
        </p:nvSpPr>
        <p:spPr>
          <a:xfrm>
            <a:off x="8146397" y="5279818"/>
            <a:ext cx="346155" cy="338554"/>
          </a:xfrm>
          <a:prstGeom prst="rect">
            <a:avLst/>
          </a:prstGeom>
          <a:noFill/>
        </p:spPr>
        <p:txBody>
          <a:bodyPr wrap="square">
            <a:spAutoFit/>
          </a:bodyPr>
          <a:lstStyle/>
          <a:p>
            <a:r>
              <a:rPr lang="en-US" sz="1600" b="1"/>
              <a:t>+</a:t>
            </a:r>
          </a:p>
        </p:txBody>
      </p:sp>
      <p:sp>
        <p:nvSpPr>
          <p:cNvPr id="46" name="TextBox 45">
            <a:extLst>
              <a:ext uri="{FF2B5EF4-FFF2-40B4-BE49-F238E27FC236}">
                <a16:creationId xmlns:a16="http://schemas.microsoft.com/office/drawing/2014/main" id="{1AB61F8E-1ABB-749E-1069-6D5631C7AD81}"/>
              </a:ext>
            </a:extLst>
          </p:cNvPr>
          <p:cNvSpPr txBox="1"/>
          <p:nvPr/>
        </p:nvSpPr>
        <p:spPr>
          <a:xfrm>
            <a:off x="7522322" y="4472627"/>
            <a:ext cx="346155" cy="338554"/>
          </a:xfrm>
          <a:prstGeom prst="rect">
            <a:avLst/>
          </a:prstGeom>
          <a:noFill/>
        </p:spPr>
        <p:txBody>
          <a:bodyPr wrap="square">
            <a:spAutoFit/>
          </a:bodyPr>
          <a:lstStyle/>
          <a:p>
            <a:r>
              <a:rPr lang="en-US" sz="1600" b="1"/>
              <a:t>+</a:t>
            </a:r>
          </a:p>
        </p:txBody>
      </p:sp>
      <p:sp>
        <p:nvSpPr>
          <p:cNvPr id="47" name="TextBox 46">
            <a:extLst>
              <a:ext uri="{FF2B5EF4-FFF2-40B4-BE49-F238E27FC236}">
                <a16:creationId xmlns:a16="http://schemas.microsoft.com/office/drawing/2014/main" id="{90C48430-F41A-8944-A120-E544216F0AC3}"/>
              </a:ext>
            </a:extLst>
          </p:cNvPr>
          <p:cNvSpPr txBox="1"/>
          <p:nvPr/>
        </p:nvSpPr>
        <p:spPr>
          <a:xfrm>
            <a:off x="7996212" y="5192033"/>
            <a:ext cx="346155" cy="338554"/>
          </a:xfrm>
          <a:prstGeom prst="rect">
            <a:avLst/>
          </a:prstGeom>
          <a:noFill/>
        </p:spPr>
        <p:txBody>
          <a:bodyPr wrap="square">
            <a:spAutoFit/>
          </a:bodyPr>
          <a:lstStyle/>
          <a:p>
            <a:r>
              <a:rPr lang="en-US" sz="1600" b="1"/>
              <a:t>_</a:t>
            </a:r>
          </a:p>
        </p:txBody>
      </p:sp>
      <p:sp>
        <p:nvSpPr>
          <p:cNvPr id="48" name="TextBox 47">
            <a:extLst>
              <a:ext uri="{FF2B5EF4-FFF2-40B4-BE49-F238E27FC236}">
                <a16:creationId xmlns:a16="http://schemas.microsoft.com/office/drawing/2014/main" id="{2821F017-DC90-0721-3CB2-22C4BFCD5E75}"/>
              </a:ext>
            </a:extLst>
          </p:cNvPr>
          <p:cNvSpPr txBox="1"/>
          <p:nvPr/>
        </p:nvSpPr>
        <p:spPr>
          <a:xfrm>
            <a:off x="7535796" y="4536751"/>
            <a:ext cx="346155" cy="338554"/>
          </a:xfrm>
          <a:prstGeom prst="rect">
            <a:avLst/>
          </a:prstGeom>
          <a:noFill/>
        </p:spPr>
        <p:txBody>
          <a:bodyPr wrap="square">
            <a:spAutoFit/>
          </a:bodyPr>
          <a:lstStyle/>
          <a:p>
            <a:r>
              <a:rPr lang="en-US" sz="1600" b="1"/>
              <a:t>_</a:t>
            </a: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7D02115C-B51A-7C98-CFA9-B5E65AB8A3A2}"/>
                  </a:ext>
                </a:extLst>
              </p:cNvPr>
              <p:cNvSpPr txBox="1"/>
              <p:nvPr/>
            </p:nvSpPr>
            <p:spPr>
              <a:xfrm>
                <a:off x="6996113" y="4546276"/>
                <a:ext cx="579410" cy="2923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300" b="1" i="1" smtClean="0">
                          <a:latin typeface="Cambria Math" panose="02040503050406030204" pitchFamily="18" charset="0"/>
                        </a:rPr>
                        <m:t>𝑽</m:t>
                      </m:r>
                      <m:d>
                        <m:dPr>
                          <m:ctrlPr>
                            <a:rPr lang="en-US" sz="1300" b="1" i="1" smtClean="0">
                              <a:latin typeface="Cambria Math" panose="02040503050406030204" pitchFamily="18" charset="0"/>
                            </a:rPr>
                          </m:ctrlPr>
                        </m:dPr>
                        <m:e>
                          <m:r>
                            <a:rPr lang="en-US" sz="1300" b="1" i="1" smtClean="0">
                              <a:latin typeface="Cambria Math" panose="02040503050406030204" pitchFamily="18" charset="0"/>
                            </a:rPr>
                            <m:t>𝒔</m:t>
                          </m:r>
                        </m:e>
                      </m:d>
                    </m:oMath>
                  </m:oMathPara>
                </a14:m>
                <a:endParaRPr lang="en-US" sz="1300" b="1"/>
              </a:p>
            </p:txBody>
          </p:sp>
        </mc:Choice>
        <mc:Fallback xmlns="">
          <p:sp>
            <p:nvSpPr>
              <p:cNvPr id="49" name="TextBox 48">
                <a:extLst>
                  <a:ext uri="{FF2B5EF4-FFF2-40B4-BE49-F238E27FC236}">
                    <a16:creationId xmlns:a16="http://schemas.microsoft.com/office/drawing/2014/main" id="{7D02115C-B51A-7C98-CFA9-B5E65AB8A3A2}"/>
                  </a:ext>
                </a:extLst>
              </p:cNvPr>
              <p:cNvSpPr txBox="1">
                <a:spLocks noRot="1" noChangeAspect="1" noMove="1" noResize="1" noEditPoints="1" noAdjustHandles="1" noChangeArrowheads="1" noChangeShapeType="1" noTextEdit="1"/>
              </p:cNvSpPr>
              <p:nvPr/>
            </p:nvSpPr>
            <p:spPr>
              <a:xfrm>
                <a:off x="6996113" y="4546276"/>
                <a:ext cx="579410" cy="292388"/>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47A0D5A5-CAE2-EFD7-0F5C-F08AF3D56F32}"/>
                  </a:ext>
                </a:extLst>
              </p:cNvPr>
              <p:cNvSpPr txBox="1"/>
              <p:nvPr/>
            </p:nvSpPr>
            <p:spPr>
              <a:xfrm>
                <a:off x="7823829" y="4936915"/>
                <a:ext cx="752661" cy="2923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300" b="1" i="1" smtClean="0">
                          <a:latin typeface="Cambria Math" panose="02040503050406030204" pitchFamily="18" charset="0"/>
                        </a:rPr>
                        <m:t>𝑶𝑪𝑽</m:t>
                      </m:r>
                      <m:r>
                        <a:rPr lang="en-US" sz="1300" b="1" i="1" smtClean="0">
                          <a:latin typeface="Cambria Math" panose="02040503050406030204" pitchFamily="18" charset="0"/>
                        </a:rPr>
                        <m:t>/</m:t>
                      </m:r>
                      <m:r>
                        <a:rPr lang="en-US" sz="1300" b="1" i="1" smtClean="0">
                          <a:latin typeface="Cambria Math" panose="02040503050406030204" pitchFamily="18" charset="0"/>
                        </a:rPr>
                        <m:t>𝒔</m:t>
                      </m:r>
                    </m:oMath>
                  </m:oMathPara>
                </a14:m>
                <a:endParaRPr lang="en-US" sz="1300" b="1"/>
              </a:p>
            </p:txBody>
          </p:sp>
        </mc:Choice>
        <mc:Fallback xmlns="">
          <p:sp>
            <p:nvSpPr>
              <p:cNvPr id="50" name="TextBox 49">
                <a:extLst>
                  <a:ext uri="{FF2B5EF4-FFF2-40B4-BE49-F238E27FC236}">
                    <a16:creationId xmlns:a16="http://schemas.microsoft.com/office/drawing/2014/main" id="{47A0D5A5-CAE2-EFD7-0F5C-F08AF3D56F32}"/>
                  </a:ext>
                </a:extLst>
              </p:cNvPr>
              <p:cNvSpPr txBox="1">
                <a:spLocks noRot="1" noChangeAspect="1" noMove="1" noResize="1" noEditPoints="1" noAdjustHandles="1" noChangeArrowheads="1" noChangeShapeType="1" noTextEdit="1"/>
              </p:cNvSpPr>
              <p:nvPr/>
            </p:nvSpPr>
            <p:spPr>
              <a:xfrm>
                <a:off x="7823829" y="4936915"/>
                <a:ext cx="752661" cy="292388"/>
              </a:xfrm>
              <a:prstGeom prst="rect">
                <a:avLst/>
              </a:prstGeom>
              <a:blipFill>
                <a:blip r:embed="rId10"/>
                <a:stretch>
                  <a:fillRect b="-8333"/>
                </a:stretch>
              </a:blipFill>
            </p:spPr>
            <p:txBody>
              <a:bodyPr/>
              <a:lstStyle/>
              <a:p>
                <a:r>
                  <a:rPr lang="en-US">
                    <a:noFill/>
                  </a:rPr>
                  <a:t> </a:t>
                </a:r>
              </a:p>
            </p:txBody>
          </p:sp>
        </mc:Fallback>
      </mc:AlternateContent>
      <p:pic>
        <p:nvPicPr>
          <p:cNvPr id="53" name="Picture 52">
            <a:extLst>
              <a:ext uri="{FF2B5EF4-FFF2-40B4-BE49-F238E27FC236}">
                <a16:creationId xmlns:a16="http://schemas.microsoft.com/office/drawing/2014/main" id="{3C954A98-7CF9-7A7C-95FA-F91C68643E8B}"/>
              </a:ext>
            </a:extLst>
          </p:cNvPr>
          <p:cNvPicPr>
            <a:picLocks noChangeAspect="1"/>
          </p:cNvPicPr>
          <p:nvPr/>
        </p:nvPicPr>
        <p:blipFill>
          <a:blip r:embed="rId11"/>
          <a:stretch>
            <a:fillRect/>
          </a:stretch>
        </p:blipFill>
        <p:spPr>
          <a:xfrm>
            <a:off x="8778783" y="4069967"/>
            <a:ext cx="276264" cy="163422"/>
          </a:xfrm>
          <a:prstGeom prst="rect">
            <a:avLst/>
          </a:prstGeom>
        </p:spPr>
      </p:pic>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025E212E-784E-A868-6191-9649DE6C1DB7}"/>
                  </a:ext>
                </a:extLst>
              </p:cNvPr>
              <p:cNvSpPr txBox="1"/>
              <p:nvPr/>
            </p:nvSpPr>
            <p:spPr>
              <a:xfrm>
                <a:off x="8750504" y="3941001"/>
                <a:ext cx="579410" cy="2923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300" b="1" i="1" smtClean="0">
                              <a:latin typeface="Cambria Math" panose="02040503050406030204" pitchFamily="18" charset="0"/>
                            </a:rPr>
                          </m:ctrlPr>
                        </m:sSubPr>
                        <m:e>
                          <m:r>
                            <a:rPr lang="en-US" sz="1300" b="1" i="1" smtClean="0">
                              <a:latin typeface="Cambria Math" panose="02040503050406030204" pitchFamily="18" charset="0"/>
                            </a:rPr>
                            <m:t>𝑰</m:t>
                          </m:r>
                        </m:e>
                        <m:sub>
                          <m:r>
                            <a:rPr lang="en-US" sz="1300" b="1" i="1" smtClean="0">
                              <a:latin typeface="Cambria Math" panose="02040503050406030204" pitchFamily="18" charset="0"/>
                            </a:rPr>
                            <m:t>𝟎</m:t>
                          </m:r>
                        </m:sub>
                      </m:sSub>
                      <m:r>
                        <a:rPr lang="en-US" sz="1300" b="1" i="1" smtClean="0">
                          <a:latin typeface="Cambria Math" panose="02040503050406030204" pitchFamily="18" charset="0"/>
                        </a:rPr>
                        <m:t>/</m:t>
                      </m:r>
                      <m:r>
                        <a:rPr lang="en-US" sz="1300" b="1" i="1" smtClean="0">
                          <a:latin typeface="Cambria Math" panose="02040503050406030204" pitchFamily="18" charset="0"/>
                        </a:rPr>
                        <m:t>𝒔</m:t>
                      </m:r>
                    </m:oMath>
                  </m:oMathPara>
                </a14:m>
                <a:endParaRPr lang="en-US" sz="1300" b="1"/>
              </a:p>
            </p:txBody>
          </p:sp>
        </mc:Choice>
        <mc:Fallback xmlns="">
          <p:sp>
            <p:nvSpPr>
              <p:cNvPr id="51" name="TextBox 50">
                <a:extLst>
                  <a:ext uri="{FF2B5EF4-FFF2-40B4-BE49-F238E27FC236}">
                    <a16:creationId xmlns:a16="http://schemas.microsoft.com/office/drawing/2014/main" id="{025E212E-784E-A868-6191-9649DE6C1DB7}"/>
                  </a:ext>
                </a:extLst>
              </p:cNvPr>
              <p:cNvSpPr txBox="1">
                <a:spLocks noRot="1" noChangeAspect="1" noMove="1" noResize="1" noEditPoints="1" noAdjustHandles="1" noChangeArrowheads="1" noChangeShapeType="1" noTextEdit="1"/>
              </p:cNvSpPr>
              <p:nvPr/>
            </p:nvSpPr>
            <p:spPr>
              <a:xfrm>
                <a:off x="8750504" y="3941001"/>
                <a:ext cx="579410" cy="292388"/>
              </a:xfrm>
              <a:prstGeom prst="rect">
                <a:avLst/>
              </a:prstGeom>
              <a:blipFill>
                <a:blip r:embed="rId12"/>
                <a:stretch>
                  <a:fillRect b="-10417"/>
                </a:stretch>
              </a:blipFill>
            </p:spPr>
            <p:txBody>
              <a:bodyPr/>
              <a:lstStyle/>
              <a:p>
                <a:r>
                  <a:rPr lang="en-US">
                    <a:noFill/>
                  </a:rPr>
                  <a:t> </a:t>
                </a:r>
              </a:p>
            </p:txBody>
          </p:sp>
        </mc:Fallback>
      </mc:AlternateContent>
      <p:pic>
        <p:nvPicPr>
          <p:cNvPr id="55" name="Picture 54">
            <a:extLst>
              <a:ext uri="{FF2B5EF4-FFF2-40B4-BE49-F238E27FC236}">
                <a16:creationId xmlns:a16="http://schemas.microsoft.com/office/drawing/2014/main" id="{9EBCAF5A-340D-2F8D-F36E-46D5D1E4D78C}"/>
              </a:ext>
            </a:extLst>
          </p:cNvPr>
          <p:cNvPicPr>
            <a:picLocks noChangeAspect="1"/>
          </p:cNvPicPr>
          <p:nvPr/>
        </p:nvPicPr>
        <p:blipFill>
          <a:blip r:embed="rId13"/>
          <a:stretch>
            <a:fillRect/>
          </a:stretch>
        </p:blipFill>
        <p:spPr>
          <a:xfrm>
            <a:off x="9028526" y="4946046"/>
            <a:ext cx="190527" cy="266737"/>
          </a:xfrm>
          <a:prstGeom prst="rect">
            <a:avLst/>
          </a:prstGeom>
        </p:spPr>
      </p:pic>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6C3354D9-8DFE-4FE3-4E29-A54A6B870462}"/>
                  </a:ext>
                </a:extLst>
              </p:cNvPr>
              <p:cNvSpPr txBox="1"/>
              <p:nvPr/>
            </p:nvSpPr>
            <p:spPr>
              <a:xfrm>
                <a:off x="8792709" y="4793774"/>
                <a:ext cx="579410" cy="4668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300" b="1" i="1" smtClean="0">
                              <a:latin typeface="Cambria Math" panose="02040503050406030204" pitchFamily="18" charset="0"/>
                            </a:rPr>
                          </m:ctrlPr>
                        </m:fPr>
                        <m:num>
                          <m:r>
                            <a:rPr lang="en-US" sz="1300" b="1" i="1" smtClean="0">
                              <a:latin typeface="Cambria Math" panose="02040503050406030204" pitchFamily="18" charset="0"/>
                            </a:rPr>
                            <m:t>𝟏</m:t>
                          </m:r>
                        </m:num>
                        <m:den>
                          <m:r>
                            <a:rPr lang="en-US" sz="1300" b="1" i="1" smtClean="0">
                              <a:latin typeface="Cambria Math" panose="02040503050406030204" pitchFamily="18" charset="0"/>
                            </a:rPr>
                            <m:t>𝒔𝑪</m:t>
                          </m:r>
                        </m:den>
                      </m:f>
                    </m:oMath>
                  </m:oMathPara>
                </a14:m>
                <a:endParaRPr lang="en-US" sz="1300" b="1"/>
              </a:p>
            </p:txBody>
          </p:sp>
        </mc:Choice>
        <mc:Fallback xmlns="">
          <p:sp>
            <p:nvSpPr>
              <p:cNvPr id="56" name="TextBox 55">
                <a:extLst>
                  <a:ext uri="{FF2B5EF4-FFF2-40B4-BE49-F238E27FC236}">
                    <a16:creationId xmlns:a16="http://schemas.microsoft.com/office/drawing/2014/main" id="{6C3354D9-8DFE-4FE3-4E29-A54A6B870462}"/>
                  </a:ext>
                </a:extLst>
              </p:cNvPr>
              <p:cNvSpPr txBox="1">
                <a:spLocks noRot="1" noChangeAspect="1" noMove="1" noResize="1" noEditPoints="1" noAdjustHandles="1" noChangeArrowheads="1" noChangeShapeType="1" noTextEdit="1"/>
              </p:cNvSpPr>
              <p:nvPr/>
            </p:nvSpPr>
            <p:spPr>
              <a:xfrm>
                <a:off x="8792709" y="4793774"/>
                <a:ext cx="579410" cy="466859"/>
              </a:xfrm>
              <a:prstGeom prst="rect">
                <a:avLst/>
              </a:prstGeom>
              <a:blipFill>
                <a:blip r:embed="rId14"/>
                <a:stretch>
                  <a:fillRect b="-1299"/>
                </a:stretch>
              </a:blipFill>
            </p:spPr>
            <p:txBody>
              <a:bodyPr/>
              <a:lstStyle/>
              <a:p>
                <a:r>
                  <a:rPr lang="en-US">
                    <a:noFill/>
                  </a:rPr>
                  <a:t> </a:t>
                </a:r>
              </a:p>
            </p:txBody>
          </p:sp>
        </mc:Fallback>
      </mc:AlternateContent>
      <p:sp>
        <p:nvSpPr>
          <p:cNvPr id="57" name="Rectangle 56">
            <a:extLst>
              <a:ext uri="{FF2B5EF4-FFF2-40B4-BE49-F238E27FC236}">
                <a16:creationId xmlns:a16="http://schemas.microsoft.com/office/drawing/2014/main" id="{FE327160-24B0-669A-AB82-D231D61ABE5E}"/>
              </a:ext>
            </a:extLst>
          </p:cNvPr>
          <p:cNvSpPr/>
          <p:nvPr/>
        </p:nvSpPr>
        <p:spPr>
          <a:xfrm flipH="1">
            <a:off x="1115426" y="3814571"/>
            <a:ext cx="3629561" cy="452662"/>
          </a:xfrm>
          <a:prstGeom prst="rect">
            <a:avLst/>
          </a:prstGeom>
          <a:noFill/>
          <a:ln w="1905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B6470795-7A70-70D5-65FD-45CF5A6B7C00}"/>
              </a:ext>
            </a:extLst>
          </p:cNvPr>
          <p:cNvSpPr/>
          <p:nvPr/>
        </p:nvSpPr>
        <p:spPr>
          <a:xfrm flipH="1">
            <a:off x="1099205" y="5864097"/>
            <a:ext cx="5177769" cy="452662"/>
          </a:xfrm>
          <a:prstGeom prst="rect">
            <a:avLst/>
          </a:prstGeom>
          <a:noFill/>
          <a:ln w="1905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4A55B96B-2212-083D-09BC-984EEF01692D}"/>
              </a:ext>
            </a:extLst>
          </p:cNvPr>
          <p:cNvSpPr/>
          <p:nvPr/>
        </p:nvSpPr>
        <p:spPr>
          <a:xfrm flipH="1">
            <a:off x="1117840" y="4813218"/>
            <a:ext cx="5566813" cy="605324"/>
          </a:xfrm>
          <a:prstGeom prst="rect">
            <a:avLst/>
          </a:prstGeom>
          <a:noFill/>
          <a:ln w="1905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F729CC3-95EF-9379-24C2-B1BECC1510BE}"/>
              </a:ext>
            </a:extLst>
          </p:cNvPr>
          <p:cNvSpPr txBox="1"/>
          <p:nvPr/>
        </p:nvSpPr>
        <p:spPr>
          <a:xfrm>
            <a:off x="7302167" y="5794765"/>
            <a:ext cx="2434444" cy="307777"/>
          </a:xfrm>
          <a:prstGeom prst="rect">
            <a:avLst/>
          </a:prstGeom>
          <a:noFill/>
        </p:spPr>
        <p:txBody>
          <a:bodyPr wrap="square">
            <a:spAutoFit/>
          </a:bodyPr>
          <a:lstStyle/>
          <a:p>
            <a:r>
              <a:rPr lang="en-US" sz="1400"/>
              <a:t>H4 : Mạch sau chuyển mạch </a:t>
            </a:r>
          </a:p>
        </p:txBody>
      </p:sp>
    </p:spTree>
    <p:extLst>
      <p:ext uri="{BB962C8B-B14F-4D97-AF65-F5344CB8AC3E}">
        <p14:creationId xmlns:p14="http://schemas.microsoft.com/office/powerpoint/2010/main" val="914200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FE0F4-7B0E-2B64-BE02-9A09E84329C1}"/>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561CA899-8AB8-48BD-556B-45012F491517}"/>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7</a:t>
            </a:fld>
            <a:r>
              <a:rPr lang="en-US"/>
              <a:t> 	</a:t>
            </a:r>
          </a:p>
        </p:txBody>
      </p:sp>
      <p:sp>
        <p:nvSpPr>
          <p:cNvPr id="20" name="Date Placeholder 3">
            <a:extLst>
              <a:ext uri="{FF2B5EF4-FFF2-40B4-BE49-F238E27FC236}">
                <a16:creationId xmlns:a16="http://schemas.microsoft.com/office/drawing/2014/main" id="{1750A00F-1106-16BB-AC5F-A2A1DB8533E5}"/>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3/21/2025</a:t>
            </a:fld>
            <a:endParaRPr lang="en-US"/>
          </a:p>
        </p:txBody>
      </p:sp>
      <p:sp>
        <p:nvSpPr>
          <p:cNvPr id="21" name="Footer Placeholder 5">
            <a:extLst>
              <a:ext uri="{FF2B5EF4-FFF2-40B4-BE49-F238E27FC236}">
                <a16:creationId xmlns:a16="http://schemas.microsoft.com/office/drawing/2014/main" id="{D8EAB24A-A446-94C9-271C-4BD27A7580CC}"/>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5" name="Title 4">
            <a:extLst>
              <a:ext uri="{FF2B5EF4-FFF2-40B4-BE49-F238E27FC236}">
                <a16:creationId xmlns:a16="http://schemas.microsoft.com/office/drawing/2014/main" id="{610D02D3-0522-7E8F-7432-E6880C09831B}"/>
              </a:ext>
            </a:extLst>
          </p:cNvPr>
          <p:cNvSpPr>
            <a:spLocks noGrp="1"/>
          </p:cNvSpPr>
          <p:nvPr>
            <p:ph type="title"/>
          </p:nvPr>
        </p:nvSpPr>
        <p:spPr>
          <a:xfrm>
            <a:off x="466887" y="89570"/>
            <a:ext cx="9766931" cy="548731"/>
          </a:xfrm>
        </p:spPr>
        <p:txBody>
          <a:bodyPr/>
          <a:lstStyle/>
          <a:p>
            <a:r>
              <a:rPr lang="en-US" sz="4000">
                <a:solidFill>
                  <a:srgbClr val="262626"/>
                </a:solidFill>
              </a:rPr>
              <a:t>Tổng quan về các phương pháp sạc</a:t>
            </a:r>
            <a:endParaRPr lang="en-US"/>
          </a:p>
        </p:txBody>
      </p:sp>
      <p:sp>
        <p:nvSpPr>
          <p:cNvPr id="2" name="TextBox 1">
            <a:extLst>
              <a:ext uri="{FF2B5EF4-FFF2-40B4-BE49-F238E27FC236}">
                <a16:creationId xmlns:a16="http://schemas.microsoft.com/office/drawing/2014/main" id="{AAAC23D6-BBF2-1058-29AB-02D82B3F9929}"/>
              </a:ext>
            </a:extLst>
          </p:cNvPr>
          <p:cNvSpPr txBox="1"/>
          <p:nvPr/>
        </p:nvSpPr>
        <p:spPr>
          <a:xfrm>
            <a:off x="160180" y="887139"/>
            <a:ext cx="7483494" cy="646331"/>
          </a:xfrm>
          <a:prstGeom prst="rect">
            <a:avLst/>
          </a:prstGeom>
          <a:noFill/>
        </p:spPr>
        <p:txBody>
          <a:bodyPr wrap="square">
            <a:spAutoFit/>
          </a:bodyPr>
          <a:lstStyle/>
          <a:p>
            <a:pPr marL="342900" indent="-342900">
              <a:buFont typeface="Wingdings" panose="05000000000000000000" pitchFamily="2" charset="2"/>
              <a:buChar char="q"/>
            </a:pPr>
            <a:r>
              <a:rPr lang="en-US" sz="3600">
                <a:solidFill>
                  <a:srgbClr val="262626"/>
                </a:solidFill>
              </a:rPr>
              <a:t>Phương pháp ổn dòng (CC)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0F230C7-20C2-31BB-ACE2-A67FA5F049EE}"/>
                  </a:ext>
                </a:extLst>
              </p:cNvPr>
              <p:cNvSpPr txBox="1"/>
              <p:nvPr/>
            </p:nvSpPr>
            <p:spPr>
              <a:xfrm>
                <a:off x="83980" y="1485214"/>
                <a:ext cx="9661840" cy="461665"/>
              </a:xfrm>
              <a:prstGeom prst="rect">
                <a:avLst/>
              </a:prstGeom>
              <a:noFill/>
            </p:spPr>
            <p:txBody>
              <a:bodyPr wrap="square">
                <a:spAutoFit/>
              </a:bodyPr>
              <a:lstStyle/>
              <a:p>
                <a:pPr marL="342900" indent="-342900">
                  <a:buFont typeface="Arial" panose="020B0604020202020204" pitchFamily="34" charset="0"/>
                  <a:buChar char="•"/>
                </a:pPr>
                <a:r>
                  <a:rPr lang="en-US" sz="2200" b="1">
                    <a:solidFill>
                      <a:srgbClr val="262626"/>
                    </a:solidFill>
                  </a:rPr>
                  <a:t>Nhận xét : </a:t>
                </a:r>
                <a:r>
                  <a:rPr lang="en-US" sz="2200">
                    <a:solidFill>
                      <a:srgbClr val="262626"/>
                    </a:solidFill>
                  </a:rPr>
                  <a:t>Hoạt động của Pin phụ thuộc nhiều vào dòng sạc CC</a:t>
                </a:r>
                <a14:m>
                  <m:oMath xmlns:m="http://schemas.openxmlformats.org/officeDocument/2006/math">
                    <m:sSub>
                      <m:sSubPr>
                        <m:ctrlPr>
                          <a:rPr lang="en-US" sz="2400" i="1">
                            <a:solidFill>
                              <a:srgbClr val="262626"/>
                            </a:solidFill>
                            <a:latin typeface="Cambria Math" panose="02040503050406030204" pitchFamily="18" charset="0"/>
                          </a:rPr>
                        </m:ctrlPr>
                      </m:sSubPr>
                      <m:e>
                        <m:r>
                          <a:rPr lang="en-US" sz="2400" b="0" i="1" smtClean="0">
                            <a:solidFill>
                              <a:srgbClr val="262626"/>
                            </a:solidFill>
                            <a:latin typeface="Cambria Math" panose="02040503050406030204" pitchFamily="18" charset="0"/>
                          </a:rPr>
                          <m:t> </m:t>
                        </m:r>
                        <m:r>
                          <a:rPr lang="en-US" sz="2400" i="1">
                            <a:solidFill>
                              <a:srgbClr val="262626"/>
                            </a:solidFill>
                            <a:latin typeface="Cambria Math" panose="02040503050406030204" pitchFamily="18" charset="0"/>
                          </a:rPr>
                          <m:t>𝐼</m:t>
                        </m:r>
                      </m:e>
                      <m:sub>
                        <m:r>
                          <a:rPr lang="en-US" sz="2400" i="1">
                            <a:solidFill>
                              <a:srgbClr val="262626"/>
                            </a:solidFill>
                            <a:latin typeface="Cambria Math" panose="02040503050406030204" pitchFamily="18" charset="0"/>
                          </a:rPr>
                          <m:t>𝐶𝐶</m:t>
                        </m:r>
                      </m:sub>
                    </m:sSub>
                  </m:oMath>
                </a14:m>
                <a:endParaRPr lang="en-US" sz="2000">
                  <a:solidFill>
                    <a:srgbClr val="262626"/>
                  </a:solidFill>
                </a:endParaRPr>
              </a:p>
            </p:txBody>
          </p:sp>
        </mc:Choice>
        <mc:Fallback xmlns="">
          <p:sp>
            <p:nvSpPr>
              <p:cNvPr id="3" name="TextBox 2">
                <a:extLst>
                  <a:ext uri="{FF2B5EF4-FFF2-40B4-BE49-F238E27FC236}">
                    <a16:creationId xmlns:a16="http://schemas.microsoft.com/office/drawing/2014/main" id="{40F230C7-20C2-31BB-ACE2-A67FA5F049EE}"/>
                  </a:ext>
                </a:extLst>
              </p:cNvPr>
              <p:cNvSpPr txBox="1">
                <a:spLocks noRot="1" noChangeAspect="1" noMove="1" noResize="1" noEditPoints="1" noAdjustHandles="1" noChangeArrowheads="1" noChangeShapeType="1" noTextEdit="1"/>
              </p:cNvSpPr>
              <p:nvPr/>
            </p:nvSpPr>
            <p:spPr>
              <a:xfrm>
                <a:off x="83980" y="1485214"/>
                <a:ext cx="9661840" cy="461665"/>
              </a:xfrm>
              <a:prstGeom prst="rect">
                <a:avLst/>
              </a:prstGeom>
              <a:blipFill>
                <a:blip r:embed="rId3"/>
                <a:stretch>
                  <a:fillRect l="-757" t="-4000" b="-25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AC4975EE-DFA3-E74C-324C-73C0198D2B76}"/>
                  </a:ext>
                </a:extLst>
              </p:cNvPr>
              <p:cNvGraphicFramePr>
                <a:graphicFrameLocks noGrp="1"/>
              </p:cNvGraphicFramePr>
              <p:nvPr>
                <p:extLst>
                  <p:ext uri="{D42A27DB-BD31-4B8C-83A1-F6EECF244321}">
                    <p14:modId xmlns:p14="http://schemas.microsoft.com/office/powerpoint/2010/main" val="4144924389"/>
                  </p:ext>
                </p:extLst>
              </p:nvPr>
            </p:nvGraphicFramePr>
            <p:xfrm>
              <a:off x="443074" y="2131546"/>
              <a:ext cx="8967624" cy="1900276"/>
            </p:xfrm>
            <a:graphic>
              <a:graphicData uri="http://schemas.openxmlformats.org/drawingml/2006/table">
                <a:tbl>
                  <a:tblPr firstRow="1" bandRow="1">
                    <a:tableStyleId>{5C22544A-7EE6-4342-B048-85BDC9FD1C3A}</a:tableStyleId>
                  </a:tblPr>
                  <a:tblGrid>
                    <a:gridCol w="1442876">
                      <a:extLst>
                        <a:ext uri="{9D8B030D-6E8A-4147-A177-3AD203B41FA5}">
                          <a16:colId xmlns:a16="http://schemas.microsoft.com/office/drawing/2014/main" val="2066070953"/>
                        </a:ext>
                      </a:extLst>
                    </a:gridCol>
                    <a:gridCol w="2809875">
                      <a:extLst>
                        <a:ext uri="{9D8B030D-6E8A-4147-A177-3AD203B41FA5}">
                          <a16:colId xmlns:a16="http://schemas.microsoft.com/office/drawing/2014/main" val="1720902868"/>
                        </a:ext>
                      </a:extLst>
                    </a:gridCol>
                    <a:gridCol w="2333625">
                      <a:extLst>
                        <a:ext uri="{9D8B030D-6E8A-4147-A177-3AD203B41FA5}">
                          <a16:colId xmlns:a16="http://schemas.microsoft.com/office/drawing/2014/main" val="3225502254"/>
                        </a:ext>
                      </a:extLst>
                    </a:gridCol>
                    <a:gridCol w="2381248">
                      <a:extLst>
                        <a:ext uri="{9D8B030D-6E8A-4147-A177-3AD203B41FA5}">
                          <a16:colId xmlns:a16="http://schemas.microsoft.com/office/drawing/2014/main" val="3024411073"/>
                        </a:ext>
                      </a:extLst>
                    </a:gridCol>
                  </a:tblGrid>
                  <a:tr h="501709">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𝐼</m:t>
                                    </m:r>
                                  </m:e>
                                  <m:sub>
                                    <m:r>
                                      <a:rPr lang="en-US" b="0" i="1" smtClean="0">
                                        <a:solidFill>
                                          <a:srgbClr val="262626"/>
                                        </a:solidFill>
                                        <a:latin typeface="Cambria Math" panose="02040503050406030204" pitchFamily="18" charset="0"/>
                                      </a:rPr>
                                      <m:t>𝐶𝐶</m:t>
                                    </m:r>
                                  </m:sub>
                                </m:sSub>
                              </m:oMath>
                            </m:oMathPara>
                          </a14:m>
                          <a:endParaRPr lang="en-US">
                            <a:solidFill>
                              <a:srgbClr val="262626"/>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Dung lượng pin được sạc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Thời gian sạc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Sự lão hóa pin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566994"/>
                      </a:ext>
                    </a:extLst>
                  </a:tr>
                  <a:tr h="700495">
                    <a:tc>
                      <a:txBody>
                        <a:bodyPr/>
                        <a:lstStyle/>
                        <a:p>
                          <a:pPr algn="ctr"/>
                          <a:r>
                            <a:rPr lang="en-US">
                              <a:solidFill>
                                <a:srgbClr val="262626"/>
                              </a:solidFill>
                            </a:rPr>
                            <a:t>Tăng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Giảm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Nhanh hơn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Nhanh hơn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1328988"/>
                      </a:ext>
                    </a:extLst>
                  </a:tr>
                  <a:tr h="698072">
                    <a:tc>
                      <a:txBody>
                        <a:bodyPr/>
                        <a:lstStyle/>
                        <a:p>
                          <a:pPr algn="ctr"/>
                          <a:r>
                            <a:rPr lang="en-US">
                              <a:solidFill>
                                <a:srgbClr val="262626"/>
                              </a:solidFill>
                            </a:rPr>
                            <a:t>Giảm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Tăng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Chậm hơn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Chậm hơn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8543798"/>
                      </a:ext>
                    </a:extLst>
                  </a:tr>
                </a:tbl>
              </a:graphicData>
            </a:graphic>
          </p:graphicFrame>
        </mc:Choice>
        <mc:Fallback xmlns="">
          <p:graphicFrame>
            <p:nvGraphicFramePr>
              <p:cNvPr id="7" name="Table 6">
                <a:extLst>
                  <a:ext uri="{FF2B5EF4-FFF2-40B4-BE49-F238E27FC236}">
                    <a16:creationId xmlns:a16="http://schemas.microsoft.com/office/drawing/2014/main" id="{AC4975EE-DFA3-E74C-324C-73C0198D2B76}"/>
                  </a:ext>
                </a:extLst>
              </p:cNvPr>
              <p:cNvGraphicFramePr>
                <a:graphicFrameLocks noGrp="1"/>
              </p:cNvGraphicFramePr>
              <p:nvPr>
                <p:extLst>
                  <p:ext uri="{D42A27DB-BD31-4B8C-83A1-F6EECF244321}">
                    <p14:modId xmlns:p14="http://schemas.microsoft.com/office/powerpoint/2010/main" val="4144924389"/>
                  </p:ext>
                </p:extLst>
              </p:nvPr>
            </p:nvGraphicFramePr>
            <p:xfrm>
              <a:off x="443074" y="2131546"/>
              <a:ext cx="8967624" cy="1900276"/>
            </p:xfrm>
            <a:graphic>
              <a:graphicData uri="http://schemas.openxmlformats.org/drawingml/2006/table">
                <a:tbl>
                  <a:tblPr firstRow="1" bandRow="1">
                    <a:tableStyleId>{5C22544A-7EE6-4342-B048-85BDC9FD1C3A}</a:tableStyleId>
                  </a:tblPr>
                  <a:tblGrid>
                    <a:gridCol w="1442876">
                      <a:extLst>
                        <a:ext uri="{9D8B030D-6E8A-4147-A177-3AD203B41FA5}">
                          <a16:colId xmlns:a16="http://schemas.microsoft.com/office/drawing/2014/main" val="2066070953"/>
                        </a:ext>
                      </a:extLst>
                    </a:gridCol>
                    <a:gridCol w="2809875">
                      <a:extLst>
                        <a:ext uri="{9D8B030D-6E8A-4147-A177-3AD203B41FA5}">
                          <a16:colId xmlns:a16="http://schemas.microsoft.com/office/drawing/2014/main" val="1720902868"/>
                        </a:ext>
                      </a:extLst>
                    </a:gridCol>
                    <a:gridCol w="2333625">
                      <a:extLst>
                        <a:ext uri="{9D8B030D-6E8A-4147-A177-3AD203B41FA5}">
                          <a16:colId xmlns:a16="http://schemas.microsoft.com/office/drawing/2014/main" val="3225502254"/>
                        </a:ext>
                      </a:extLst>
                    </a:gridCol>
                    <a:gridCol w="2381248">
                      <a:extLst>
                        <a:ext uri="{9D8B030D-6E8A-4147-A177-3AD203B41FA5}">
                          <a16:colId xmlns:a16="http://schemas.microsoft.com/office/drawing/2014/main" val="3024411073"/>
                        </a:ext>
                      </a:extLst>
                    </a:gridCol>
                  </a:tblGrid>
                  <a:tr h="501709">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22" t="-1205" r="-521941" b="-279518"/>
                          </a:stretch>
                        </a:blipFill>
                      </a:tcPr>
                    </a:tc>
                    <a:tc>
                      <a:txBody>
                        <a:bodyPr/>
                        <a:lstStyle/>
                        <a:p>
                          <a:pPr algn="ctr"/>
                          <a:r>
                            <a:rPr lang="en-US">
                              <a:solidFill>
                                <a:srgbClr val="262626"/>
                              </a:solidFill>
                            </a:rPr>
                            <a:t>Dung lượng pin được sạc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Thời gian sạc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Sự lão hóa pin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566994"/>
                      </a:ext>
                    </a:extLst>
                  </a:tr>
                  <a:tr h="700495">
                    <a:tc>
                      <a:txBody>
                        <a:bodyPr/>
                        <a:lstStyle/>
                        <a:p>
                          <a:pPr algn="ctr"/>
                          <a:r>
                            <a:rPr lang="en-US">
                              <a:solidFill>
                                <a:srgbClr val="262626"/>
                              </a:solidFill>
                            </a:rPr>
                            <a:t>Tăng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Giảm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Nhanh hơn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Nhanh hơn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1328988"/>
                      </a:ext>
                    </a:extLst>
                  </a:tr>
                  <a:tr h="698072">
                    <a:tc>
                      <a:txBody>
                        <a:bodyPr/>
                        <a:lstStyle/>
                        <a:p>
                          <a:pPr algn="ctr"/>
                          <a:r>
                            <a:rPr lang="en-US">
                              <a:solidFill>
                                <a:srgbClr val="262626"/>
                              </a:solidFill>
                            </a:rPr>
                            <a:t>Giảm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Tăng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Chậm hơn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Chậm hơn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8543798"/>
                      </a:ext>
                    </a:extLst>
                  </a:tr>
                </a:tbl>
              </a:graphicData>
            </a:graphic>
          </p:graphicFrame>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C8BFC96-0855-47F0-872F-972EDC235783}"/>
                  </a:ext>
                </a:extLst>
              </p:cNvPr>
              <p:cNvSpPr txBox="1"/>
              <p:nvPr/>
            </p:nvSpPr>
            <p:spPr>
              <a:xfrm>
                <a:off x="443073" y="4246208"/>
                <a:ext cx="9129551" cy="769441"/>
              </a:xfrm>
              <a:prstGeom prst="rect">
                <a:avLst/>
              </a:prstGeom>
              <a:noFill/>
            </p:spPr>
            <p:txBody>
              <a:bodyPr wrap="square">
                <a:spAutoFit/>
              </a:bodyPr>
              <a:lstStyle/>
              <a:p>
                <a:r>
                  <a:rPr lang="en-US" sz="2200">
                    <a:solidFill>
                      <a:srgbClr val="262626"/>
                    </a:solidFill>
                    <a:sym typeface="Wingdings" panose="05000000000000000000" pitchFamily="2" charset="2"/>
                  </a:rPr>
                  <a:t> Đây là phương pháp sạc đơn giản ,tuy nhiên ưu điểm còn chưa cao do nhiều đại lượng tỉ lệ nghịch khi </a:t>
                </a:r>
                <a14:m>
                  <m:oMath xmlns:m="http://schemas.openxmlformats.org/officeDocument/2006/math">
                    <m:sSub>
                      <m:sSubPr>
                        <m:ctrlPr>
                          <a:rPr lang="en-US" sz="2200" b="0" i="1" smtClean="0">
                            <a:solidFill>
                              <a:srgbClr val="262626"/>
                            </a:solidFill>
                            <a:latin typeface="Cambria Math" panose="02040503050406030204" pitchFamily="18" charset="0"/>
                            <a:sym typeface="Wingdings" panose="05000000000000000000" pitchFamily="2" charset="2"/>
                          </a:rPr>
                        </m:ctrlPr>
                      </m:sSubPr>
                      <m:e>
                        <m:r>
                          <a:rPr lang="en-US" sz="2200" b="0" i="1" smtClean="0">
                            <a:solidFill>
                              <a:srgbClr val="262626"/>
                            </a:solidFill>
                            <a:latin typeface="Cambria Math" panose="02040503050406030204" pitchFamily="18" charset="0"/>
                            <a:sym typeface="Wingdings" panose="05000000000000000000" pitchFamily="2" charset="2"/>
                          </a:rPr>
                          <m:t>𝐼</m:t>
                        </m:r>
                      </m:e>
                      <m:sub>
                        <m:r>
                          <a:rPr lang="en-US" sz="2200" b="0" i="1" smtClean="0">
                            <a:solidFill>
                              <a:srgbClr val="262626"/>
                            </a:solidFill>
                            <a:latin typeface="Cambria Math" panose="02040503050406030204" pitchFamily="18" charset="0"/>
                            <a:sym typeface="Wingdings" panose="05000000000000000000" pitchFamily="2" charset="2"/>
                          </a:rPr>
                          <m:t>𝐶𝐶</m:t>
                        </m:r>
                      </m:sub>
                    </m:sSub>
                  </m:oMath>
                </a14:m>
                <a:r>
                  <a:rPr lang="en-US" sz="2000">
                    <a:solidFill>
                      <a:srgbClr val="262626"/>
                    </a:solidFill>
                  </a:rPr>
                  <a:t> thay đổi </a:t>
                </a:r>
              </a:p>
            </p:txBody>
          </p:sp>
        </mc:Choice>
        <mc:Fallback xmlns="">
          <p:sp>
            <p:nvSpPr>
              <p:cNvPr id="9" name="TextBox 8">
                <a:extLst>
                  <a:ext uri="{FF2B5EF4-FFF2-40B4-BE49-F238E27FC236}">
                    <a16:creationId xmlns:a16="http://schemas.microsoft.com/office/drawing/2014/main" id="{AC8BFC96-0855-47F0-872F-972EDC235783}"/>
                  </a:ext>
                </a:extLst>
              </p:cNvPr>
              <p:cNvSpPr txBox="1">
                <a:spLocks noRot="1" noChangeAspect="1" noMove="1" noResize="1" noEditPoints="1" noAdjustHandles="1" noChangeArrowheads="1" noChangeShapeType="1" noTextEdit="1"/>
              </p:cNvSpPr>
              <p:nvPr/>
            </p:nvSpPr>
            <p:spPr>
              <a:xfrm>
                <a:off x="443073" y="4246208"/>
                <a:ext cx="9129551" cy="769441"/>
              </a:xfrm>
              <a:prstGeom prst="rect">
                <a:avLst/>
              </a:prstGeom>
              <a:blipFill>
                <a:blip r:embed="rId5"/>
                <a:stretch>
                  <a:fillRect l="-868" t="-5556" r="-868" b="-15079"/>
                </a:stretch>
              </a:blipFill>
            </p:spPr>
            <p:txBody>
              <a:bodyPr/>
              <a:lstStyle/>
              <a:p>
                <a:r>
                  <a:rPr lang="en-US">
                    <a:noFill/>
                  </a:rPr>
                  <a:t> </a:t>
                </a:r>
              </a:p>
            </p:txBody>
          </p:sp>
        </mc:Fallback>
      </mc:AlternateContent>
    </p:spTree>
    <p:extLst>
      <p:ext uri="{BB962C8B-B14F-4D97-AF65-F5344CB8AC3E}">
        <p14:creationId xmlns:p14="http://schemas.microsoft.com/office/powerpoint/2010/main" val="2830930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2DB91-367D-33BD-FA19-5C01965008C3}"/>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5248B5B2-F6C9-CDC7-6E39-CE432B2AA71A}"/>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8</a:t>
            </a:fld>
            <a:r>
              <a:rPr lang="en-US"/>
              <a:t> 	</a:t>
            </a:r>
          </a:p>
        </p:txBody>
      </p:sp>
      <p:sp>
        <p:nvSpPr>
          <p:cNvPr id="20" name="Date Placeholder 3">
            <a:extLst>
              <a:ext uri="{FF2B5EF4-FFF2-40B4-BE49-F238E27FC236}">
                <a16:creationId xmlns:a16="http://schemas.microsoft.com/office/drawing/2014/main" id="{802F7EC0-8617-CB6A-B79C-C77C7F78CB50}"/>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3/21/2025</a:t>
            </a:fld>
            <a:endParaRPr lang="en-US"/>
          </a:p>
        </p:txBody>
      </p:sp>
      <p:sp>
        <p:nvSpPr>
          <p:cNvPr id="21" name="Footer Placeholder 5">
            <a:extLst>
              <a:ext uri="{FF2B5EF4-FFF2-40B4-BE49-F238E27FC236}">
                <a16:creationId xmlns:a16="http://schemas.microsoft.com/office/drawing/2014/main" id="{927FEA90-0308-7C72-AB53-1752261B85DA}"/>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5" name="Title 4">
            <a:extLst>
              <a:ext uri="{FF2B5EF4-FFF2-40B4-BE49-F238E27FC236}">
                <a16:creationId xmlns:a16="http://schemas.microsoft.com/office/drawing/2014/main" id="{737E84BC-5575-0241-887A-612503F11F99}"/>
              </a:ext>
            </a:extLst>
          </p:cNvPr>
          <p:cNvSpPr>
            <a:spLocks noGrp="1"/>
          </p:cNvSpPr>
          <p:nvPr>
            <p:ph type="title"/>
          </p:nvPr>
        </p:nvSpPr>
        <p:spPr>
          <a:xfrm>
            <a:off x="466887" y="89570"/>
            <a:ext cx="9766931" cy="548731"/>
          </a:xfrm>
        </p:spPr>
        <p:txBody>
          <a:bodyPr/>
          <a:lstStyle/>
          <a:p>
            <a:r>
              <a:rPr lang="en-US" sz="4000">
                <a:solidFill>
                  <a:srgbClr val="262626"/>
                </a:solidFill>
              </a:rPr>
              <a:t>Tổng quan về các phương pháp sạc</a:t>
            </a:r>
            <a:endParaRPr lang="en-US"/>
          </a:p>
        </p:txBody>
      </p:sp>
      <p:sp>
        <p:nvSpPr>
          <p:cNvPr id="2" name="TextBox 1">
            <a:extLst>
              <a:ext uri="{FF2B5EF4-FFF2-40B4-BE49-F238E27FC236}">
                <a16:creationId xmlns:a16="http://schemas.microsoft.com/office/drawing/2014/main" id="{92F374F4-E2F8-EB60-112E-3CB93EEFF922}"/>
              </a:ext>
            </a:extLst>
          </p:cNvPr>
          <p:cNvSpPr txBox="1"/>
          <p:nvPr/>
        </p:nvSpPr>
        <p:spPr>
          <a:xfrm>
            <a:off x="160180" y="887139"/>
            <a:ext cx="7483494" cy="646331"/>
          </a:xfrm>
          <a:prstGeom prst="rect">
            <a:avLst/>
          </a:prstGeom>
          <a:noFill/>
        </p:spPr>
        <p:txBody>
          <a:bodyPr wrap="square">
            <a:spAutoFit/>
          </a:bodyPr>
          <a:lstStyle/>
          <a:p>
            <a:pPr marL="342900" indent="-342900">
              <a:buFont typeface="Wingdings" panose="05000000000000000000" pitchFamily="2" charset="2"/>
              <a:buChar char="q"/>
            </a:pPr>
            <a:r>
              <a:rPr lang="en-US" sz="3600">
                <a:solidFill>
                  <a:srgbClr val="262626"/>
                </a:solidFill>
              </a:rPr>
              <a:t>Phương pháp ổn dòng (CC)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1E1F48C-8350-770D-5870-232E36A64151}"/>
                  </a:ext>
                </a:extLst>
              </p:cNvPr>
              <p:cNvSpPr txBox="1"/>
              <p:nvPr/>
            </p:nvSpPr>
            <p:spPr>
              <a:xfrm>
                <a:off x="83980" y="1523314"/>
                <a:ext cx="5373845" cy="800219"/>
              </a:xfrm>
              <a:prstGeom prst="rect">
                <a:avLst/>
              </a:prstGeom>
              <a:noFill/>
            </p:spPr>
            <p:txBody>
              <a:bodyPr wrap="square">
                <a:spAutoFit/>
              </a:bodyPr>
              <a:lstStyle/>
              <a:p>
                <a:pPr marL="342900" indent="-342900">
                  <a:buFont typeface="Arial" panose="020B0604020202020204" pitchFamily="34" charset="0"/>
                  <a:buChar char="•"/>
                </a:pPr>
                <a:r>
                  <a:rPr lang="en-US" sz="2200" b="1">
                    <a:solidFill>
                      <a:srgbClr val="262626"/>
                    </a:solidFill>
                  </a:rPr>
                  <a:t>Nhận xét : </a:t>
                </a:r>
                <a:r>
                  <a:rPr lang="en-US" sz="2200">
                    <a:solidFill>
                      <a:srgbClr val="262626"/>
                    </a:solidFill>
                  </a:rPr>
                  <a:t>Hoạt động của Pin phụ thuộc nhiều vào dòng sạc CC</a:t>
                </a:r>
                <a14:m>
                  <m:oMath xmlns:m="http://schemas.openxmlformats.org/officeDocument/2006/math">
                    <m:sSub>
                      <m:sSubPr>
                        <m:ctrlPr>
                          <a:rPr lang="en-US" sz="2400" i="1">
                            <a:solidFill>
                              <a:srgbClr val="262626"/>
                            </a:solidFill>
                            <a:latin typeface="Cambria Math" panose="02040503050406030204" pitchFamily="18" charset="0"/>
                          </a:rPr>
                        </m:ctrlPr>
                      </m:sSubPr>
                      <m:e>
                        <m:r>
                          <a:rPr lang="en-US" sz="2400" b="0" i="1" smtClean="0">
                            <a:solidFill>
                              <a:srgbClr val="262626"/>
                            </a:solidFill>
                            <a:latin typeface="Cambria Math" panose="02040503050406030204" pitchFamily="18" charset="0"/>
                          </a:rPr>
                          <m:t> </m:t>
                        </m:r>
                        <m:r>
                          <a:rPr lang="en-US" sz="2400" i="1">
                            <a:solidFill>
                              <a:srgbClr val="262626"/>
                            </a:solidFill>
                            <a:latin typeface="Cambria Math" panose="02040503050406030204" pitchFamily="18" charset="0"/>
                          </a:rPr>
                          <m:t>𝐼</m:t>
                        </m:r>
                      </m:e>
                      <m:sub>
                        <m:r>
                          <a:rPr lang="en-US" sz="2400" i="1">
                            <a:solidFill>
                              <a:srgbClr val="262626"/>
                            </a:solidFill>
                            <a:latin typeface="Cambria Math" panose="02040503050406030204" pitchFamily="18" charset="0"/>
                          </a:rPr>
                          <m:t>𝐶𝐶</m:t>
                        </m:r>
                      </m:sub>
                    </m:sSub>
                  </m:oMath>
                </a14:m>
                <a:endParaRPr lang="en-US" sz="2000">
                  <a:solidFill>
                    <a:srgbClr val="262626"/>
                  </a:solidFill>
                </a:endParaRPr>
              </a:p>
            </p:txBody>
          </p:sp>
        </mc:Choice>
        <mc:Fallback xmlns="">
          <p:sp>
            <p:nvSpPr>
              <p:cNvPr id="3" name="TextBox 2">
                <a:extLst>
                  <a:ext uri="{FF2B5EF4-FFF2-40B4-BE49-F238E27FC236}">
                    <a16:creationId xmlns:a16="http://schemas.microsoft.com/office/drawing/2014/main" id="{11E1F48C-8350-770D-5870-232E36A64151}"/>
                  </a:ext>
                </a:extLst>
              </p:cNvPr>
              <p:cNvSpPr txBox="1">
                <a:spLocks noRot="1" noChangeAspect="1" noMove="1" noResize="1" noEditPoints="1" noAdjustHandles="1" noChangeArrowheads="1" noChangeShapeType="1" noTextEdit="1"/>
              </p:cNvSpPr>
              <p:nvPr/>
            </p:nvSpPr>
            <p:spPr>
              <a:xfrm>
                <a:off x="83980" y="1523314"/>
                <a:ext cx="5373845" cy="800219"/>
              </a:xfrm>
              <a:prstGeom prst="rect">
                <a:avLst/>
              </a:prstGeom>
              <a:blipFill>
                <a:blip r:embed="rId3"/>
                <a:stretch>
                  <a:fillRect l="-1362" t="-5344" b="-13740"/>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536EAF93-4C6E-0FA0-A7BB-E185CFDDADB9}"/>
              </a:ext>
            </a:extLst>
          </p:cNvPr>
          <p:cNvPicPr>
            <a:picLocks noChangeAspect="1"/>
          </p:cNvPicPr>
          <p:nvPr/>
        </p:nvPicPr>
        <p:blipFill>
          <a:blip r:embed="rId4"/>
          <a:stretch>
            <a:fillRect/>
          </a:stretch>
        </p:blipFill>
        <p:spPr>
          <a:xfrm>
            <a:off x="5296930" y="1712811"/>
            <a:ext cx="4117692" cy="3344066"/>
          </a:xfrm>
          <a:prstGeom prst="rect">
            <a:avLst/>
          </a:prstGeom>
        </p:spPr>
        <p:style>
          <a:lnRef idx="2">
            <a:schemeClr val="dk1"/>
          </a:lnRef>
          <a:fillRef idx="1">
            <a:schemeClr val="lt1"/>
          </a:fillRef>
          <a:effectRef idx="0">
            <a:schemeClr val="dk1"/>
          </a:effectRef>
          <a:fontRef idx="minor">
            <a:schemeClr val="dk1"/>
          </a:fontRef>
        </p:style>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2849C88-9826-AFE7-9983-88685411DBDC}"/>
                  </a:ext>
                </a:extLst>
              </p:cNvPr>
              <p:cNvSpPr txBox="1"/>
              <p:nvPr/>
            </p:nvSpPr>
            <p:spPr>
              <a:xfrm>
                <a:off x="6004260" y="5187355"/>
                <a:ext cx="3352511" cy="535531"/>
              </a:xfrm>
              <a:prstGeom prst="rect">
                <a:avLst/>
              </a:prstGeom>
              <a:noFill/>
            </p:spPr>
            <p:txBody>
              <a:bodyPr wrap="square">
                <a:spAutoFit/>
              </a:bodyPr>
              <a:lstStyle/>
              <a:p>
                <a:pPr algn="ctr"/>
                <a14:m>
                  <m:oMath xmlns:m="http://schemas.openxmlformats.org/officeDocument/2006/math">
                    <m:r>
                      <a:rPr lang="en-US" sz="1400" b="0" i="1" smtClean="0">
                        <a:solidFill>
                          <a:srgbClr val="262626"/>
                        </a:solidFill>
                        <a:latin typeface="Cambria Math" panose="02040503050406030204" pitchFamily="18" charset="0"/>
                      </a:rPr>
                      <m:t>𝑂𝐶𝑉</m:t>
                    </m:r>
                    <m:r>
                      <a:rPr lang="en-US" sz="1400" b="0" i="1" smtClean="0">
                        <a:solidFill>
                          <a:srgbClr val="262626"/>
                        </a:solidFill>
                        <a:latin typeface="Cambria Math" panose="02040503050406030204" pitchFamily="18" charset="0"/>
                      </a:rPr>
                      <m:t>=3.35</m:t>
                    </m:r>
                    <m:r>
                      <a:rPr lang="en-US" sz="1400" b="0" i="1" smtClean="0">
                        <a:solidFill>
                          <a:srgbClr val="262626"/>
                        </a:solidFill>
                        <a:latin typeface="Cambria Math" panose="02040503050406030204" pitchFamily="18" charset="0"/>
                      </a:rPr>
                      <m:t>𝑉</m:t>
                    </m:r>
                    <m:r>
                      <a:rPr lang="en-US" sz="1400" b="0" i="1" smtClean="0">
                        <a:solidFill>
                          <a:srgbClr val="262626"/>
                        </a:solidFill>
                        <a:latin typeface="Cambria Math" panose="02040503050406030204" pitchFamily="18" charset="0"/>
                      </a:rPr>
                      <m:t>,</m:t>
                    </m:r>
                    <m:sSub>
                      <m:sSubPr>
                        <m:ctrlPr>
                          <a:rPr lang="en-US" sz="1400" b="0" i="1" smtClean="0">
                            <a:solidFill>
                              <a:srgbClr val="262626"/>
                            </a:solidFill>
                            <a:latin typeface="Cambria Math" panose="02040503050406030204" pitchFamily="18" charset="0"/>
                          </a:rPr>
                        </m:ctrlPr>
                      </m:sSubPr>
                      <m:e>
                        <m:r>
                          <a:rPr lang="en-US" sz="1400" b="0" i="1" smtClean="0">
                            <a:solidFill>
                              <a:srgbClr val="262626"/>
                            </a:solidFill>
                            <a:latin typeface="Cambria Math" panose="02040503050406030204" pitchFamily="18" charset="0"/>
                          </a:rPr>
                          <m:t>𝑅</m:t>
                        </m:r>
                      </m:e>
                      <m:sub>
                        <m:r>
                          <a:rPr lang="en-US" sz="1400" b="0" i="1" smtClean="0">
                            <a:solidFill>
                              <a:srgbClr val="262626"/>
                            </a:solidFill>
                            <a:latin typeface="Cambria Math" panose="02040503050406030204" pitchFamily="18" charset="0"/>
                          </a:rPr>
                          <m:t>𝑏</m:t>
                        </m:r>
                      </m:sub>
                    </m:sSub>
                    <m:r>
                      <a:rPr lang="en-US" sz="1400" b="0" i="1" smtClean="0">
                        <a:solidFill>
                          <a:srgbClr val="262626"/>
                        </a:solidFill>
                        <a:latin typeface="Cambria Math" panose="02040503050406030204" pitchFamily="18" charset="0"/>
                      </a:rPr>
                      <m:t>=0.068,</m:t>
                    </m:r>
                    <m:sSub>
                      <m:sSubPr>
                        <m:ctrlPr>
                          <a:rPr lang="en-US" sz="1400" b="0" i="1" smtClean="0">
                            <a:solidFill>
                              <a:srgbClr val="262626"/>
                            </a:solidFill>
                            <a:latin typeface="Cambria Math" panose="02040503050406030204" pitchFamily="18" charset="0"/>
                          </a:rPr>
                        </m:ctrlPr>
                      </m:sSubPr>
                      <m:e>
                        <m:r>
                          <a:rPr lang="en-US" sz="1400" b="0" i="1" smtClean="0">
                            <a:solidFill>
                              <a:srgbClr val="262626"/>
                            </a:solidFill>
                            <a:latin typeface="Cambria Math" panose="02040503050406030204" pitchFamily="18" charset="0"/>
                          </a:rPr>
                          <m:t>𝐶</m:t>
                        </m:r>
                      </m:e>
                      <m:sub>
                        <m:r>
                          <a:rPr lang="en-US" sz="1400" b="0" i="1" smtClean="0">
                            <a:solidFill>
                              <a:srgbClr val="262626"/>
                            </a:solidFill>
                            <a:latin typeface="Cambria Math" panose="02040503050406030204" pitchFamily="18" charset="0"/>
                          </a:rPr>
                          <m:t>𝑏</m:t>
                        </m:r>
                      </m:sub>
                    </m:sSub>
                    <m:r>
                      <a:rPr lang="en-US" sz="1400" b="0" i="1" smtClean="0">
                        <a:solidFill>
                          <a:srgbClr val="262626"/>
                        </a:solidFill>
                        <a:latin typeface="Cambria Math" panose="02040503050406030204" pitchFamily="18" charset="0"/>
                      </a:rPr>
                      <m:t>=11030</m:t>
                    </m:r>
                    <m:r>
                      <a:rPr lang="en-US" sz="1400" b="0" i="1" smtClean="0">
                        <a:solidFill>
                          <a:srgbClr val="262626"/>
                        </a:solidFill>
                        <a:latin typeface="Cambria Math" panose="02040503050406030204" pitchFamily="18" charset="0"/>
                      </a:rPr>
                      <m:t>𝐹</m:t>
                    </m:r>
                    <m:r>
                      <a:rPr lang="en-US" sz="1400" b="0" i="1" smtClean="0">
                        <a:solidFill>
                          <a:srgbClr val="262626"/>
                        </a:solidFill>
                        <a:latin typeface="Cambria Math" panose="02040503050406030204" pitchFamily="18" charset="0"/>
                      </a:rPr>
                      <m:t>,  </m:t>
                    </m:r>
                    <m:sSub>
                      <m:sSubPr>
                        <m:ctrlPr>
                          <a:rPr lang="en-US" sz="1400" b="0" i="1" smtClean="0">
                            <a:solidFill>
                              <a:srgbClr val="262626"/>
                            </a:solidFill>
                            <a:latin typeface="Cambria Math" panose="02040503050406030204" pitchFamily="18" charset="0"/>
                          </a:rPr>
                        </m:ctrlPr>
                      </m:sSubPr>
                      <m:e>
                        <m:r>
                          <a:rPr lang="en-US" sz="1400" b="0" i="1" smtClean="0">
                            <a:solidFill>
                              <a:srgbClr val="262626"/>
                            </a:solidFill>
                            <a:latin typeface="Cambria Math" panose="02040503050406030204" pitchFamily="18" charset="0"/>
                          </a:rPr>
                          <m:t> </m:t>
                        </m:r>
                        <m:r>
                          <a:rPr lang="en-US" sz="1400" b="0" i="1" smtClean="0">
                            <a:solidFill>
                              <a:srgbClr val="262626"/>
                            </a:solidFill>
                            <a:latin typeface="Cambria Math" panose="02040503050406030204" pitchFamily="18" charset="0"/>
                          </a:rPr>
                          <m:t>𝑉</m:t>
                        </m:r>
                      </m:e>
                      <m:sub>
                        <m:r>
                          <a:rPr lang="en-US" sz="1400" b="0" i="1" smtClean="0">
                            <a:solidFill>
                              <a:srgbClr val="262626"/>
                            </a:solidFill>
                            <a:latin typeface="Cambria Math" panose="02040503050406030204" pitchFamily="18" charset="0"/>
                          </a:rPr>
                          <m:t>𝑐𝑢𝑡𝑜𝑓𝑓</m:t>
                        </m:r>
                      </m:sub>
                    </m:sSub>
                    <m:r>
                      <a:rPr lang="en-US" sz="1400" b="0" i="1" smtClean="0">
                        <a:solidFill>
                          <a:srgbClr val="262626"/>
                        </a:solidFill>
                        <a:latin typeface="Cambria Math" panose="02040503050406030204" pitchFamily="18" charset="0"/>
                      </a:rPr>
                      <m:t>=4.217</m:t>
                    </m:r>
                    <m:r>
                      <a:rPr lang="en-US" sz="1400" b="0" i="1" smtClean="0">
                        <a:solidFill>
                          <a:srgbClr val="262626"/>
                        </a:solidFill>
                        <a:latin typeface="Cambria Math" panose="02040503050406030204" pitchFamily="18" charset="0"/>
                      </a:rPr>
                      <m:t>𝑉</m:t>
                    </m:r>
                    <m:r>
                      <a:rPr lang="en-US" sz="1400" b="0" i="1" smtClean="0">
                        <a:solidFill>
                          <a:srgbClr val="262626"/>
                        </a:solidFill>
                        <a:latin typeface="Cambria Math" panose="02040503050406030204" pitchFamily="18" charset="0"/>
                      </a:rPr>
                      <m:t>, </m:t>
                    </m:r>
                    <m:sSub>
                      <m:sSubPr>
                        <m:ctrlPr>
                          <a:rPr lang="en-US" sz="1400" b="0" i="1" smtClean="0">
                            <a:solidFill>
                              <a:srgbClr val="262626"/>
                            </a:solidFill>
                            <a:latin typeface="Cambria Math" panose="02040503050406030204" pitchFamily="18" charset="0"/>
                          </a:rPr>
                        </m:ctrlPr>
                      </m:sSubPr>
                      <m:e>
                        <m:r>
                          <a:rPr lang="en-US" sz="1400" b="0" i="1" smtClean="0">
                            <a:solidFill>
                              <a:srgbClr val="262626"/>
                            </a:solidFill>
                            <a:latin typeface="Cambria Math" panose="02040503050406030204" pitchFamily="18" charset="0"/>
                          </a:rPr>
                          <m:t>𝐼</m:t>
                        </m:r>
                      </m:e>
                      <m:sub>
                        <m:r>
                          <a:rPr lang="en-US" sz="1400" b="0" i="1" smtClean="0">
                            <a:solidFill>
                              <a:srgbClr val="262626"/>
                            </a:solidFill>
                            <a:latin typeface="Cambria Math" panose="02040503050406030204" pitchFamily="18" charset="0"/>
                          </a:rPr>
                          <m:t>𝑐𝑐</m:t>
                        </m:r>
                      </m:sub>
                    </m:sSub>
                    <m:r>
                      <a:rPr lang="en-US" sz="1400" b="0" i="1" smtClean="0">
                        <a:solidFill>
                          <a:srgbClr val="262626"/>
                        </a:solidFill>
                        <a:latin typeface="Cambria Math" panose="02040503050406030204" pitchFamily="18" charset="0"/>
                      </a:rPr>
                      <m:t>=2.6</m:t>
                    </m:r>
                    <m:r>
                      <a:rPr lang="en-US" sz="1400" b="0" i="1" smtClean="0">
                        <a:solidFill>
                          <a:srgbClr val="262626"/>
                        </a:solidFill>
                        <a:latin typeface="Cambria Math" panose="02040503050406030204" pitchFamily="18" charset="0"/>
                      </a:rPr>
                      <m:t>𝐴</m:t>
                    </m:r>
                  </m:oMath>
                </a14:m>
                <a:r>
                  <a:rPr lang="en-US" sz="1400">
                    <a:solidFill>
                      <a:srgbClr val="262626"/>
                    </a:solidFill>
                  </a:rPr>
                  <a:t> </a:t>
                </a:r>
                <a:endParaRPr lang="en-US" sz="1400"/>
              </a:p>
            </p:txBody>
          </p:sp>
        </mc:Choice>
        <mc:Fallback xmlns="">
          <p:sp>
            <p:nvSpPr>
              <p:cNvPr id="10" name="TextBox 9">
                <a:extLst>
                  <a:ext uri="{FF2B5EF4-FFF2-40B4-BE49-F238E27FC236}">
                    <a16:creationId xmlns:a16="http://schemas.microsoft.com/office/drawing/2014/main" id="{52849C88-9826-AFE7-9983-88685411DBDC}"/>
                  </a:ext>
                </a:extLst>
              </p:cNvPr>
              <p:cNvSpPr txBox="1">
                <a:spLocks noRot="1" noChangeAspect="1" noMove="1" noResize="1" noEditPoints="1" noAdjustHandles="1" noChangeArrowheads="1" noChangeShapeType="1" noTextEdit="1"/>
              </p:cNvSpPr>
              <p:nvPr/>
            </p:nvSpPr>
            <p:spPr>
              <a:xfrm>
                <a:off x="6004260" y="5187355"/>
                <a:ext cx="3352511" cy="535531"/>
              </a:xfrm>
              <a:prstGeom prst="rect">
                <a:avLst/>
              </a:prstGeom>
              <a:blipFill>
                <a:blip r:embed="rId5"/>
                <a:stretch>
                  <a:fillRect b="-11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8451B6B-3C4F-ABCE-CAAF-F010737761A1}"/>
                  </a:ext>
                </a:extLst>
              </p:cNvPr>
              <p:cNvSpPr txBox="1"/>
              <p:nvPr/>
            </p:nvSpPr>
            <p:spPr>
              <a:xfrm>
                <a:off x="83980" y="2267636"/>
                <a:ext cx="5212950" cy="738664"/>
              </a:xfrm>
              <a:prstGeom prst="rect">
                <a:avLst/>
              </a:prstGeom>
              <a:noFill/>
            </p:spPr>
            <p:txBody>
              <a:bodyPr wrap="square">
                <a:spAutoFit/>
              </a:bodyPr>
              <a:lstStyle/>
              <a:p>
                <a:pPr marL="342900" indent="-342900">
                  <a:buFont typeface="Arial" panose="020B0604020202020204" pitchFamily="34" charset="0"/>
                  <a:buChar char="•"/>
                </a:pPr>
                <a:r>
                  <a:rPr lang="en-US" sz="2200">
                    <a:solidFill>
                      <a:srgbClr val="262626"/>
                    </a:solidFill>
                  </a:rPr>
                  <a:t>Khi </a:t>
                </a:r>
                <a14:m>
                  <m:oMath xmlns:m="http://schemas.openxmlformats.org/officeDocument/2006/math">
                    <m:sSub>
                      <m:sSubPr>
                        <m:ctrlPr>
                          <a:rPr lang="en-US" sz="2200" b="0" i="1" smtClean="0">
                            <a:solidFill>
                              <a:srgbClr val="262626"/>
                            </a:solidFill>
                            <a:latin typeface="Cambria Math" panose="02040503050406030204" pitchFamily="18" charset="0"/>
                          </a:rPr>
                        </m:ctrlPr>
                      </m:sSubPr>
                      <m:e>
                        <m:r>
                          <a:rPr lang="en-US" sz="2200" b="0" i="1" smtClean="0">
                            <a:solidFill>
                              <a:srgbClr val="262626"/>
                            </a:solidFill>
                            <a:latin typeface="Cambria Math" panose="02040503050406030204" pitchFamily="18" charset="0"/>
                          </a:rPr>
                          <m:t>𝐼</m:t>
                        </m:r>
                      </m:e>
                      <m:sub>
                        <m:r>
                          <a:rPr lang="en-US" sz="2200" b="0" i="1" smtClean="0">
                            <a:solidFill>
                              <a:srgbClr val="262626"/>
                            </a:solidFill>
                            <a:latin typeface="Cambria Math" panose="02040503050406030204" pitchFamily="18" charset="0"/>
                          </a:rPr>
                          <m:t>𝑐𝑐</m:t>
                        </m:r>
                      </m:sub>
                    </m:sSub>
                    <m:r>
                      <a:rPr lang="en-US" sz="2200" b="0" i="0" smtClean="0">
                        <a:solidFill>
                          <a:srgbClr val="262626"/>
                        </a:solidFill>
                        <a:latin typeface="Cambria Math" panose="02040503050406030204" pitchFamily="18" charset="0"/>
                      </a:rPr>
                      <m:t> </m:t>
                    </m:r>
                  </m:oMath>
                </a14:m>
                <a:r>
                  <a:rPr lang="en-US" sz="2000">
                    <a:solidFill>
                      <a:srgbClr val="262626"/>
                    </a:solidFill>
                  </a:rPr>
                  <a:t>thay đổi từ [0.4, 4], ta thu được đồ thị sau :</a:t>
                </a:r>
              </a:p>
            </p:txBody>
          </p:sp>
        </mc:Choice>
        <mc:Fallback xmlns="">
          <p:sp>
            <p:nvSpPr>
              <p:cNvPr id="11" name="TextBox 10">
                <a:extLst>
                  <a:ext uri="{FF2B5EF4-FFF2-40B4-BE49-F238E27FC236}">
                    <a16:creationId xmlns:a16="http://schemas.microsoft.com/office/drawing/2014/main" id="{68451B6B-3C4F-ABCE-CAAF-F010737761A1}"/>
                  </a:ext>
                </a:extLst>
              </p:cNvPr>
              <p:cNvSpPr txBox="1">
                <a:spLocks noRot="1" noChangeAspect="1" noMove="1" noResize="1" noEditPoints="1" noAdjustHandles="1" noChangeArrowheads="1" noChangeShapeType="1" noTextEdit="1"/>
              </p:cNvSpPr>
              <p:nvPr/>
            </p:nvSpPr>
            <p:spPr>
              <a:xfrm>
                <a:off x="83980" y="2267636"/>
                <a:ext cx="5212950" cy="738664"/>
              </a:xfrm>
              <a:prstGeom prst="rect">
                <a:avLst/>
              </a:prstGeom>
              <a:blipFill>
                <a:blip r:embed="rId6"/>
                <a:stretch>
                  <a:fillRect l="-1404" t="-5785" b="-14050"/>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81B6FF37-AADC-D7EE-B4CF-6D0284AB3555}"/>
              </a:ext>
            </a:extLst>
          </p:cNvPr>
          <p:cNvSpPr txBox="1"/>
          <p:nvPr/>
        </p:nvSpPr>
        <p:spPr>
          <a:xfrm>
            <a:off x="6463293" y="5734837"/>
            <a:ext cx="2434444" cy="307777"/>
          </a:xfrm>
          <a:prstGeom prst="rect">
            <a:avLst/>
          </a:prstGeom>
          <a:noFill/>
        </p:spPr>
        <p:txBody>
          <a:bodyPr wrap="square">
            <a:spAutoFit/>
          </a:bodyPr>
          <a:lstStyle/>
          <a:p>
            <a:r>
              <a:rPr lang="en-US" sz="1400"/>
              <a:t>H5 : Đồ thị phụ thuộc Icc</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30DDC6E-01D7-2BC2-D35D-F739A7956569}"/>
                  </a:ext>
                </a:extLst>
              </p:cNvPr>
              <p:cNvSpPr txBox="1"/>
              <p:nvPr/>
            </p:nvSpPr>
            <p:spPr>
              <a:xfrm>
                <a:off x="429815" y="2960068"/>
                <a:ext cx="4722951" cy="1438727"/>
              </a:xfrm>
              <a:prstGeom prst="rect">
                <a:avLst/>
              </a:prstGeom>
              <a:noFill/>
            </p:spPr>
            <p:txBody>
              <a:bodyPr wrap="square">
                <a:spAutoFit/>
              </a:bodyPr>
              <a:lstStyle/>
              <a:p>
                <a:r>
                  <a:rPr lang="en-US" sz="2200">
                    <a:solidFill>
                      <a:srgbClr val="262626"/>
                    </a:solidFill>
                    <a:sym typeface="Wingdings" panose="05000000000000000000" pitchFamily="2" charset="2"/>
                  </a:rPr>
                  <a:t>Đây là phương pháp sạc đơn giản ,tuy nhiên ưu điểm còn chưa cao do nhiều đại lượng có xu hướng nghịch nhau khi </a:t>
                </a:r>
                <a14:m>
                  <m:oMath xmlns:m="http://schemas.openxmlformats.org/officeDocument/2006/math">
                    <m:sSub>
                      <m:sSubPr>
                        <m:ctrlPr>
                          <a:rPr lang="en-US" sz="2200" b="0" i="1" smtClean="0">
                            <a:solidFill>
                              <a:srgbClr val="262626"/>
                            </a:solidFill>
                            <a:latin typeface="Cambria Math" panose="02040503050406030204" pitchFamily="18" charset="0"/>
                            <a:sym typeface="Wingdings" panose="05000000000000000000" pitchFamily="2" charset="2"/>
                          </a:rPr>
                        </m:ctrlPr>
                      </m:sSubPr>
                      <m:e>
                        <m:r>
                          <a:rPr lang="en-US" sz="2200" b="0" i="1" smtClean="0">
                            <a:solidFill>
                              <a:srgbClr val="262626"/>
                            </a:solidFill>
                            <a:latin typeface="Cambria Math" panose="02040503050406030204" pitchFamily="18" charset="0"/>
                            <a:sym typeface="Wingdings" panose="05000000000000000000" pitchFamily="2" charset="2"/>
                          </a:rPr>
                          <m:t>𝐼</m:t>
                        </m:r>
                      </m:e>
                      <m:sub>
                        <m:r>
                          <a:rPr lang="en-US" sz="2200" b="0" i="1" smtClean="0">
                            <a:solidFill>
                              <a:srgbClr val="262626"/>
                            </a:solidFill>
                            <a:latin typeface="Cambria Math" panose="02040503050406030204" pitchFamily="18" charset="0"/>
                            <a:sym typeface="Wingdings" panose="05000000000000000000" pitchFamily="2" charset="2"/>
                          </a:rPr>
                          <m:t>𝐶𝐶</m:t>
                        </m:r>
                      </m:sub>
                    </m:sSub>
                  </m:oMath>
                </a14:m>
                <a:r>
                  <a:rPr lang="en-US" sz="2000">
                    <a:solidFill>
                      <a:srgbClr val="262626"/>
                    </a:solidFill>
                  </a:rPr>
                  <a:t> thay đổi </a:t>
                </a:r>
              </a:p>
            </p:txBody>
          </p:sp>
        </mc:Choice>
        <mc:Fallback xmlns="">
          <p:sp>
            <p:nvSpPr>
              <p:cNvPr id="13" name="TextBox 12">
                <a:extLst>
                  <a:ext uri="{FF2B5EF4-FFF2-40B4-BE49-F238E27FC236}">
                    <a16:creationId xmlns:a16="http://schemas.microsoft.com/office/drawing/2014/main" id="{630DDC6E-01D7-2BC2-D35D-F739A7956569}"/>
                  </a:ext>
                </a:extLst>
              </p:cNvPr>
              <p:cNvSpPr txBox="1">
                <a:spLocks noRot="1" noChangeAspect="1" noMove="1" noResize="1" noEditPoints="1" noAdjustHandles="1" noChangeArrowheads="1" noChangeShapeType="1" noTextEdit="1"/>
              </p:cNvSpPr>
              <p:nvPr/>
            </p:nvSpPr>
            <p:spPr>
              <a:xfrm>
                <a:off x="429815" y="2960068"/>
                <a:ext cx="4722951" cy="1438727"/>
              </a:xfrm>
              <a:prstGeom prst="rect">
                <a:avLst/>
              </a:prstGeom>
              <a:blipFill>
                <a:blip r:embed="rId7"/>
                <a:stretch>
                  <a:fillRect l="-1680" t="-2966" b="-8051"/>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47DAA3A3-83B9-23BA-899B-F2C3688E7816}"/>
              </a:ext>
            </a:extLst>
          </p:cNvPr>
          <p:cNvSpPr txBox="1"/>
          <p:nvPr/>
        </p:nvSpPr>
        <p:spPr>
          <a:xfrm>
            <a:off x="84918" y="2996102"/>
            <a:ext cx="504568" cy="369332"/>
          </a:xfrm>
          <a:prstGeom prst="rect">
            <a:avLst/>
          </a:prstGeom>
          <a:noFill/>
        </p:spPr>
        <p:txBody>
          <a:bodyPr wrap="square">
            <a:spAutoFit/>
          </a:bodyPr>
          <a:lstStyle/>
          <a:p>
            <a:r>
              <a:rPr lang="en-US" sz="1800">
                <a:solidFill>
                  <a:srgbClr val="262626"/>
                </a:solidFill>
                <a:sym typeface="Wingdings" panose="05000000000000000000" pitchFamily="2" charset="2"/>
              </a:rPr>
              <a:t></a:t>
            </a:r>
            <a:endParaRPr lang="en-US"/>
          </a:p>
        </p:txBody>
      </p:sp>
      <p:sp>
        <p:nvSpPr>
          <p:cNvPr id="16" name="TextBox 15">
            <a:extLst>
              <a:ext uri="{FF2B5EF4-FFF2-40B4-BE49-F238E27FC236}">
                <a16:creationId xmlns:a16="http://schemas.microsoft.com/office/drawing/2014/main" id="{9330B902-5572-523B-CDA1-C9B9CFB0804B}"/>
              </a:ext>
            </a:extLst>
          </p:cNvPr>
          <p:cNvSpPr txBox="1"/>
          <p:nvPr/>
        </p:nvSpPr>
        <p:spPr>
          <a:xfrm>
            <a:off x="7136152" y="3525542"/>
            <a:ext cx="1948772" cy="307777"/>
          </a:xfrm>
          <a:prstGeom prst="rect">
            <a:avLst/>
          </a:prstGeom>
          <a:noFill/>
        </p:spPr>
        <p:txBody>
          <a:bodyPr wrap="square">
            <a:spAutoFit/>
          </a:bodyPr>
          <a:lstStyle/>
          <a:p>
            <a:r>
              <a:rPr lang="en-US" sz="1400" b="1">
                <a:solidFill>
                  <a:schemeClr val="accent1">
                    <a:lumMod val="75000"/>
                  </a:schemeClr>
                </a:solidFill>
                <a:sym typeface="Wingdings" panose="05000000000000000000" pitchFamily="2" charset="2"/>
              </a:rPr>
              <a:t>Dung lượng sạc </a:t>
            </a:r>
            <a:endParaRPr lang="en-US" sz="1400" b="1">
              <a:solidFill>
                <a:schemeClr val="accent1">
                  <a:lumMod val="75000"/>
                </a:schemeClr>
              </a:solidFill>
            </a:endParaRPr>
          </a:p>
        </p:txBody>
      </p:sp>
      <p:sp>
        <p:nvSpPr>
          <p:cNvPr id="17" name="TextBox 16">
            <a:extLst>
              <a:ext uri="{FF2B5EF4-FFF2-40B4-BE49-F238E27FC236}">
                <a16:creationId xmlns:a16="http://schemas.microsoft.com/office/drawing/2014/main" id="{46960E1F-8BA9-92CD-5D8C-9B533E3BEAEF}"/>
              </a:ext>
            </a:extLst>
          </p:cNvPr>
          <p:cNvSpPr txBox="1"/>
          <p:nvPr/>
        </p:nvSpPr>
        <p:spPr>
          <a:xfrm>
            <a:off x="6706129" y="4393356"/>
            <a:ext cx="1948772" cy="307777"/>
          </a:xfrm>
          <a:prstGeom prst="rect">
            <a:avLst/>
          </a:prstGeom>
          <a:noFill/>
        </p:spPr>
        <p:txBody>
          <a:bodyPr wrap="square">
            <a:spAutoFit/>
          </a:bodyPr>
          <a:lstStyle/>
          <a:p>
            <a:r>
              <a:rPr lang="en-US" sz="1400" b="1">
                <a:solidFill>
                  <a:schemeClr val="accent2">
                    <a:lumMod val="75000"/>
                  </a:schemeClr>
                </a:solidFill>
                <a:sym typeface="Wingdings" panose="05000000000000000000" pitchFamily="2" charset="2"/>
              </a:rPr>
              <a:t>Thời gian sạc </a:t>
            </a:r>
            <a:endParaRPr lang="en-US" sz="1400" b="1">
              <a:solidFill>
                <a:schemeClr val="accent2">
                  <a:lumMod val="75000"/>
                </a:schemeClr>
              </a:solidFill>
            </a:endParaRPr>
          </a:p>
        </p:txBody>
      </p:sp>
    </p:spTree>
    <p:extLst>
      <p:ext uri="{BB962C8B-B14F-4D97-AF65-F5344CB8AC3E}">
        <p14:creationId xmlns:p14="http://schemas.microsoft.com/office/powerpoint/2010/main" val="457087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2E4E8-7B37-D387-57F1-2CC5A0CC20E4}"/>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D701EE73-DC51-681A-9BD4-3CA3DEB73FFC}"/>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9</a:t>
            </a:fld>
            <a:r>
              <a:rPr lang="en-US"/>
              <a:t> 	</a:t>
            </a:r>
          </a:p>
        </p:txBody>
      </p:sp>
      <p:sp>
        <p:nvSpPr>
          <p:cNvPr id="20" name="Date Placeholder 3">
            <a:extLst>
              <a:ext uri="{FF2B5EF4-FFF2-40B4-BE49-F238E27FC236}">
                <a16:creationId xmlns:a16="http://schemas.microsoft.com/office/drawing/2014/main" id="{1C1B173F-3361-9F30-EE5A-9DEC981435D3}"/>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3/21/2025</a:t>
            </a:fld>
            <a:endParaRPr lang="en-US"/>
          </a:p>
        </p:txBody>
      </p:sp>
      <p:sp>
        <p:nvSpPr>
          <p:cNvPr id="21" name="Footer Placeholder 5">
            <a:extLst>
              <a:ext uri="{FF2B5EF4-FFF2-40B4-BE49-F238E27FC236}">
                <a16:creationId xmlns:a16="http://schemas.microsoft.com/office/drawing/2014/main" id="{FE5637AF-73F2-A9FF-9B23-5DC99F68599D}"/>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5" name="Title 4">
            <a:extLst>
              <a:ext uri="{FF2B5EF4-FFF2-40B4-BE49-F238E27FC236}">
                <a16:creationId xmlns:a16="http://schemas.microsoft.com/office/drawing/2014/main" id="{A2F24083-55EB-C668-8BB2-8F858305BE30}"/>
              </a:ext>
            </a:extLst>
          </p:cNvPr>
          <p:cNvSpPr>
            <a:spLocks noGrp="1"/>
          </p:cNvSpPr>
          <p:nvPr>
            <p:ph type="title"/>
          </p:nvPr>
        </p:nvSpPr>
        <p:spPr>
          <a:xfrm>
            <a:off x="466887" y="89570"/>
            <a:ext cx="9766931" cy="548731"/>
          </a:xfrm>
        </p:spPr>
        <p:txBody>
          <a:bodyPr/>
          <a:lstStyle/>
          <a:p>
            <a:r>
              <a:rPr lang="en-US" sz="4000">
                <a:solidFill>
                  <a:srgbClr val="262626"/>
                </a:solidFill>
              </a:rPr>
              <a:t>Tổng quan về các phương pháp sạc</a:t>
            </a:r>
            <a:endParaRPr lang="en-US"/>
          </a:p>
        </p:txBody>
      </p:sp>
      <p:sp>
        <p:nvSpPr>
          <p:cNvPr id="2" name="TextBox 1">
            <a:extLst>
              <a:ext uri="{FF2B5EF4-FFF2-40B4-BE49-F238E27FC236}">
                <a16:creationId xmlns:a16="http://schemas.microsoft.com/office/drawing/2014/main" id="{F2DD1812-A2A8-163A-19CD-D230CAB9AEF2}"/>
              </a:ext>
            </a:extLst>
          </p:cNvPr>
          <p:cNvSpPr txBox="1"/>
          <p:nvPr/>
        </p:nvSpPr>
        <p:spPr>
          <a:xfrm>
            <a:off x="160180" y="887139"/>
            <a:ext cx="7483494" cy="646331"/>
          </a:xfrm>
          <a:prstGeom prst="rect">
            <a:avLst/>
          </a:prstGeom>
          <a:noFill/>
        </p:spPr>
        <p:txBody>
          <a:bodyPr wrap="square">
            <a:spAutoFit/>
          </a:bodyPr>
          <a:lstStyle/>
          <a:p>
            <a:pPr marL="342900" indent="-342900">
              <a:buFont typeface="Wingdings" panose="05000000000000000000" pitchFamily="2" charset="2"/>
              <a:buChar char="q"/>
            </a:pPr>
            <a:r>
              <a:rPr lang="en-US" sz="3600">
                <a:solidFill>
                  <a:srgbClr val="262626"/>
                </a:solidFill>
              </a:rPr>
              <a:t>Phương pháp ổn áp (CV)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B5F2DF3-3206-2BA9-3DD5-989A48A46F77}"/>
                  </a:ext>
                </a:extLst>
              </p:cNvPr>
              <p:cNvSpPr txBox="1"/>
              <p:nvPr/>
            </p:nvSpPr>
            <p:spPr>
              <a:xfrm>
                <a:off x="83980" y="1462131"/>
                <a:ext cx="9661840" cy="1446550"/>
              </a:xfrm>
              <a:prstGeom prst="rect">
                <a:avLst/>
              </a:prstGeom>
              <a:noFill/>
            </p:spPr>
            <p:txBody>
              <a:bodyPr wrap="square">
                <a:spAutoFit/>
              </a:bodyPr>
              <a:lstStyle/>
              <a:p>
                <a:pPr marL="342900" indent="-342900">
                  <a:buFont typeface="Arial" panose="020B0604020202020204" pitchFamily="34" charset="0"/>
                  <a:buChar char="•"/>
                </a:pPr>
                <a:r>
                  <a:rPr lang="en-US" sz="2200" b="1">
                    <a:solidFill>
                      <a:srgbClr val="262626"/>
                    </a:solidFill>
                  </a:rPr>
                  <a:t>KN</a:t>
                </a:r>
                <a:r>
                  <a:rPr lang="en-US" sz="2200">
                    <a:solidFill>
                      <a:srgbClr val="262626"/>
                    </a:solidFill>
                  </a:rPr>
                  <a:t> : Trong suốt quá trình sạc, điện áp của nguồn cung cấp tới pin được giữ không đổi trong suốt quá trình </a:t>
                </a:r>
              </a:p>
              <a:p>
                <a:pPr marL="342900" indent="-342900">
                  <a:buFont typeface="Arial" panose="020B0604020202020204" pitchFamily="34" charset="0"/>
                  <a:buChar char="•"/>
                </a:pPr>
                <a:r>
                  <a:rPr lang="en-US" sz="2200" b="1">
                    <a:solidFill>
                      <a:srgbClr val="262626"/>
                    </a:solidFill>
                  </a:rPr>
                  <a:t>Quá trình cấp điện áp </a:t>
                </a:r>
                <a:r>
                  <a:rPr lang="en-US" sz="2200">
                    <a:solidFill>
                      <a:srgbClr val="262626"/>
                    </a:solidFill>
                  </a:rPr>
                  <a:t>: Điện áp đặt lên pin ban đầu là điện áp mạch hở (OCV), sau đó tăng nhanh chóng đến mức ổn định </a:t>
                </a:r>
                <a14:m>
                  <m:oMath xmlns:m="http://schemas.openxmlformats.org/officeDocument/2006/math">
                    <m:sSub>
                      <m:sSubPr>
                        <m:ctrlPr>
                          <a:rPr lang="en-US" sz="2200" b="0" i="1" smtClean="0">
                            <a:solidFill>
                              <a:srgbClr val="262626"/>
                            </a:solidFill>
                            <a:latin typeface="Cambria Math" panose="02040503050406030204" pitchFamily="18" charset="0"/>
                          </a:rPr>
                        </m:ctrlPr>
                      </m:sSubPr>
                      <m:e>
                        <m:r>
                          <a:rPr lang="en-US" sz="2200" b="0" i="1" smtClean="0">
                            <a:solidFill>
                              <a:srgbClr val="262626"/>
                            </a:solidFill>
                            <a:latin typeface="Cambria Math" panose="02040503050406030204" pitchFamily="18" charset="0"/>
                          </a:rPr>
                          <m:t>𝑉</m:t>
                        </m:r>
                      </m:e>
                      <m:sub>
                        <m:r>
                          <a:rPr lang="en-US" sz="2200" b="0" i="1" smtClean="0">
                            <a:solidFill>
                              <a:srgbClr val="262626"/>
                            </a:solidFill>
                            <a:latin typeface="Cambria Math" panose="02040503050406030204" pitchFamily="18" charset="0"/>
                          </a:rPr>
                          <m:t>𝐶𝑉</m:t>
                        </m:r>
                      </m:sub>
                    </m:sSub>
                  </m:oMath>
                </a14:m>
                <a:r>
                  <a:rPr lang="en-US" sz="2200">
                    <a:solidFill>
                      <a:srgbClr val="262626"/>
                    </a:solidFill>
                  </a:rPr>
                  <a:t> </a:t>
                </a:r>
              </a:p>
            </p:txBody>
          </p:sp>
        </mc:Choice>
        <mc:Fallback xmlns="">
          <p:sp>
            <p:nvSpPr>
              <p:cNvPr id="3" name="TextBox 2">
                <a:extLst>
                  <a:ext uri="{FF2B5EF4-FFF2-40B4-BE49-F238E27FC236}">
                    <a16:creationId xmlns:a16="http://schemas.microsoft.com/office/drawing/2014/main" id="{6B5F2DF3-3206-2BA9-3DD5-989A48A46F77}"/>
                  </a:ext>
                </a:extLst>
              </p:cNvPr>
              <p:cNvSpPr txBox="1">
                <a:spLocks noRot="1" noChangeAspect="1" noMove="1" noResize="1" noEditPoints="1" noAdjustHandles="1" noChangeArrowheads="1" noChangeShapeType="1" noTextEdit="1"/>
              </p:cNvSpPr>
              <p:nvPr/>
            </p:nvSpPr>
            <p:spPr>
              <a:xfrm>
                <a:off x="83980" y="1462131"/>
                <a:ext cx="9661840" cy="1446550"/>
              </a:xfrm>
              <a:prstGeom prst="rect">
                <a:avLst/>
              </a:prstGeom>
              <a:blipFill>
                <a:blip r:embed="rId3"/>
                <a:stretch>
                  <a:fillRect l="-757" t="-2954" b="-7595"/>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58210BEF-6C98-27BD-9FBB-41239A9A6809}"/>
              </a:ext>
            </a:extLst>
          </p:cNvPr>
          <p:cNvPicPr>
            <a:picLocks noChangeAspect="1"/>
          </p:cNvPicPr>
          <p:nvPr/>
        </p:nvPicPr>
        <p:blipFill>
          <a:blip r:embed="rId4"/>
          <a:srcRect l="4984" b="6726"/>
          <a:stretch/>
        </p:blipFill>
        <p:spPr>
          <a:xfrm>
            <a:off x="1234691" y="3095334"/>
            <a:ext cx="2810111" cy="2632366"/>
          </a:xfrm>
          <a:prstGeom prst="rect">
            <a:avLst/>
          </a:prstGeom>
        </p:spPr>
        <p:style>
          <a:lnRef idx="2">
            <a:schemeClr val="dk1"/>
          </a:lnRef>
          <a:fillRef idx="1">
            <a:schemeClr val="lt1"/>
          </a:fillRef>
          <a:effectRef idx="0">
            <a:schemeClr val="dk1"/>
          </a:effectRef>
          <a:fontRef idx="minor">
            <a:schemeClr val="dk1"/>
          </a:fontRef>
        </p:style>
      </p:pic>
      <p:pic>
        <p:nvPicPr>
          <p:cNvPr id="11" name="Picture 10">
            <a:extLst>
              <a:ext uri="{FF2B5EF4-FFF2-40B4-BE49-F238E27FC236}">
                <a16:creationId xmlns:a16="http://schemas.microsoft.com/office/drawing/2014/main" id="{4E1AD692-06CA-4610-2B3D-120BBA4F1529}"/>
              </a:ext>
            </a:extLst>
          </p:cNvPr>
          <p:cNvPicPr>
            <a:picLocks noChangeAspect="1"/>
          </p:cNvPicPr>
          <p:nvPr/>
        </p:nvPicPr>
        <p:blipFill>
          <a:blip r:embed="rId5"/>
          <a:stretch>
            <a:fillRect/>
          </a:stretch>
        </p:blipFill>
        <p:spPr>
          <a:xfrm>
            <a:off x="2538355" y="3954810"/>
            <a:ext cx="623945" cy="126653"/>
          </a:xfrm>
          <a:prstGeom prst="rect">
            <a:avLst/>
          </a:prstGeom>
        </p:spPr>
      </p:pic>
      <p:pic>
        <p:nvPicPr>
          <p:cNvPr id="12" name="Picture 11">
            <a:extLst>
              <a:ext uri="{FF2B5EF4-FFF2-40B4-BE49-F238E27FC236}">
                <a16:creationId xmlns:a16="http://schemas.microsoft.com/office/drawing/2014/main" id="{1EEEB9BF-F9DE-C021-3461-0A548A0973D9}"/>
              </a:ext>
            </a:extLst>
          </p:cNvPr>
          <p:cNvPicPr>
            <a:picLocks noChangeAspect="1"/>
          </p:cNvPicPr>
          <p:nvPr/>
        </p:nvPicPr>
        <p:blipFill>
          <a:blip r:embed="rId5"/>
          <a:stretch>
            <a:fillRect/>
          </a:stretch>
        </p:blipFill>
        <p:spPr>
          <a:xfrm>
            <a:off x="2490818" y="4590130"/>
            <a:ext cx="693617" cy="126653"/>
          </a:xfrm>
          <a:prstGeom prst="rect">
            <a:avLst/>
          </a:prstGeom>
        </p:spPr>
      </p:pic>
      <p:pic>
        <p:nvPicPr>
          <p:cNvPr id="13" name="Picture 12">
            <a:extLst>
              <a:ext uri="{FF2B5EF4-FFF2-40B4-BE49-F238E27FC236}">
                <a16:creationId xmlns:a16="http://schemas.microsoft.com/office/drawing/2014/main" id="{42C38A37-712D-034D-BB03-E8B6581EBE8E}"/>
              </a:ext>
            </a:extLst>
          </p:cNvPr>
          <p:cNvPicPr>
            <a:picLocks noChangeAspect="1"/>
          </p:cNvPicPr>
          <p:nvPr/>
        </p:nvPicPr>
        <p:blipFill>
          <a:blip r:embed="rId5"/>
          <a:stretch>
            <a:fillRect/>
          </a:stretch>
        </p:blipFill>
        <p:spPr>
          <a:xfrm rot="3446170">
            <a:off x="2828708" y="4567797"/>
            <a:ext cx="84354" cy="121015"/>
          </a:xfrm>
          <a:prstGeom prst="rect">
            <a:avLst/>
          </a:prstGeom>
        </p:spPr>
      </p:pic>
      <p:sp>
        <p:nvSpPr>
          <p:cNvPr id="15" name="TextBox 14">
            <a:extLst>
              <a:ext uri="{FF2B5EF4-FFF2-40B4-BE49-F238E27FC236}">
                <a16:creationId xmlns:a16="http://schemas.microsoft.com/office/drawing/2014/main" id="{C890C7A7-6F61-BAC5-D483-CEA0B9F77B16}"/>
              </a:ext>
            </a:extLst>
          </p:cNvPr>
          <p:cNvSpPr txBox="1"/>
          <p:nvPr/>
        </p:nvSpPr>
        <p:spPr>
          <a:xfrm>
            <a:off x="2541366" y="3872016"/>
            <a:ext cx="1094480" cy="276999"/>
          </a:xfrm>
          <a:prstGeom prst="rect">
            <a:avLst/>
          </a:prstGeom>
          <a:noFill/>
        </p:spPr>
        <p:txBody>
          <a:bodyPr wrap="square">
            <a:spAutoFit/>
          </a:bodyPr>
          <a:lstStyle/>
          <a:p>
            <a:r>
              <a:rPr lang="en-US" sz="1200">
                <a:solidFill>
                  <a:schemeClr val="tx1">
                    <a:lumMod val="75000"/>
                    <a:lumOff val="25000"/>
                  </a:schemeClr>
                </a:solidFill>
                <a:latin typeface="Times New Roman" panose="02020603050405020304" pitchFamily="18" charset="0"/>
                <a:cs typeface="Times New Roman" panose="02020603050405020304" pitchFamily="18" charset="0"/>
              </a:rPr>
              <a:t>voltage</a:t>
            </a:r>
          </a:p>
        </p:txBody>
      </p:sp>
      <p:pic>
        <p:nvPicPr>
          <p:cNvPr id="17" name="Picture 16">
            <a:extLst>
              <a:ext uri="{FF2B5EF4-FFF2-40B4-BE49-F238E27FC236}">
                <a16:creationId xmlns:a16="http://schemas.microsoft.com/office/drawing/2014/main" id="{0B01783A-EB71-53F8-3EAD-A0FEF3D6ADD7}"/>
              </a:ext>
            </a:extLst>
          </p:cNvPr>
          <p:cNvPicPr>
            <a:picLocks noChangeAspect="1"/>
          </p:cNvPicPr>
          <p:nvPr/>
        </p:nvPicPr>
        <p:blipFill>
          <a:blip r:embed="rId5"/>
          <a:stretch>
            <a:fillRect/>
          </a:stretch>
        </p:blipFill>
        <p:spPr>
          <a:xfrm rot="20305735">
            <a:off x="2913087" y="4653457"/>
            <a:ext cx="301535" cy="126653"/>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6822D33-16A1-BA2D-5C6D-EF754E7BFA70}"/>
                  </a:ext>
                </a:extLst>
              </p:cNvPr>
              <p:cNvSpPr txBox="1"/>
              <p:nvPr/>
            </p:nvSpPr>
            <p:spPr>
              <a:xfrm>
                <a:off x="2272808" y="4502136"/>
                <a:ext cx="1094480" cy="2616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b="1" i="1" smtClean="0">
                              <a:solidFill>
                                <a:schemeClr val="tx1">
                                  <a:lumMod val="75000"/>
                                  <a:lumOff val="25000"/>
                                </a:schemeClr>
                              </a:solidFill>
                              <a:latin typeface="Cambria Math" panose="02040503050406030204" pitchFamily="18" charset="0"/>
                              <a:cs typeface="Times New Roman" panose="02020603050405020304" pitchFamily="18" charset="0"/>
                            </a:rPr>
                          </m:ctrlPr>
                        </m:sSubPr>
                        <m:e>
                          <m:r>
                            <a:rPr lang="en-US" sz="1100" b="1" i="0" smtClean="0">
                              <a:solidFill>
                                <a:schemeClr val="tx1">
                                  <a:lumMod val="75000"/>
                                  <a:lumOff val="25000"/>
                                </a:schemeClr>
                              </a:solidFill>
                              <a:latin typeface="Cambria Math" panose="02040503050406030204" pitchFamily="18" charset="0"/>
                              <a:cs typeface="Times New Roman" panose="02020603050405020304" pitchFamily="18" charset="0"/>
                            </a:rPr>
                            <m:t>𝐈</m:t>
                          </m:r>
                        </m:e>
                        <m:sub>
                          <m:r>
                            <a:rPr lang="en-US" sz="1100" b="1" i="0" smtClean="0">
                              <a:solidFill>
                                <a:schemeClr val="tx1">
                                  <a:lumMod val="75000"/>
                                  <a:lumOff val="25000"/>
                                </a:schemeClr>
                              </a:solidFill>
                              <a:latin typeface="Cambria Math" panose="02040503050406030204" pitchFamily="18" charset="0"/>
                              <a:cs typeface="Times New Roman" panose="02020603050405020304" pitchFamily="18" charset="0"/>
                            </a:rPr>
                            <m:t>𝐛𝐚𝐭</m:t>
                          </m:r>
                        </m:sub>
                      </m:sSub>
                      <m:r>
                        <a:rPr lang="en-US" sz="1100" b="1" i="0" smtClean="0">
                          <a:solidFill>
                            <a:schemeClr val="tx1">
                              <a:lumMod val="75000"/>
                              <a:lumOff val="25000"/>
                            </a:schemeClr>
                          </a:solidFill>
                          <a:latin typeface="Cambria Math" panose="02040503050406030204" pitchFamily="18" charset="0"/>
                          <a:cs typeface="Times New Roman" panose="02020603050405020304" pitchFamily="18" charset="0"/>
                        </a:rPr>
                        <m:t>=</m:t>
                      </m:r>
                      <m:sSub>
                        <m:sSubPr>
                          <m:ctrlPr>
                            <a:rPr lang="en-US" sz="1100" b="1" i="1" smtClean="0">
                              <a:solidFill>
                                <a:schemeClr val="tx1">
                                  <a:lumMod val="75000"/>
                                  <a:lumOff val="25000"/>
                                </a:schemeClr>
                              </a:solidFill>
                              <a:latin typeface="Cambria Math" panose="02040503050406030204" pitchFamily="18" charset="0"/>
                              <a:cs typeface="Times New Roman" panose="02020603050405020304" pitchFamily="18" charset="0"/>
                            </a:rPr>
                          </m:ctrlPr>
                        </m:sSubPr>
                        <m:e>
                          <m:r>
                            <a:rPr lang="en-US" sz="1100" b="1" i="0" smtClean="0">
                              <a:solidFill>
                                <a:schemeClr val="tx1">
                                  <a:lumMod val="75000"/>
                                  <a:lumOff val="25000"/>
                                </a:schemeClr>
                              </a:solidFill>
                              <a:latin typeface="Cambria Math" panose="02040503050406030204" pitchFamily="18" charset="0"/>
                              <a:cs typeface="Times New Roman" panose="02020603050405020304" pitchFamily="18" charset="0"/>
                            </a:rPr>
                            <m:t>𝐈</m:t>
                          </m:r>
                        </m:e>
                        <m:sub>
                          <m:r>
                            <a:rPr lang="en-US" sz="1100" b="1" i="0" smtClean="0">
                              <a:solidFill>
                                <a:schemeClr val="tx1">
                                  <a:lumMod val="75000"/>
                                  <a:lumOff val="25000"/>
                                </a:schemeClr>
                              </a:solidFill>
                              <a:latin typeface="Cambria Math" panose="02040503050406030204" pitchFamily="18" charset="0"/>
                              <a:cs typeface="Times New Roman" panose="02020603050405020304" pitchFamily="18" charset="0"/>
                            </a:rPr>
                            <m:t>𝐜𝐮𝐭𝐨𝐟𝐟</m:t>
                          </m:r>
                        </m:sub>
                      </m:sSub>
                    </m:oMath>
                  </m:oMathPara>
                </a14:m>
                <a:endParaRPr lang="en-US" sz="1100" b="1">
                  <a:solidFill>
                    <a:schemeClr val="tx1">
                      <a:lumMod val="75000"/>
                      <a:lumOff val="25000"/>
                    </a:schemeClr>
                  </a:solidFill>
                  <a:latin typeface="Times New Roman" panose="02020603050405020304" pitchFamily="18" charset="0"/>
                  <a:cs typeface="Times New Roman" panose="02020603050405020304" pitchFamily="18" charset="0"/>
                </a:endParaRPr>
              </a:p>
            </p:txBody>
          </p:sp>
        </mc:Choice>
        <mc:Fallback xmlns="">
          <p:sp>
            <p:nvSpPr>
              <p:cNvPr id="16" name="TextBox 15">
                <a:extLst>
                  <a:ext uri="{FF2B5EF4-FFF2-40B4-BE49-F238E27FC236}">
                    <a16:creationId xmlns:a16="http://schemas.microsoft.com/office/drawing/2014/main" id="{46822D33-16A1-BA2D-5C6D-EF754E7BFA70}"/>
                  </a:ext>
                </a:extLst>
              </p:cNvPr>
              <p:cNvSpPr txBox="1">
                <a:spLocks noRot="1" noChangeAspect="1" noMove="1" noResize="1" noEditPoints="1" noAdjustHandles="1" noChangeArrowheads="1" noChangeShapeType="1" noTextEdit="1"/>
              </p:cNvSpPr>
              <p:nvPr/>
            </p:nvSpPr>
            <p:spPr>
              <a:xfrm>
                <a:off x="2272808" y="4502136"/>
                <a:ext cx="1094480" cy="261610"/>
              </a:xfrm>
              <a:prstGeom prst="rect">
                <a:avLst/>
              </a:prstGeom>
              <a:blipFill>
                <a:blip r:embed="rId6"/>
                <a:stretch>
                  <a:fillRect/>
                </a:stretch>
              </a:blipFill>
            </p:spPr>
            <p:txBody>
              <a:bodyPr/>
              <a:lstStyle/>
              <a:p>
                <a:r>
                  <a:rPr lang="en-US">
                    <a:noFill/>
                  </a:rPr>
                  <a:t> </a:t>
                </a:r>
              </a:p>
            </p:txBody>
          </p:sp>
        </mc:Fallback>
      </mc:AlternateContent>
      <p:pic>
        <p:nvPicPr>
          <p:cNvPr id="22" name="Picture 21">
            <a:extLst>
              <a:ext uri="{FF2B5EF4-FFF2-40B4-BE49-F238E27FC236}">
                <a16:creationId xmlns:a16="http://schemas.microsoft.com/office/drawing/2014/main" id="{59E9FCAE-5EB6-F735-D41E-4EC5E1F3B1C3}"/>
              </a:ext>
            </a:extLst>
          </p:cNvPr>
          <p:cNvPicPr>
            <a:picLocks noChangeAspect="1"/>
          </p:cNvPicPr>
          <p:nvPr/>
        </p:nvPicPr>
        <p:blipFill>
          <a:blip r:embed="rId7"/>
          <a:srcRect b="10401"/>
          <a:stretch/>
        </p:blipFill>
        <p:spPr>
          <a:xfrm>
            <a:off x="5301519" y="3095334"/>
            <a:ext cx="3919784" cy="2632366"/>
          </a:xfrm>
          <a:prstGeom prst="rect">
            <a:avLst/>
          </a:prstGeom>
        </p:spPr>
        <p:style>
          <a:lnRef idx="2">
            <a:schemeClr val="dk1"/>
          </a:lnRef>
          <a:fillRef idx="1">
            <a:schemeClr val="lt1"/>
          </a:fillRef>
          <a:effectRef idx="0">
            <a:schemeClr val="dk1"/>
          </a:effectRef>
          <a:fontRef idx="minor">
            <a:schemeClr val="dk1"/>
          </a:fontRef>
        </p:style>
      </p:pic>
      <p:sp>
        <p:nvSpPr>
          <p:cNvPr id="4" name="TextBox 3">
            <a:extLst>
              <a:ext uri="{FF2B5EF4-FFF2-40B4-BE49-F238E27FC236}">
                <a16:creationId xmlns:a16="http://schemas.microsoft.com/office/drawing/2014/main" id="{A45CFEBC-48B4-67C4-CB86-0390057A3F11}"/>
              </a:ext>
            </a:extLst>
          </p:cNvPr>
          <p:cNvSpPr txBox="1"/>
          <p:nvPr/>
        </p:nvSpPr>
        <p:spPr>
          <a:xfrm>
            <a:off x="6470109" y="5816972"/>
            <a:ext cx="1889642" cy="307777"/>
          </a:xfrm>
          <a:prstGeom prst="rect">
            <a:avLst/>
          </a:prstGeom>
          <a:noFill/>
        </p:spPr>
        <p:txBody>
          <a:bodyPr wrap="square">
            <a:spAutoFit/>
          </a:bodyPr>
          <a:lstStyle/>
          <a:p>
            <a:r>
              <a:rPr lang="en-US" sz="1400"/>
              <a:t>H7 : Đồ thị V,I pp CV</a:t>
            </a:r>
          </a:p>
        </p:txBody>
      </p:sp>
      <p:sp>
        <p:nvSpPr>
          <p:cNvPr id="6" name="TextBox 5">
            <a:extLst>
              <a:ext uri="{FF2B5EF4-FFF2-40B4-BE49-F238E27FC236}">
                <a16:creationId xmlns:a16="http://schemas.microsoft.com/office/drawing/2014/main" id="{9F412D8A-91EB-3F6B-30F4-14027E6CA272}"/>
              </a:ext>
            </a:extLst>
          </p:cNvPr>
          <p:cNvSpPr txBox="1"/>
          <p:nvPr/>
        </p:nvSpPr>
        <p:spPr>
          <a:xfrm>
            <a:off x="1627598" y="5816972"/>
            <a:ext cx="1889642" cy="307777"/>
          </a:xfrm>
          <a:prstGeom prst="rect">
            <a:avLst/>
          </a:prstGeom>
          <a:noFill/>
        </p:spPr>
        <p:txBody>
          <a:bodyPr wrap="square">
            <a:spAutoFit/>
          </a:bodyPr>
          <a:lstStyle/>
          <a:p>
            <a:r>
              <a:rPr lang="en-US" sz="1400"/>
              <a:t>H6 : Sơ đồ sạc CV</a:t>
            </a:r>
          </a:p>
        </p:txBody>
      </p:sp>
    </p:spTree>
    <p:extLst>
      <p:ext uri="{BB962C8B-B14F-4D97-AF65-F5344CB8AC3E}">
        <p14:creationId xmlns:p14="http://schemas.microsoft.com/office/powerpoint/2010/main" val="3922907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0FEB7-EF72-3561-E729-B30924C25D5D}"/>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78FF7CB5-418E-4037-8F51-EC352C1B61DA}"/>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10</a:t>
            </a:fld>
            <a:r>
              <a:rPr lang="en-US"/>
              <a:t> 	</a:t>
            </a:r>
          </a:p>
        </p:txBody>
      </p:sp>
      <p:sp>
        <p:nvSpPr>
          <p:cNvPr id="20" name="Date Placeholder 3">
            <a:extLst>
              <a:ext uri="{FF2B5EF4-FFF2-40B4-BE49-F238E27FC236}">
                <a16:creationId xmlns:a16="http://schemas.microsoft.com/office/drawing/2014/main" id="{397C4D82-2657-5DC8-098B-486E18A78C19}"/>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3/21/2025</a:t>
            </a:fld>
            <a:endParaRPr lang="en-US"/>
          </a:p>
        </p:txBody>
      </p:sp>
      <p:sp>
        <p:nvSpPr>
          <p:cNvPr id="21" name="Footer Placeholder 5">
            <a:extLst>
              <a:ext uri="{FF2B5EF4-FFF2-40B4-BE49-F238E27FC236}">
                <a16:creationId xmlns:a16="http://schemas.microsoft.com/office/drawing/2014/main" id="{7E68FB6A-E209-2BF9-15FA-11B0B5461334}"/>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5" name="Title 4">
            <a:extLst>
              <a:ext uri="{FF2B5EF4-FFF2-40B4-BE49-F238E27FC236}">
                <a16:creationId xmlns:a16="http://schemas.microsoft.com/office/drawing/2014/main" id="{17A42722-F313-9FDC-7C17-3AD6803821D5}"/>
              </a:ext>
            </a:extLst>
          </p:cNvPr>
          <p:cNvSpPr>
            <a:spLocks noGrp="1"/>
          </p:cNvSpPr>
          <p:nvPr>
            <p:ph type="title"/>
          </p:nvPr>
        </p:nvSpPr>
        <p:spPr>
          <a:xfrm>
            <a:off x="466887" y="89570"/>
            <a:ext cx="9766931" cy="548731"/>
          </a:xfrm>
        </p:spPr>
        <p:txBody>
          <a:bodyPr/>
          <a:lstStyle/>
          <a:p>
            <a:r>
              <a:rPr lang="en-US" sz="4000">
                <a:solidFill>
                  <a:srgbClr val="262626"/>
                </a:solidFill>
              </a:rPr>
              <a:t>Tổng quan về các phương pháp sạc</a:t>
            </a:r>
            <a:endParaRPr lang="en-US"/>
          </a:p>
        </p:txBody>
      </p:sp>
      <p:sp>
        <p:nvSpPr>
          <p:cNvPr id="2" name="TextBox 1">
            <a:extLst>
              <a:ext uri="{FF2B5EF4-FFF2-40B4-BE49-F238E27FC236}">
                <a16:creationId xmlns:a16="http://schemas.microsoft.com/office/drawing/2014/main" id="{19ACAFE2-A343-FE8B-3470-33561FF788DC}"/>
              </a:ext>
            </a:extLst>
          </p:cNvPr>
          <p:cNvSpPr txBox="1"/>
          <p:nvPr/>
        </p:nvSpPr>
        <p:spPr>
          <a:xfrm>
            <a:off x="160180" y="887139"/>
            <a:ext cx="7483494" cy="646331"/>
          </a:xfrm>
          <a:prstGeom prst="rect">
            <a:avLst/>
          </a:prstGeom>
          <a:noFill/>
        </p:spPr>
        <p:txBody>
          <a:bodyPr wrap="square">
            <a:spAutoFit/>
          </a:bodyPr>
          <a:lstStyle/>
          <a:p>
            <a:pPr marL="342900" indent="-342900">
              <a:buFont typeface="Wingdings" panose="05000000000000000000" pitchFamily="2" charset="2"/>
              <a:buChar char="q"/>
            </a:pPr>
            <a:r>
              <a:rPr lang="en-US" sz="3600">
                <a:solidFill>
                  <a:srgbClr val="262626"/>
                </a:solidFill>
              </a:rPr>
              <a:t>Phương pháp ổn áp (CV) </a:t>
            </a: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2E52F3F6-84B8-2B2E-4CCA-C2CE2E476999}"/>
                  </a:ext>
                </a:extLst>
              </p:cNvPr>
              <p:cNvSpPr txBox="1"/>
              <p:nvPr/>
            </p:nvSpPr>
            <p:spPr>
              <a:xfrm>
                <a:off x="83980" y="1412062"/>
                <a:ext cx="9661840" cy="5062924"/>
              </a:xfrm>
              <a:prstGeom prst="rect">
                <a:avLst/>
              </a:prstGeom>
              <a:noFill/>
            </p:spPr>
            <p:txBody>
              <a:bodyPr wrap="square">
                <a:spAutoFit/>
              </a:bodyPr>
              <a:lstStyle/>
              <a:p>
                <a:pPr marL="342900" indent="-342900">
                  <a:buFont typeface="Arial" panose="020B0604020202020204" pitchFamily="34" charset="0"/>
                  <a:buChar char="•"/>
                </a:pPr>
                <a:r>
                  <a:rPr lang="en-US" sz="2200" b="1">
                    <a:solidFill>
                      <a:srgbClr val="262626"/>
                    </a:solidFill>
                  </a:rPr>
                  <a:t>Tính toán :</a:t>
                </a:r>
              </a:p>
              <a:p>
                <a:pPr marL="800100" lvl="1" indent="-342900">
                  <a:buFont typeface="Courier New" panose="02070309020205020404" pitchFamily="49" charset="0"/>
                  <a:buChar char="o"/>
                </a:pPr>
                <a:r>
                  <a:rPr lang="en-US">
                    <a:solidFill>
                      <a:srgbClr val="262626"/>
                    </a:solidFill>
                  </a:rPr>
                  <a:t>Mô hình pin : Theo kiểu Rin (h3)</a:t>
                </a:r>
              </a:p>
              <a:p>
                <a:pPr marL="800100" lvl="1" indent="-342900">
                  <a:buFont typeface="Courier New" panose="02070309020205020404" pitchFamily="49" charset="0"/>
                  <a:buChar char="o"/>
                </a:pPr>
                <a:r>
                  <a:rPr lang="en-US">
                    <a:solidFill>
                      <a:srgbClr val="262626"/>
                    </a:solidFill>
                  </a:rPr>
                  <a:t>Trước chuyển mạch : </a:t>
                </a:r>
                <a14:m>
                  <m:oMath xmlns:m="http://schemas.openxmlformats.org/officeDocument/2006/math">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𝑉</m:t>
                        </m:r>
                      </m:e>
                      <m:sub>
                        <m:r>
                          <a:rPr lang="en-US" b="0" i="1" smtClean="0">
                            <a:solidFill>
                              <a:srgbClr val="262626"/>
                            </a:solidFill>
                            <a:latin typeface="Cambria Math" panose="02040503050406030204" pitchFamily="18" charset="0"/>
                          </a:rPr>
                          <m:t>𝐶</m:t>
                        </m:r>
                        <m:r>
                          <a:rPr lang="en-US" b="0" i="1" smtClean="0">
                            <a:solidFill>
                              <a:srgbClr val="262626"/>
                            </a:solidFill>
                            <a:latin typeface="Cambria Math" panose="02040503050406030204" pitchFamily="18" charset="0"/>
                          </a:rPr>
                          <m:t>0</m:t>
                        </m:r>
                      </m:sub>
                    </m:sSub>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𝑂𝐶𝑉</m:t>
                    </m:r>
                    <m:r>
                      <a:rPr lang="en-US" b="0" i="1" smtClean="0">
                        <a:solidFill>
                          <a:srgbClr val="262626"/>
                        </a:solidFill>
                        <a:latin typeface="Cambria Math" panose="02040503050406030204" pitchFamily="18" charset="0"/>
                      </a:rPr>
                      <m:t> </m:t>
                    </m:r>
                    <m:d>
                      <m:dPr>
                        <m:ctrlPr>
                          <a:rPr lang="en-US" b="0" i="1" smtClean="0">
                            <a:solidFill>
                              <a:srgbClr val="262626"/>
                            </a:solidFill>
                            <a:latin typeface="Cambria Math" panose="02040503050406030204" pitchFamily="18" charset="0"/>
                          </a:rPr>
                        </m:ctrlPr>
                      </m:dPr>
                      <m:e>
                        <m:r>
                          <a:rPr lang="en-US" b="0" i="1" smtClean="0">
                            <a:solidFill>
                              <a:srgbClr val="262626"/>
                            </a:solidFill>
                            <a:latin typeface="Cambria Math" panose="02040503050406030204" pitchFamily="18" charset="0"/>
                          </a:rPr>
                          <m:t>𝑉</m:t>
                        </m:r>
                      </m:e>
                    </m:d>
                  </m:oMath>
                </a14:m>
                <a:endParaRPr lang="en-US" b="0">
                  <a:solidFill>
                    <a:srgbClr val="262626"/>
                  </a:solidFill>
                </a:endParaRPr>
              </a:p>
              <a:p>
                <a:pPr marL="800100" lvl="1" indent="-342900">
                  <a:buFont typeface="Courier New" panose="02070309020205020404" pitchFamily="49" charset="0"/>
                  <a:buChar char="o"/>
                </a:pPr>
                <a:r>
                  <a:rPr lang="en-US">
                    <a:solidFill>
                      <a:srgbClr val="262626"/>
                    </a:solidFill>
                  </a:rPr>
                  <a:t>Sau chuyển mạch  :</a:t>
                </a:r>
              </a:p>
              <a:p>
                <a:pPr lvl="1">
                  <a:lnSpc>
                    <a:spcPct val="150000"/>
                  </a:lnSpc>
                </a:pPr>
                <a:r>
                  <a:rPr lang="en-US" b="0">
                    <a:solidFill>
                      <a:srgbClr val="262626"/>
                    </a:solidFill>
                  </a:rPr>
                  <a:t>        </a:t>
                </a:r>
                <a14:m>
                  <m:oMath xmlns:m="http://schemas.openxmlformats.org/officeDocument/2006/math">
                    <m:f>
                      <m:fPr>
                        <m:ctrlPr>
                          <a:rPr lang="en-US" b="0" i="1" smtClean="0">
                            <a:solidFill>
                              <a:srgbClr val="262626"/>
                            </a:solidFill>
                            <a:latin typeface="Cambria Math" panose="02040503050406030204" pitchFamily="18" charset="0"/>
                          </a:rPr>
                        </m:ctrlPr>
                      </m:fPr>
                      <m:num>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𝐼</m:t>
                            </m:r>
                          </m:e>
                          <m:sub>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𝑠</m:t>
                            </m:r>
                            <m:r>
                              <a:rPr lang="en-US" b="0" i="1" smtClean="0">
                                <a:solidFill>
                                  <a:srgbClr val="262626"/>
                                </a:solidFill>
                                <a:latin typeface="Cambria Math" panose="02040503050406030204" pitchFamily="18" charset="0"/>
                              </a:rPr>
                              <m:t>)</m:t>
                            </m:r>
                          </m:sub>
                        </m:sSub>
                      </m:num>
                      <m:den>
                        <m:r>
                          <a:rPr lang="en-US" b="0" i="1" smtClean="0">
                            <a:solidFill>
                              <a:srgbClr val="262626"/>
                            </a:solidFill>
                            <a:latin typeface="Cambria Math" panose="02040503050406030204" pitchFamily="18" charset="0"/>
                          </a:rPr>
                          <m:t>𝑠</m:t>
                        </m:r>
                      </m:den>
                    </m:f>
                    <m:r>
                      <a:rPr lang="en-US" i="1">
                        <a:solidFill>
                          <a:srgbClr val="262626"/>
                        </a:solidFill>
                        <a:latin typeface="Cambria Math" panose="02040503050406030204" pitchFamily="18" charset="0"/>
                      </a:rPr>
                      <m:t>×</m:t>
                    </m:r>
                    <m:d>
                      <m:dPr>
                        <m:ctrlPr>
                          <a:rPr lang="en-US" b="0" i="1" smtClean="0">
                            <a:solidFill>
                              <a:srgbClr val="262626"/>
                            </a:solidFill>
                            <a:latin typeface="Cambria Math" panose="02040503050406030204" pitchFamily="18" charset="0"/>
                          </a:rPr>
                        </m:ctrlPr>
                      </m:dPr>
                      <m:e>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𝑅</m:t>
                            </m:r>
                          </m:e>
                          <m:sub>
                            <m:r>
                              <a:rPr lang="en-US" b="0" i="1" smtClean="0">
                                <a:solidFill>
                                  <a:srgbClr val="262626"/>
                                </a:solidFill>
                                <a:latin typeface="Cambria Math" panose="02040503050406030204" pitchFamily="18" charset="0"/>
                              </a:rPr>
                              <m:t>𝑏</m:t>
                            </m:r>
                          </m:sub>
                        </m:sSub>
                        <m:r>
                          <a:rPr lang="en-US" b="0" i="1" smtClean="0">
                            <a:solidFill>
                              <a:srgbClr val="262626"/>
                            </a:solidFill>
                            <a:latin typeface="Cambria Math" panose="02040503050406030204" pitchFamily="18" charset="0"/>
                          </a:rPr>
                          <m:t>+</m:t>
                        </m:r>
                        <m:f>
                          <m:fPr>
                            <m:ctrlPr>
                              <a:rPr lang="en-US" b="0" i="1" smtClean="0">
                                <a:solidFill>
                                  <a:srgbClr val="262626"/>
                                </a:solidFill>
                                <a:latin typeface="Cambria Math" panose="02040503050406030204" pitchFamily="18" charset="0"/>
                              </a:rPr>
                            </m:ctrlPr>
                          </m:fPr>
                          <m:num>
                            <m:r>
                              <a:rPr lang="en-US" b="0" i="1" smtClean="0">
                                <a:solidFill>
                                  <a:srgbClr val="262626"/>
                                </a:solidFill>
                                <a:latin typeface="Cambria Math" panose="02040503050406030204" pitchFamily="18" charset="0"/>
                              </a:rPr>
                              <m:t>1</m:t>
                            </m:r>
                          </m:num>
                          <m:den>
                            <m:r>
                              <a:rPr lang="en-US" b="0" i="1" smtClean="0">
                                <a:solidFill>
                                  <a:srgbClr val="262626"/>
                                </a:solidFill>
                                <a:latin typeface="Cambria Math" panose="02040503050406030204" pitchFamily="18" charset="0"/>
                              </a:rPr>
                              <m:t>𝑠𝐶</m:t>
                            </m:r>
                          </m:den>
                        </m:f>
                      </m:e>
                    </m:d>
                    <m:r>
                      <a:rPr lang="en-US" b="0" i="1" smtClean="0">
                        <a:solidFill>
                          <a:srgbClr val="262626"/>
                        </a:solidFill>
                        <a:latin typeface="Cambria Math" panose="02040503050406030204" pitchFamily="18" charset="0"/>
                      </a:rPr>
                      <m:t>=</m:t>
                    </m:r>
                    <m:f>
                      <m:fPr>
                        <m:ctrlPr>
                          <a:rPr lang="en-US" b="0" i="1" smtClean="0">
                            <a:solidFill>
                              <a:srgbClr val="262626"/>
                            </a:solidFill>
                            <a:latin typeface="Cambria Math" panose="02040503050406030204" pitchFamily="18" charset="0"/>
                          </a:rPr>
                        </m:ctrlPr>
                      </m:fPr>
                      <m:num>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𝑉</m:t>
                            </m:r>
                          </m:e>
                          <m:sub>
                            <m:r>
                              <a:rPr lang="en-US" b="0" i="1" smtClean="0">
                                <a:solidFill>
                                  <a:srgbClr val="262626"/>
                                </a:solidFill>
                                <a:latin typeface="Cambria Math" panose="02040503050406030204" pitchFamily="18" charset="0"/>
                              </a:rPr>
                              <m:t>𝐶𝑉</m:t>
                            </m:r>
                          </m:sub>
                        </m:sSub>
                      </m:num>
                      <m:den>
                        <m:r>
                          <a:rPr lang="en-US" b="0" i="1" smtClean="0">
                            <a:solidFill>
                              <a:srgbClr val="262626"/>
                            </a:solidFill>
                            <a:latin typeface="Cambria Math" panose="02040503050406030204" pitchFamily="18" charset="0"/>
                          </a:rPr>
                          <m:t>𝑠</m:t>
                        </m:r>
                      </m:den>
                    </m:f>
                    <m:r>
                      <a:rPr lang="en-US" b="0" i="1" smtClean="0">
                        <a:solidFill>
                          <a:srgbClr val="262626"/>
                        </a:solidFill>
                        <a:latin typeface="Cambria Math" panose="02040503050406030204" pitchFamily="18" charset="0"/>
                      </a:rPr>
                      <m:t>−</m:t>
                    </m:r>
                    <m:f>
                      <m:fPr>
                        <m:ctrlPr>
                          <a:rPr lang="en-US" b="0" i="1" smtClean="0">
                            <a:solidFill>
                              <a:srgbClr val="262626"/>
                            </a:solidFill>
                            <a:latin typeface="Cambria Math" panose="02040503050406030204" pitchFamily="18" charset="0"/>
                          </a:rPr>
                        </m:ctrlPr>
                      </m:fPr>
                      <m:num>
                        <m:r>
                          <a:rPr lang="en-US" b="0" i="1" smtClean="0">
                            <a:solidFill>
                              <a:srgbClr val="262626"/>
                            </a:solidFill>
                            <a:latin typeface="Cambria Math" panose="02040503050406030204" pitchFamily="18" charset="0"/>
                          </a:rPr>
                          <m:t>𝑂𝐶𝑉</m:t>
                        </m:r>
                      </m:num>
                      <m:den>
                        <m:r>
                          <a:rPr lang="en-US" b="0" i="1" smtClean="0">
                            <a:solidFill>
                              <a:srgbClr val="262626"/>
                            </a:solidFill>
                            <a:latin typeface="Cambria Math" panose="02040503050406030204" pitchFamily="18" charset="0"/>
                          </a:rPr>
                          <m:t>𝑠</m:t>
                        </m:r>
                      </m:den>
                    </m:f>
                  </m:oMath>
                </a14:m>
                <a:endParaRPr lang="en-US">
                  <a:solidFill>
                    <a:srgbClr val="262626"/>
                  </a:solidFill>
                </a:endParaRPr>
              </a:p>
              <a:p>
                <a:pPr marL="742950" lvl="1" indent="-285750">
                  <a:lnSpc>
                    <a:spcPct val="150000"/>
                  </a:lnSpc>
                  <a:buFont typeface="Courier New" panose="02070309020205020404" pitchFamily="49" charset="0"/>
                  <a:buChar char="o"/>
                </a:pPr>
                <a:r>
                  <a:rPr lang="en-US">
                    <a:solidFill>
                      <a:srgbClr val="262626"/>
                    </a:solidFill>
                  </a:rPr>
                  <a:t>Dòng điện sạc cho pin : </a:t>
                </a:r>
              </a:p>
              <a:p>
                <a:pPr lvl="1">
                  <a:lnSpc>
                    <a:spcPct val="150000"/>
                  </a:lnSpc>
                </a:pPr>
                <a:r>
                  <a:rPr lang="en-US" b="0">
                    <a:solidFill>
                      <a:srgbClr val="262626"/>
                    </a:solidFill>
                  </a:rPr>
                  <a:t>        </a:t>
                </a:r>
                <a14:m>
                  <m:oMath xmlns:m="http://schemas.openxmlformats.org/officeDocument/2006/math">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𝐼</m:t>
                        </m:r>
                      </m:e>
                      <m:sub>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𝑡</m:t>
                        </m:r>
                        <m:r>
                          <a:rPr lang="en-US" b="0" i="1" smtClean="0">
                            <a:solidFill>
                              <a:srgbClr val="262626"/>
                            </a:solidFill>
                            <a:latin typeface="Cambria Math" panose="02040503050406030204" pitchFamily="18" charset="0"/>
                          </a:rPr>
                          <m:t>)</m:t>
                        </m:r>
                      </m:sub>
                    </m:sSub>
                    <m:r>
                      <a:rPr lang="en-US" b="0" i="1" smtClean="0">
                        <a:solidFill>
                          <a:srgbClr val="262626"/>
                        </a:solidFill>
                        <a:latin typeface="Cambria Math" panose="02040503050406030204" pitchFamily="18" charset="0"/>
                      </a:rPr>
                      <m:t>=</m:t>
                    </m:r>
                    <m:f>
                      <m:fPr>
                        <m:ctrlPr>
                          <a:rPr lang="en-US" b="0" i="1" smtClean="0">
                            <a:solidFill>
                              <a:srgbClr val="262626"/>
                            </a:solidFill>
                            <a:latin typeface="Cambria Math" panose="02040503050406030204" pitchFamily="18" charset="0"/>
                          </a:rPr>
                        </m:ctrlPr>
                      </m:fPr>
                      <m:num>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𝑉</m:t>
                            </m:r>
                          </m:e>
                          <m:sub>
                            <m:r>
                              <a:rPr lang="en-US" b="0" i="1" smtClean="0">
                                <a:solidFill>
                                  <a:srgbClr val="262626"/>
                                </a:solidFill>
                                <a:latin typeface="Cambria Math" panose="02040503050406030204" pitchFamily="18" charset="0"/>
                              </a:rPr>
                              <m:t>𝐶𝑉</m:t>
                            </m:r>
                          </m:sub>
                        </m:sSub>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𝑂𝐶𝑉</m:t>
                        </m:r>
                        <m:r>
                          <a:rPr lang="en-US" b="0" i="1" smtClean="0">
                            <a:solidFill>
                              <a:srgbClr val="262626"/>
                            </a:solidFill>
                            <a:latin typeface="Cambria Math" panose="02040503050406030204" pitchFamily="18" charset="0"/>
                          </a:rPr>
                          <m:t>(0)</m:t>
                        </m:r>
                      </m:num>
                      <m:den>
                        <m:r>
                          <a:rPr lang="en-US" b="0" i="1" smtClean="0">
                            <a:solidFill>
                              <a:srgbClr val="262626"/>
                            </a:solidFill>
                            <a:latin typeface="Cambria Math" panose="02040503050406030204" pitchFamily="18" charset="0"/>
                          </a:rPr>
                          <m:t>𝑅</m:t>
                        </m:r>
                      </m:den>
                    </m:f>
                    <m:r>
                      <a:rPr lang="en-US" i="1">
                        <a:solidFill>
                          <a:srgbClr val="262626"/>
                        </a:solidFill>
                        <a:latin typeface="Cambria Math" panose="02040503050406030204" pitchFamily="18" charset="0"/>
                      </a:rPr>
                      <m:t>×</m:t>
                    </m:r>
                    <m:sSup>
                      <m:sSupPr>
                        <m:ctrlPr>
                          <a:rPr lang="en-US" b="0" i="1" smtClean="0">
                            <a:solidFill>
                              <a:srgbClr val="262626"/>
                            </a:solidFill>
                            <a:latin typeface="Cambria Math" panose="02040503050406030204" pitchFamily="18" charset="0"/>
                          </a:rPr>
                        </m:ctrlPr>
                      </m:sSupPr>
                      <m:e>
                        <m:r>
                          <a:rPr lang="en-US" b="0" i="1" smtClean="0">
                            <a:solidFill>
                              <a:srgbClr val="262626"/>
                            </a:solidFill>
                            <a:latin typeface="Cambria Math" panose="02040503050406030204" pitchFamily="18" charset="0"/>
                          </a:rPr>
                          <m:t>𝑒</m:t>
                        </m:r>
                      </m:e>
                      <m:sup>
                        <m:r>
                          <a:rPr lang="en-US" b="0" i="1" smtClean="0">
                            <a:solidFill>
                              <a:srgbClr val="262626"/>
                            </a:solidFill>
                            <a:latin typeface="Cambria Math" panose="02040503050406030204" pitchFamily="18" charset="0"/>
                          </a:rPr>
                          <m:t>−</m:t>
                        </m:r>
                        <m:f>
                          <m:fPr>
                            <m:ctrlPr>
                              <a:rPr lang="en-US" b="0" i="1" smtClean="0">
                                <a:solidFill>
                                  <a:srgbClr val="262626"/>
                                </a:solidFill>
                                <a:latin typeface="Cambria Math" panose="02040503050406030204" pitchFamily="18" charset="0"/>
                              </a:rPr>
                            </m:ctrlPr>
                          </m:fPr>
                          <m:num>
                            <m:r>
                              <a:rPr lang="en-US" b="0" i="1" smtClean="0">
                                <a:solidFill>
                                  <a:srgbClr val="262626"/>
                                </a:solidFill>
                                <a:latin typeface="Cambria Math" panose="02040503050406030204" pitchFamily="18" charset="0"/>
                              </a:rPr>
                              <m:t>𝑡</m:t>
                            </m:r>
                          </m:num>
                          <m:den>
                            <m:r>
                              <a:rPr lang="en-US" b="0" i="1" smtClean="0">
                                <a:solidFill>
                                  <a:srgbClr val="262626"/>
                                </a:solidFill>
                                <a:latin typeface="Cambria Math" panose="02040503050406030204" pitchFamily="18" charset="0"/>
                              </a:rPr>
                              <m:t>𝑅𝐶</m:t>
                            </m:r>
                          </m:den>
                        </m:f>
                      </m:sup>
                    </m:sSup>
                    <m:r>
                      <a:rPr lang="en-US" b="0" i="0" smtClean="0">
                        <a:solidFill>
                          <a:srgbClr val="262626"/>
                        </a:solidFill>
                        <a:latin typeface="Cambria Math" panose="02040503050406030204" pitchFamily="18" charset="0"/>
                      </a:rPr>
                      <m:t>=</m:t>
                    </m:r>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𝐼</m:t>
                        </m:r>
                      </m:e>
                      <m:sub>
                        <m:r>
                          <a:rPr lang="en-US" b="0" i="1" smtClean="0">
                            <a:solidFill>
                              <a:srgbClr val="262626"/>
                            </a:solidFill>
                            <a:latin typeface="Cambria Math" panose="02040503050406030204" pitchFamily="18" charset="0"/>
                          </a:rPr>
                          <m:t>0</m:t>
                        </m:r>
                      </m:sub>
                    </m:sSub>
                    <m:r>
                      <a:rPr lang="en-US" i="1">
                        <a:solidFill>
                          <a:srgbClr val="262626"/>
                        </a:solidFill>
                        <a:latin typeface="Cambria Math" panose="02040503050406030204" pitchFamily="18" charset="0"/>
                      </a:rPr>
                      <m:t>×</m:t>
                    </m:r>
                    <m:sSup>
                      <m:sSupPr>
                        <m:ctrlPr>
                          <a:rPr lang="en-US" i="1">
                            <a:solidFill>
                              <a:srgbClr val="262626"/>
                            </a:solidFill>
                            <a:latin typeface="Cambria Math" panose="02040503050406030204" pitchFamily="18" charset="0"/>
                          </a:rPr>
                        </m:ctrlPr>
                      </m:sSupPr>
                      <m:e>
                        <m:r>
                          <a:rPr lang="en-US" i="1">
                            <a:solidFill>
                              <a:srgbClr val="262626"/>
                            </a:solidFill>
                            <a:latin typeface="Cambria Math" panose="02040503050406030204" pitchFamily="18" charset="0"/>
                          </a:rPr>
                          <m:t>𝑒</m:t>
                        </m:r>
                      </m:e>
                      <m:sup>
                        <m:r>
                          <a:rPr lang="en-US" i="1">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 </m:t>
                        </m:r>
                        <m:f>
                          <m:fPr>
                            <m:ctrlPr>
                              <a:rPr lang="en-US" i="1">
                                <a:solidFill>
                                  <a:srgbClr val="262626"/>
                                </a:solidFill>
                                <a:latin typeface="Cambria Math" panose="02040503050406030204" pitchFamily="18" charset="0"/>
                              </a:rPr>
                            </m:ctrlPr>
                          </m:fPr>
                          <m:num>
                            <m:r>
                              <a:rPr lang="en-US" i="1">
                                <a:solidFill>
                                  <a:srgbClr val="262626"/>
                                </a:solidFill>
                                <a:latin typeface="Cambria Math" panose="02040503050406030204" pitchFamily="18" charset="0"/>
                              </a:rPr>
                              <m:t>𝑡</m:t>
                            </m:r>
                          </m:num>
                          <m:den>
                            <m:r>
                              <a:rPr lang="en-US" b="0" i="1" smtClean="0">
                                <a:solidFill>
                                  <a:srgbClr val="262626"/>
                                </a:solidFill>
                                <a:latin typeface="Cambria Math" panose="02040503050406030204" pitchFamily="18" charset="0"/>
                              </a:rPr>
                              <m:t> </m:t>
                            </m:r>
                            <m:r>
                              <a:rPr lang="en-US" i="1">
                                <a:solidFill>
                                  <a:srgbClr val="262626"/>
                                </a:solidFill>
                                <a:latin typeface="Cambria Math" panose="02040503050406030204" pitchFamily="18" charset="0"/>
                              </a:rPr>
                              <m:t>𝑅𝐶</m:t>
                            </m:r>
                          </m:den>
                        </m:f>
                      </m:sup>
                    </m:sSup>
                    <m:r>
                      <a:rPr lang="en-US" b="0" i="0" smtClean="0">
                        <a:solidFill>
                          <a:srgbClr val="262626"/>
                        </a:solidFill>
                        <a:latin typeface="Cambria Math" panose="02040503050406030204" pitchFamily="18" charset="0"/>
                      </a:rPr>
                      <m:t>   (</m:t>
                    </m:r>
                    <m:r>
                      <m:rPr>
                        <m:sty m:val="p"/>
                      </m:rPr>
                      <a:rPr lang="en-US" b="0" i="0" smtClean="0">
                        <a:solidFill>
                          <a:srgbClr val="262626"/>
                        </a:solidFill>
                        <a:latin typeface="Cambria Math" panose="02040503050406030204" pitchFamily="18" charset="0"/>
                      </a:rPr>
                      <m:t>A</m:t>
                    </m:r>
                    <m:r>
                      <a:rPr lang="en-US" b="0" i="0" smtClean="0">
                        <a:solidFill>
                          <a:srgbClr val="262626"/>
                        </a:solidFill>
                        <a:latin typeface="Cambria Math" panose="02040503050406030204" pitchFamily="18" charset="0"/>
                      </a:rPr>
                      <m:t>)</m:t>
                    </m:r>
                  </m:oMath>
                </a14:m>
                <a:endParaRPr lang="en-US">
                  <a:solidFill>
                    <a:srgbClr val="262626"/>
                  </a:solidFill>
                </a:endParaRPr>
              </a:p>
              <a:p>
                <a:pPr marL="742950" lvl="1" indent="-285750">
                  <a:lnSpc>
                    <a:spcPct val="150000"/>
                  </a:lnSpc>
                  <a:buFont typeface="Courier New" panose="02070309020205020404" pitchFamily="49" charset="0"/>
                  <a:buChar char="o"/>
                </a:pPr>
                <a:r>
                  <a:rPr lang="en-US">
                    <a:solidFill>
                      <a:srgbClr val="262626"/>
                    </a:solidFill>
                  </a:rPr>
                  <a:t>Thời gian sạc : ( Quá trình sạc kết thúc khi </a:t>
                </a:r>
                <a14:m>
                  <m:oMath xmlns:m="http://schemas.openxmlformats.org/officeDocument/2006/math">
                    <m:r>
                      <m:rPr>
                        <m:sty m:val="p"/>
                      </m:rPr>
                      <a:rPr lang="en-US" b="0" i="0" smtClean="0">
                        <a:solidFill>
                          <a:srgbClr val="262626"/>
                        </a:solidFill>
                        <a:latin typeface="Cambria Math" panose="02040503050406030204" pitchFamily="18" charset="0"/>
                        <a:sym typeface="Wingdings" panose="05000000000000000000" pitchFamily="2" charset="2"/>
                      </a:rPr>
                      <m:t>I</m:t>
                    </m:r>
                    <m:d>
                      <m:dPr>
                        <m:ctrlPr>
                          <a:rPr lang="en-US" b="0" i="1" smtClean="0">
                            <a:solidFill>
                              <a:srgbClr val="262626"/>
                            </a:solidFill>
                            <a:latin typeface="Cambria Math" panose="02040503050406030204" pitchFamily="18" charset="0"/>
                            <a:sym typeface="Wingdings" panose="05000000000000000000" pitchFamily="2" charset="2"/>
                          </a:rPr>
                        </m:ctrlPr>
                      </m:dPr>
                      <m:e>
                        <m:r>
                          <a:rPr lang="en-US" b="0" i="1" smtClean="0">
                            <a:solidFill>
                              <a:srgbClr val="262626"/>
                            </a:solidFill>
                            <a:latin typeface="Cambria Math" panose="02040503050406030204" pitchFamily="18" charset="0"/>
                            <a:sym typeface="Wingdings" panose="05000000000000000000" pitchFamily="2" charset="2"/>
                          </a:rPr>
                          <m:t>𝑡</m:t>
                        </m:r>
                      </m:e>
                    </m:d>
                    <m:r>
                      <a:rPr lang="en-US" b="0" i="1" smtClean="0">
                        <a:solidFill>
                          <a:srgbClr val="262626"/>
                        </a:solidFill>
                        <a:latin typeface="Cambria Math" panose="02040503050406030204" pitchFamily="18" charset="0"/>
                        <a:sym typeface="Wingdings" panose="05000000000000000000" pitchFamily="2" charset="2"/>
                      </a:rPr>
                      <m:t>=</m:t>
                    </m:r>
                    <m:sSub>
                      <m:sSubPr>
                        <m:ctrlPr>
                          <a:rPr lang="en-US"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𝐼</m:t>
                        </m:r>
                      </m:e>
                      <m:sub>
                        <m:r>
                          <a:rPr lang="en-US" b="0" i="1">
                            <a:solidFill>
                              <a:srgbClr val="262626"/>
                            </a:solidFill>
                            <a:latin typeface="Cambria Math" panose="02040503050406030204" pitchFamily="18" charset="0"/>
                          </a:rPr>
                          <m:t>𝑐𝑢𝑡𝑜𝑓𝑓</m:t>
                        </m:r>
                      </m:sub>
                    </m:sSub>
                  </m:oMath>
                </a14:m>
                <a:r>
                  <a:rPr lang="en-US">
                    <a:solidFill>
                      <a:srgbClr val="262626"/>
                    </a:solidFill>
                  </a:rPr>
                  <a:t> )</a:t>
                </a:r>
              </a:p>
              <a:p>
                <a:pPr lvl="1">
                  <a:lnSpc>
                    <a:spcPct val="150000"/>
                  </a:lnSpc>
                </a:pPr>
                <a:r>
                  <a:rPr lang="en-US" b="0">
                    <a:solidFill>
                      <a:srgbClr val="262626"/>
                    </a:solidFill>
                  </a:rPr>
                  <a:t>       </a:t>
                </a:r>
                <a14:m>
                  <m:oMath xmlns:m="http://schemas.openxmlformats.org/officeDocument/2006/math">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𝑡</m:t>
                        </m:r>
                      </m:e>
                      <m:sub>
                        <m:r>
                          <a:rPr lang="en-US" b="0" i="1" smtClean="0">
                            <a:solidFill>
                              <a:srgbClr val="262626"/>
                            </a:solidFill>
                            <a:latin typeface="Cambria Math" panose="02040503050406030204" pitchFamily="18" charset="0"/>
                          </a:rPr>
                          <m:t>𝑐h𝑎𝑟</m:t>
                        </m:r>
                      </m:sub>
                    </m:sSub>
                    <m:r>
                      <a:rPr lang="en-US" b="0" i="1" smtClean="0">
                        <a:solidFill>
                          <a:srgbClr val="262626"/>
                        </a:solidFill>
                        <a:latin typeface="Cambria Math" panose="02040503050406030204" pitchFamily="18" charset="0"/>
                      </a:rPr>
                      <m:t>=</m:t>
                    </m:r>
                    <m:func>
                      <m:funcPr>
                        <m:ctrlPr>
                          <a:rPr lang="en-US" i="1">
                            <a:solidFill>
                              <a:srgbClr val="262626"/>
                            </a:solidFill>
                            <a:latin typeface="Cambria Math" panose="02040503050406030204" pitchFamily="18" charset="0"/>
                          </a:rPr>
                        </m:ctrlPr>
                      </m:funcPr>
                      <m:fName>
                        <m:r>
                          <a:rPr lang="en-US" b="0" i="0" smtClean="0">
                            <a:solidFill>
                              <a:srgbClr val="262626"/>
                            </a:solidFill>
                            <a:latin typeface="Cambria Math" panose="02040503050406030204" pitchFamily="18" charset="0"/>
                          </a:rPr>
                          <m:t>( </m:t>
                        </m:r>
                        <m:r>
                          <m:rPr>
                            <m:sty m:val="p"/>
                          </m:rPr>
                          <a:rPr lang="en-US">
                            <a:solidFill>
                              <a:srgbClr val="262626"/>
                            </a:solidFill>
                            <a:latin typeface="Cambria Math" panose="02040503050406030204" pitchFamily="18" charset="0"/>
                          </a:rPr>
                          <m:t>ln</m:t>
                        </m:r>
                      </m:fName>
                      <m:e>
                        <m:d>
                          <m:dPr>
                            <m:ctrlPr>
                              <a:rPr lang="en-US" i="1">
                                <a:solidFill>
                                  <a:srgbClr val="262626"/>
                                </a:solidFill>
                                <a:latin typeface="Cambria Math" panose="02040503050406030204" pitchFamily="18" charset="0"/>
                              </a:rPr>
                            </m:ctrlPr>
                          </m:dPr>
                          <m:e>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𝐼</m:t>
                                </m:r>
                              </m:e>
                              <m:sub>
                                <m:r>
                                  <a:rPr lang="en-US" b="0" i="1" smtClean="0">
                                    <a:solidFill>
                                      <a:srgbClr val="262626"/>
                                    </a:solidFill>
                                    <a:latin typeface="Cambria Math" panose="02040503050406030204" pitchFamily="18" charset="0"/>
                                  </a:rPr>
                                  <m:t>0</m:t>
                                </m:r>
                              </m:sub>
                            </m:sSub>
                          </m:e>
                        </m:d>
                      </m:e>
                    </m:func>
                    <m:r>
                      <a:rPr lang="en-US" b="0" i="1" smtClean="0">
                        <a:solidFill>
                          <a:srgbClr val="262626"/>
                        </a:solidFill>
                        <a:latin typeface="Cambria Math" panose="02040503050406030204" pitchFamily="18" charset="0"/>
                      </a:rPr>
                      <m:t>−</m:t>
                    </m:r>
                    <m:r>
                      <m:rPr>
                        <m:sty m:val="p"/>
                      </m:rPr>
                      <a:rPr lang="en-US" b="0" i="0" smtClean="0">
                        <a:solidFill>
                          <a:srgbClr val="262626"/>
                        </a:solidFill>
                        <a:latin typeface="Cambria Math" panose="02040503050406030204" pitchFamily="18" charset="0"/>
                      </a:rPr>
                      <m:t>ln</m:t>
                    </m:r>
                    <m:r>
                      <a:rPr lang="en-US" b="0" i="1" smtClean="0">
                        <a:solidFill>
                          <a:srgbClr val="262626"/>
                        </a:solidFill>
                        <a:latin typeface="Cambria Math" panose="02040503050406030204" pitchFamily="18" charset="0"/>
                      </a:rPr>
                      <m:t>⁡(</m:t>
                    </m:r>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𝐼</m:t>
                        </m:r>
                      </m:e>
                      <m:sub>
                        <m:r>
                          <a:rPr lang="en-US" b="0" i="1" smtClean="0">
                            <a:solidFill>
                              <a:srgbClr val="262626"/>
                            </a:solidFill>
                            <a:latin typeface="Cambria Math" panose="02040503050406030204" pitchFamily="18" charset="0"/>
                          </a:rPr>
                          <m:t>𝑐𝑢𝑡𝑜𝑓𝑓</m:t>
                        </m:r>
                      </m:sub>
                    </m:sSub>
                    <m:r>
                      <a:rPr lang="en-US" b="0" i="1" smtClean="0">
                        <a:solidFill>
                          <a:srgbClr val="262626"/>
                        </a:solidFill>
                        <a:latin typeface="Cambria Math" panose="02040503050406030204" pitchFamily="18" charset="0"/>
                      </a:rPr>
                      <m:t>))</m:t>
                    </m:r>
                    <m:r>
                      <a:rPr lang="en-US" i="1">
                        <a:solidFill>
                          <a:srgbClr val="262626"/>
                        </a:solidFill>
                        <a:latin typeface="Cambria Math" panose="02040503050406030204" pitchFamily="18" charset="0"/>
                      </a:rPr>
                      <m:t>×</m:t>
                    </m:r>
                    <m:r>
                      <m:rPr>
                        <m:sty m:val="p"/>
                      </m:rPr>
                      <a:rPr lang="en-US" b="0" i="0" smtClean="0">
                        <a:solidFill>
                          <a:srgbClr val="262626"/>
                        </a:solidFill>
                        <a:latin typeface="Cambria Math" panose="02040503050406030204" pitchFamily="18" charset="0"/>
                      </a:rPr>
                      <m:t>RC</m:t>
                    </m:r>
                  </m:oMath>
                </a14:m>
                <a:endParaRPr lang="en-US">
                  <a:solidFill>
                    <a:srgbClr val="262626"/>
                  </a:solidFill>
                </a:endParaRPr>
              </a:p>
              <a:p>
                <a:pPr marL="742950" lvl="1" indent="-285750">
                  <a:lnSpc>
                    <a:spcPct val="150000"/>
                  </a:lnSpc>
                  <a:buFont typeface="Courier New" panose="02070309020205020404" pitchFamily="49" charset="0"/>
                  <a:buChar char="o"/>
                </a:pPr>
                <a:r>
                  <a:rPr lang="en-US">
                    <a:solidFill>
                      <a:srgbClr val="262626"/>
                    </a:solidFill>
                  </a:rPr>
                  <a:t>Dung lượng pin : Với </a:t>
                </a:r>
                <a14:m>
                  <m:oMath xmlns:m="http://schemas.openxmlformats.org/officeDocument/2006/math">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𝐼</m:t>
                        </m:r>
                      </m:e>
                      <m:sub>
                        <m:r>
                          <a:rPr lang="en-US" i="1">
                            <a:solidFill>
                              <a:srgbClr val="262626"/>
                            </a:solidFill>
                            <a:latin typeface="Cambria Math" panose="02040503050406030204" pitchFamily="18" charset="0"/>
                          </a:rPr>
                          <m:t>0</m:t>
                        </m:r>
                      </m:sub>
                    </m:sSub>
                    <m:r>
                      <a:rPr lang="en-US" b="0" i="1" smtClean="0">
                        <a:solidFill>
                          <a:srgbClr val="262626"/>
                        </a:solidFill>
                        <a:latin typeface="Cambria Math" panose="02040503050406030204" pitchFamily="18" charset="0"/>
                      </a:rPr>
                      <m:t>=</m:t>
                    </m:r>
                  </m:oMath>
                </a14:m>
                <a:r>
                  <a:rPr lang="en-US">
                    <a:solidFill>
                      <a:srgbClr val="262626"/>
                    </a:solidFill>
                  </a:rPr>
                  <a:t> </a:t>
                </a:r>
                <a14:m>
                  <m:oMath xmlns:m="http://schemas.openxmlformats.org/officeDocument/2006/math">
                    <m:f>
                      <m:fPr>
                        <m:ctrlPr>
                          <a:rPr lang="en-US" i="1">
                            <a:solidFill>
                              <a:srgbClr val="262626"/>
                            </a:solidFill>
                            <a:latin typeface="Cambria Math" panose="02040503050406030204" pitchFamily="18" charset="0"/>
                          </a:rPr>
                        </m:ctrlPr>
                      </m:fPr>
                      <m:num>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𝑉</m:t>
                            </m:r>
                          </m:e>
                          <m:sub>
                            <m:r>
                              <a:rPr lang="en-US" i="1">
                                <a:solidFill>
                                  <a:srgbClr val="262626"/>
                                </a:solidFill>
                                <a:latin typeface="Cambria Math" panose="02040503050406030204" pitchFamily="18" charset="0"/>
                              </a:rPr>
                              <m:t>𝐶𝑉</m:t>
                            </m:r>
                          </m:sub>
                        </m:sSub>
                        <m:r>
                          <a:rPr lang="en-US" i="1">
                            <a:solidFill>
                              <a:srgbClr val="262626"/>
                            </a:solidFill>
                            <a:latin typeface="Cambria Math" panose="02040503050406030204" pitchFamily="18" charset="0"/>
                          </a:rPr>
                          <m:t>−</m:t>
                        </m:r>
                        <m:r>
                          <a:rPr lang="en-US" i="1">
                            <a:solidFill>
                              <a:srgbClr val="262626"/>
                            </a:solidFill>
                            <a:latin typeface="Cambria Math" panose="02040503050406030204" pitchFamily="18" charset="0"/>
                          </a:rPr>
                          <m:t>𝑂𝐶𝑉</m:t>
                        </m:r>
                      </m:num>
                      <m:den>
                        <m:r>
                          <a:rPr lang="en-US" i="1">
                            <a:solidFill>
                              <a:srgbClr val="262626"/>
                            </a:solidFill>
                            <a:latin typeface="Cambria Math" panose="02040503050406030204" pitchFamily="18" charset="0"/>
                          </a:rPr>
                          <m:t>𝑅</m:t>
                        </m:r>
                      </m:den>
                    </m:f>
                  </m:oMath>
                </a14:m>
                <a:endParaRPr lang="en-US">
                  <a:solidFill>
                    <a:srgbClr val="262626"/>
                  </a:solidFill>
                </a:endParaRPr>
              </a:p>
              <a:p>
                <a:pPr lvl="1">
                  <a:lnSpc>
                    <a:spcPct val="150000"/>
                  </a:lnSpc>
                </a:pPr>
                <a:r>
                  <a:rPr lang="en-US" b="0">
                    <a:solidFill>
                      <a:srgbClr val="262626"/>
                    </a:solidFill>
                  </a:rPr>
                  <a:t>       </a:t>
                </a:r>
                <a14:m>
                  <m:oMath xmlns:m="http://schemas.openxmlformats.org/officeDocument/2006/math">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𝑄</m:t>
                        </m:r>
                      </m:e>
                      <m:sub>
                        <m:r>
                          <a:rPr lang="en-US" b="0" i="1" smtClean="0">
                            <a:solidFill>
                              <a:srgbClr val="262626"/>
                            </a:solidFill>
                            <a:latin typeface="Cambria Math" panose="02040503050406030204" pitchFamily="18" charset="0"/>
                          </a:rPr>
                          <m:t>𝐶𝑉</m:t>
                        </m:r>
                      </m:sub>
                    </m:sSub>
                    <m:r>
                      <a:rPr lang="en-US" b="0" i="1" smtClean="0">
                        <a:solidFill>
                          <a:srgbClr val="262626"/>
                        </a:solidFill>
                        <a:latin typeface="Cambria Math" panose="02040503050406030204" pitchFamily="18" charset="0"/>
                      </a:rPr>
                      <m:t>=</m:t>
                    </m:r>
                    <m:nary>
                      <m:naryPr>
                        <m:limLoc m:val="undOvr"/>
                        <m:grow m:val="on"/>
                        <m:ctrlPr>
                          <a:rPr lang="en-US" i="1" smtClean="0">
                            <a:solidFill>
                              <a:srgbClr val="262626"/>
                            </a:solidFill>
                            <a:latin typeface="Cambria Math" panose="02040503050406030204" pitchFamily="18" charset="0"/>
                          </a:rPr>
                        </m:ctrlPr>
                      </m:naryPr>
                      <m:sub>
                        <m:r>
                          <a:rPr lang="en-US" i="0" smtClean="0">
                            <a:solidFill>
                              <a:srgbClr val="262626"/>
                            </a:solidFill>
                            <a:latin typeface="Cambria Math" panose="02040503050406030204" pitchFamily="18" charset="0"/>
                          </a:rPr>
                          <m:t>0</m:t>
                        </m:r>
                      </m:sub>
                      <m:sup>
                        <m:sSub>
                          <m:sSubPr>
                            <m:ctrlPr>
                              <a:rPr lang="en-US" b="0" i="1" smtClean="0">
                                <a:solidFill>
                                  <a:srgbClr val="262626"/>
                                </a:solidFill>
                                <a:latin typeface="Cambria Math" panose="02040503050406030204" pitchFamily="18" charset="0"/>
                              </a:rPr>
                            </m:ctrlPr>
                          </m:sSubPr>
                          <m:e>
                            <m:r>
                              <a:rPr lang="en-US" i="1" smtClean="0">
                                <a:solidFill>
                                  <a:srgbClr val="262626"/>
                                </a:solidFill>
                                <a:latin typeface="Cambria Math" panose="02040503050406030204" pitchFamily="18" charset="0"/>
                              </a:rPr>
                              <m:t>𝑡</m:t>
                            </m:r>
                          </m:e>
                          <m:sub>
                            <m:r>
                              <a:rPr lang="en-US" b="0" i="1" smtClean="0">
                                <a:solidFill>
                                  <a:srgbClr val="262626"/>
                                </a:solidFill>
                                <a:latin typeface="Cambria Math" panose="02040503050406030204" pitchFamily="18" charset="0"/>
                              </a:rPr>
                              <m:t>𝑐h𝑎𝑟</m:t>
                            </m:r>
                          </m:sub>
                        </m:sSub>
                      </m:sup>
                      <m:e>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𝐼</m:t>
                            </m:r>
                          </m:e>
                          <m:sub>
                            <m:r>
                              <a:rPr lang="en-US" i="1">
                                <a:solidFill>
                                  <a:srgbClr val="262626"/>
                                </a:solidFill>
                                <a:latin typeface="Cambria Math" panose="02040503050406030204" pitchFamily="18" charset="0"/>
                              </a:rPr>
                              <m:t>0</m:t>
                            </m:r>
                          </m:sub>
                        </m:sSub>
                        <m:r>
                          <a:rPr lang="en-US" i="1">
                            <a:solidFill>
                              <a:srgbClr val="262626"/>
                            </a:solidFill>
                            <a:latin typeface="Cambria Math" panose="02040503050406030204" pitchFamily="18" charset="0"/>
                          </a:rPr>
                          <m:t>×</m:t>
                        </m:r>
                      </m:e>
                    </m:nary>
                    <m:sSup>
                      <m:sSupPr>
                        <m:ctrlPr>
                          <a:rPr lang="en-US" i="1">
                            <a:solidFill>
                              <a:srgbClr val="262626"/>
                            </a:solidFill>
                            <a:latin typeface="Cambria Math" panose="02040503050406030204" pitchFamily="18" charset="0"/>
                          </a:rPr>
                        </m:ctrlPr>
                      </m:sSupPr>
                      <m:e>
                        <m:r>
                          <a:rPr lang="en-US" i="1">
                            <a:solidFill>
                              <a:srgbClr val="262626"/>
                            </a:solidFill>
                            <a:latin typeface="Cambria Math" panose="02040503050406030204" pitchFamily="18" charset="0"/>
                          </a:rPr>
                          <m:t>𝑒</m:t>
                        </m:r>
                      </m:e>
                      <m:sup>
                        <m:r>
                          <a:rPr lang="en-US" i="1">
                            <a:solidFill>
                              <a:srgbClr val="262626"/>
                            </a:solidFill>
                            <a:latin typeface="Cambria Math" panose="02040503050406030204" pitchFamily="18" charset="0"/>
                          </a:rPr>
                          <m:t>−</m:t>
                        </m:r>
                        <m:f>
                          <m:fPr>
                            <m:ctrlPr>
                              <a:rPr lang="en-US" i="1">
                                <a:solidFill>
                                  <a:srgbClr val="262626"/>
                                </a:solidFill>
                                <a:latin typeface="Cambria Math" panose="02040503050406030204" pitchFamily="18" charset="0"/>
                              </a:rPr>
                            </m:ctrlPr>
                          </m:fPr>
                          <m:num>
                            <m:r>
                              <a:rPr lang="en-US" i="1">
                                <a:solidFill>
                                  <a:srgbClr val="262626"/>
                                </a:solidFill>
                                <a:latin typeface="Cambria Math" panose="02040503050406030204" pitchFamily="18" charset="0"/>
                              </a:rPr>
                              <m:t>𝑡</m:t>
                            </m:r>
                          </m:num>
                          <m:den>
                            <m:r>
                              <a:rPr lang="en-US" i="1">
                                <a:solidFill>
                                  <a:srgbClr val="262626"/>
                                </a:solidFill>
                                <a:latin typeface="Cambria Math" panose="02040503050406030204" pitchFamily="18" charset="0"/>
                              </a:rPr>
                              <m:t>𝑅𝐶</m:t>
                            </m:r>
                          </m:den>
                        </m:f>
                      </m:sup>
                    </m:sSup>
                    <m:r>
                      <a:rPr lang="en-US" b="0" i="1" smtClean="0">
                        <a:solidFill>
                          <a:srgbClr val="262626"/>
                        </a:solidFill>
                        <a:latin typeface="Cambria Math" panose="02040503050406030204" pitchFamily="18" charset="0"/>
                      </a:rPr>
                      <m:t>=</m:t>
                    </m:r>
                    <m:r>
                      <a:rPr lang="en-US" i="1">
                        <a:solidFill>
                          <a:srgbClr val="262626"/>
                        </a:solidFill>
                        <a:latin typeface="Cambria Math" panose="02040503050406030204" pitchFamily="18" charset="0"/>
                      </a:rPr>
                      <m:t>−</m:t>
                    </m:r>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𝐼</m:t>
                        </m:r>
                      </m:e>
                      <m:sub>
                        <m:r>
                          <a:rPr lang="en-US" i="1">
                            <a:solidFill>
                              <a:srgbClr val="262626"/>
                            </a:solidFill>
                            <a:latin typeface="Cambria Math" panose="02040503050406030204" pitchFamily="18" charset="0"/>
                          </a:rPr>
                          <m:t>0</m:t>
                        </m:r>
                      </m:sub>
                    </m:sSub>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𝑅𝐶</m:t>
                    </m:r>
                    <m:r>
                      <a:rPr lang="en-US" i="1">
                        <a:solidFill>
                          <a:srgbClr val="262626"/>
                        </a:solidFill>
                        <a:latin typeface="Cambria Math" panose="02040503050406030204" pitchFamily="18" charset="0"/>
                      </a:rPr>
                      <m:t>×</m:t>
                    </m:r>
                    <m:d>
                      <m:dPr>
                        <m:ctrlPr>
                          <a:rPr lang="en-US" b="0" i="1" smtClean="0">
                            <a:solidFill>
                              <a:srgbClr val="262626"/>
                            </a:solidFill>
                            <a:latin typeface="Cambria Math" panose="02040503050406030204" pitchFamily="18" charset="0"/>
                          </a:rPr>
                        </m:ctrlPr>
                      </m:dPr>
                      <m:e>
                        <m:sSup>
                          <m:sSupPr>
                            <m:ctrlPr>
                              <a:rPr lang="en-US" b="0" i="1" smtClean="0">
                                <a:solidFill>
                                  <a:srgbClr val="262626"/>
                                </a:solidFill>
                                <a:latin typeface="Cambria Math" panose="02040503050406030204" pitchFamily="18" charset="0"/>
                              </a:rPr>
                            </m:ctrlPr>
                          </m:sSupPr>
                          <m:e>
                            <m:r>
                              <a:rPr lang="en-US" b="0" i="1" smtClean="0">
                                <a:solidFill>
                                  <a:srgbClr val="262626"/>
                                </a:solidFill>
                                <a:latin typeface="Cambria Math" panose="02040503050406030204" pitchFamily="18" charset="0"/>
                              </a:rPr>
                              <m:t>𝑒</m:t>
                            </m:r>
                          </m:e>
                          <m:sup>
                            <m:f>
                              <m:fPr>
                                <m:ctrlPr>
                                  <a:rPr lang="en-US" b="0" i="1" smtClean="0">
                                    <a:solidFill>
                                      <a:srgbClr val="262626"/>
                                    </a:solidFill>
                                    <a:latin typeface="Cambria Math" panose="02040503050406030204" pitchFamily="18" charset="0"/>
                                  </a:rPr>
                                </m:ctrlPr>
                              </m:fPr>
                              <m:num>
                                <m:r>
                                  <a:rPr lang="en-US" b="0" i="1" smtClean="0">
                                    <a:solidFill>
                                      <a:srgbClr val="262626"/>
                                    </a:solidFill>
                                    <a:latin typeface="Cambria Math" panose="02040503050406030204" pitchFamily="18" charset="0"/>
                                  </a:rPr>
                                  <m:t>−</m:t>
                                </m:r>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𝑡</m:t>
                                    </m:r>
                                  </m:e>
                                  <m:sub>
                                    <m:r>
                                      <a:rPr lang="en-US" b="0" i="1" smtClean="0">
                                        <a:solidFill>
                                          <a:srgbClr val="262626"/>
                                        </a:solidFill>
                                        <a:latin typeface="Cambria Math" panose="02040503050406030204" pitchFamily="18" charset="0"/>
                                      </a:rPr>
                                      <m:t>𝑐h𝑎𝑟</m:t>
                                    </m:r>
                                  </m:sub>
                                </m:sSub>
                              </m:num>
                              <m:den>
                                <m:r>
                                  <a:rPr lang="en-US" b="0" i="1" smtClean="0">
                                    <a:solidFill>
                                      <a:srgbClr val="262626"/>
                                    </a:solidFill>
                                    <a:latin typeface="Cambria Math" panose="02040503050406030204" pitchFamily="18" charset="0"/>
                                  </a:rPr>
                                  <m:t>𝑅𝐶</m:t>
                                </m:r>
                              </m:den>
                            </m:f>
                          </m:sup>
                        </m:sSup>
                        <m:r>
                          <a:rPr lang="en-US" b="0" i="1" smtClean="0">
                            <a:solidFill>
                              <a:srgbClr val="262626"/>
                            </a:solidFill>
                            <a:latin typeface="Cambria Math" panose="02040503050406030204" pitchFamily="18" charset="0"/>
                          </a:rPr>
                          <m:t>−1</m:t>
                        </m:r>
                      </m:e>
                    </m:d>
                  </m:oMath>
                </a14:m>
                <a:endParaRPr lang="en-US">
                  <a:solidFill>
                    <a:srgbClr val="262626"/>
                  </a:solidFill>
                </a:endParaRPr>
              </a:p>
            </p:txBody>
          </p:sp>
        </mc:Choice>
        <mc:Fallback>
          <p:sp>
            <p:nvSpPr>
              <p:cNvPr id="8" name="TextBox 7">
                <a:extLst>
                  <a:ext uri="{FF2B5EF4-FFF2-40B4-BE49-F238E27FC236}">
                    <a16:creationId xmlns:a16="http://schemas.microsoft.com/office/drawing/2014/main" id="{2E52F3F6-84B8-2B2E-4CCA-C2CE2E476999}"/>
                  </a:ext>
                </a:extLst>
              </p:cNvPr>
              <p:cNvSpPr txBox="1">
                <a:spLocks noRot="1" noChangeAspect="1" noMove="1" noResize="1" noEditPoints="1" noAdjustHandles="1" noChangeArrowheads="1" noChangeShapeType="1" noTextEdit="1"/>
              </p:cNvSpPr>
              <p:nvPr/>
            </p:nvSpPr>
            <p:spPr>
              <a:xfrm>
                <a:off x="83980" y="1412062"/>
                <a:ext cx="9661840" cy="5062924"/>
              </a:xfrm>
              <a:prstGeom prst="rect">
                <a:avLst/>
              </a:prstGeom>
              <a:blipFill>
                <a:blip r:embed="rId3"/>
                <a:stretch>
                  <a:fillRect l="-757" t="-843"/>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FFEA1287-8850-CE5B-E340-DFA23981DC9F}"/>
              </a:ext>
            </a:extLst>
          </p:cNvPr>
          <p:cNvPicPr>
            <a:picLocks noChangeAspect="1"/>
          </p:cNvPicPr>
          <p:nvPr/>
        </p:nvPicPr>
        <p:blipFill>
          <a:blip r:embed="rId4"/>
          <a:srcRect b="7968"/>
          <a:stretch/>
        </p:blipFill>
        <p:spPr>
          <a:xfrm>
            <a:off x="7013181" y="1470637"/>
            <a:ext cx="2584805" cy="1836305"/>
          </a:xfrm>
          <a:prstGeom prst="rect">
            <a:avLst/>
          </a:prstGeom>
        </p:spPr>
        <p:style>
          <a:lnRef idx="2">
            <a:schemeClr val="dk1"/>
          </a:lnRef>
          <a:fillRef idx="1">
            <a:schemeClr val="lt1"/>
          </a:fillRef>
          <a:effectRef idx="0">
            <a:schemeClr val="dk1"/>
          </a:effectRef>
          <a:fontRef idx="minor">
            <a:schemeClr val="dk1"/>
          </a:fontRef>
        </p:style>
      </p:pic>
      <p:pic>
        <p:nvPicPr>
          <p:cNvPr id="11" name="Picture 10">
            <a:extLst>
              <a:ext uri="{FF2B5EF4-FFF2-40B4-BE49-F238E27FC236}">
                <a16:creationId xmlns:a16="http://schemas.microsoft.com/office/drawing/2014/main" id="{2E6B71AD-FC6E-2BA1-C924-CA3B5B2B211B}"/>
              </a:ext>
            </a:extLst>
          </p:cNvPr>
          <p:cNvPicPr>
            <a:picLocks noChangeAspect="1"/>
          </p:cNvPicPr>
          <p:nvPr/>
        </p:nvPicPr>
        <p:blipFill>
          <a:blip r:embed="rId5"/>
          <a:srcRect l="17804" r="17384" b="14372"/>
          <a:stretch/>
        </p:blipFill>
        <p:spPr>
          <a:xfrm>
            <a:off x="4874818" y="1572553"/>
            <a:ext cx="1912591" cy="1847946"/>
          </a:xfrm>
          <a:prstGeom prst="rect">
            <a:avLst/>
          </a:prstGeom>
          <a:noFill/>
          <a:ln>
            <a:noFill/>
          </a:ln>
        </p:spPr>
        <p:style>
          <a:lnRef idx="0">
            <a:scrgbClr r="0" g="0" b="0"/>
          </a:lnRef>
          <a:fillRef idx="0">
            <a:scrgbClr r="0" g="0" b="0"/>
          </a:fillRef>
          <a:effectRef idx="0">
            <a:scrgbClr r="0" g="0" b="0"/>
          </a:effectRef>
          <a:fontRef idx="minor">
            <a:schemeClr val="dk1"/>
          </a:fontRef>
        </p:style>
      </p:pic>
      <p:sp>
        <p:nvSpPr>
          <p:cNvPr id="12" name="Rectangle 11">
            <a:extLst>
              <a:ext uri="{FF2B5EF4-FFF2-40B4-BE49-F238E27FC236}">
                <a16:creationId xmlns:a16="http://schemas.microsoft.com/office/drawing/2014/main" id="{A7B856B6-9CE7-3FC0-7DC9-DD9CA863BD70}"/>
              </a:ext>
            </a:extLst>
          </p:cNvPr>
          <p:cNvSpPr/>
          <p:nvPr/>
        </p:nvSpPr>
        <p:spPr>
          <a:xfrm>
            <a:off x="6314877" y="2032418"/>
            <a:ext cx="276225" cy="944891"/>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5B92EFD-E14F-8808-3D3A-335B5BA3D51A}"/>
              </a:ext>
            </a:extLst>
          </p:cNvPr>
          <p:cNvSpPr txBox="1"/>
          <p:nvPr/>
        </p:nvSpPr>
        <p:spPr>
          <a:xfrm>
            <a:off x="5441104" y="2350974"/>
            <a:ext cx="830747" cy="307777"/>
          </a:xfrm>
          <a:prstGeom prst="rect">
            <a:avLst/>
          </a:prstGeom>
          <a:noFill/>
        </p:spPr>
        <p:txBody>
          <a:bodyPr wrap="square">
            <a:spAutoFit/>
          </a:bodyPr>
          <a:lstStyle/>
          <a:p>
            <a:r>
              <a:rPr lang="en-US" sz="1400">
                <a:solidFill>
                  <a:srgbClr val="FF0000"/>
                </a:solidFill>
              </a:rPr>
              <a:t>Battery </a:t>
            </a:r>
          </a:p>
        </p:txBody>
      </p:sp>
      <p:sp>
        <p:nvSpPr>
          <p:cNvPr id="14" name="Rectangle 13">
            <a:extLst>
              <a:ext uri="{FF2B5EF4-FFF2-40B4-BE49-F238E27FC236}">
                <a16:creationId xmlns:a16="http://schemas.microsoft.com/office/drawing/2014/main" id="{1C2AFC4E-EC26-86EA-9659-F9F2E69E12EB}"/>
              </a:ext>
            </a:extLst>
          </p:cNvPr>
          <p:cNvSpPr/>
          <p:nvPr/>
        </p:nvSpPr>
        <p:spPr>
          <a:xfrm flipH="1">
            <a:off x="905873" y="3770755"/>
            <a:ext cx="4333638" cy="546575"/>
          </a:xfrm>
          <a:prstGeom prst="rect">
            <a:avLst/>
          </a:prstGeom>
          <a:noFill/>
          <a:ln w="1905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41A43C7-6A33-0E9C-8F70-CD92A1678201}"/>
              </a:ext>
            </a:extLst>
          </p:cNvPr>
          <p:cNvSpPr/>
          <p:nvPr/>
        </p:nvSpPr>
        <p:spPr>
          <a:xfrm flipH="1">
            <a:off x="896350" y="4782397"/>
            <a:ext cx="3761375" cy="429472"/>
          </a:xfrm>
          <a:prstGeom prst="rect">
            <a:avLst/>
          </a:prstGeom>
          <a:noFill/>
          <a:ln w="1905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A7D57FC-032B-3A70-8E2A-F274D4D163AF}"/>
              </a:ext>
            </a:extLst>
          </p:cNvPr>
          <p:cNvSpPr/>
          <p:nvPr/>
        </p:nvSpPr>
        <p:spPr>
          <a:xfrm flipH="1">
            <a:off x="896350" y="5838421"/>
            <a:ext cx="4918856" cy="567207"/>
          </a:xfrm>
          <a:prstGeom prst="rect">
            <a:avLst/>
          </a:prstGeom>
          <a:noFill/>
          <a:ln w="1905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B05AD00A-554B-374D-BB92-0FE6B946F492}"/>
              </a:ext>
            </a:extLst>
          </p:cNvPr>
          <p:cNvPicPr>
            <a:picLocks noChangeAspect="1"/>
          </p:cNvPicPr>
          <p:nvPr/>
        </p:nvPicPr>
        <p:blipFill>
          <a:blip r:embed="rId5"/>
          <a:srcRect l="32302" r="17384" b="14372"/>
          <a:stretch/>
        </p:blipFill>
        <p:spPr>
          <a:xfrm>
            <a:off x="8218666" y="3717286"/>
            <a:ext cx="1224298" cy="1523814"/>
          </a:xfrm>
          <a:prstGeom prst="rect">
            <a:avLst/>
          </a:prstGeom>
        </p:spPr>
      </p:pic>
      <p:cxnSp>
        <p:nvCxnSpPr>
          <p:cNvPr id="18" name="Straight Connector 17">
            <a:extLst>
              <a:ext uri="{FF2B5EF4-FFF2-40B4-BE49-F238E27FC236}">
                <a16:creationId xmlns:a16="http://schemas.microsoft.com/office/drawing/2014/main" id="{A5FA6FDF-9FAC-E525-E532-C36F58313FEC}"/>
              </a:ext>
            </a:extLst>
          </p:cNvPr>
          <p:cNvCxnSpPr>
            <a:cxnSpLocks/>
          </p:cNvCxnSpPr>
          <p:nvPr/>
        </p:nvCxnSpPr>
        <p:spPr>
          <a:xfrm>
            <a:off x="7469058" y="3940396"/>
            <a:ext cx="752662"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67155B0-B045-8413-6917-0B066F3748D3}"/>
              </a:ext>
            </a:extLst>
          </p:cNvPr>
          <p:cNvCxnSpPr>
            <a:cxnSpLocks/>
          </p:cNvCxnSpPr>
          <p:nvPr/>
        </p:nvCxnSpPr>
        <p:spPr>
          <a:xfrm>
            <a:off x="7476678" y="5141453"/>
            <a:ext cx="752662"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8FF6F26-56A6-9767-A595-491FA09546A3}"/>
              </a:ext>
            </a:extLst>
          </p:cNvPr>
          <p:cNvCxnSpPr>
            <a:cxnSpLocks/>
          </p:cNvCxnSpPr>
          <p:nvPr/>
        </p:nvCxnSpPr>
        <p:spPr>
          <a:xfrm>
            <a:off x="7471915" y="3936587"/>
            <a:ext cx="0" cy="1209629"/>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6902FE87-D770-D6D8-0A9E-6733A3E09D9E}"/>
              </a:ext>
            </a:extLst>
          </p:cNvPr>
          <p:cNvPicPr>
            <a:picLocks noChangeAspect="1"/>
          </p:cNvPicPr>
          <p:nvPr/>
        </p:nvPicPr>
        <p:blipFill>
          <a:blip r:embed="rId6"/>
          <a:srcRect l="10431" t="8210" r="7165" b="3918"/>
          <a:stretch/>
        </p:blipFill>
        <p:spPr>
          <a:xfrm>
            <a:off x="7783375" y="4925950"/>
            <a:ext cx="438149" cy="440531"/>
          </a:xfrm>
          <a:prstGeom prst="rect">
            <a:avLst/>
          </a:prstGeom>
        </p:spPr>
      </p:pic>
      <p:pic>
        <p:nvPicPr>
          <p:cNvPr id="25" name="Picture 24">
            <a:extLst>
              <a:ext uri="{FF2B5EF4-FFF2-40B4-BE49-F238E27FC236}">
                <a16:creationId xmlns:a16="http://schemas.microsoft.com/office/drawing/2014/main" id="{33B94D77-3FEE-770C-08EA-4794EACF799F}"/>
              </a:ext>
            </a:extLst>
          </p:cNvPr>
          <p:cNvPicPr>
            <a:picLocks noChangeAspect="1"/>
          </p:cNvPicPr>
          <p:nvPr/>
        </p:nvPicPr>
        <p:blipFill>
          <a:blip r:embed="rId6"/>
          <a:srcRect l="10431" t="8210" r="7165" b="3918"/>
          <a:stretch/>
        </p:blipFill>
        <p:spPr>
          <a:xfrm>
            <a:off x="7259565" y="4175523"/>
            <a:ext cx="438149" cy="440531"/>
          </a:xfrm>
          <a:prstGeom prst="rect">
            <a:avLst/>
          </a:prstGeom>
        </p:spPr>
      </p:pic>
      <p:sp>
        <p:nvSpPr>
          <p:cNvPr id="26" name="TextBox 25">
            <a:extLst>
              <a:ext uri="{FF2B5EF4-FFF2-40B4-BE49-F238E27FC236}">
                <a16:creationId xmlns:a16="http://schemas.microsoft.com/office/drawing/2014/main" id="{BCF150E2-DF0A-5938-FC58-833697DF357D}"/>
              </a:ext>
            </a:extLst>
          </p:cNvPr>
          <p:cNvSpPr txBox="1"/>
          <p:nvPr/>
        </p:nvSpPr>
        <p:spPr>
          <a:xfrm>
            <a:off x="7948686" y="4965237"/>
            <a:ext cx="346155" cy="338554"/>
          </a:xfrm>
          <a:prstGeom prst="rect">
            <a:avLst/>
          </a:prstGeom>
          <a:noFill/>
        </p:spPr>
        <p:txBody>
          <a:bodyPr wrap="square">
            <a:spAutoFit/>
          </a:bodyPr>
          <a:lstStyle/>
          <a:p>
            <a:r>
              <a:rPr lang="en-US" sz="1600" b="1"/>
              <a:t>+</a:t>
            </a:r>
          </a:p>
        </p:txBody>
      </p:sp>
      <p:sp>
        <p:nvSpPr>
          <p:cNvPr id="27" name="TextBox 26">
            <a:extLst>
              <a:ext uri="{FF2B5EF4-FFF2-40B4-BE49-F238E27FC236}">
                <a16:creationId xmlns:a16="http://schemas.microsoft.com/office/drawing/2014/main" id="{C3781CA7-AA42-2D1E-8EDD-4AA6569CC892}"/>
              </a:ext>
            </a:extLst>
          </p:cNvPr>
          <p:cNvSpPr txBox="1"/>
          <p:nvPr/>
        </p:nvSpPr>
        <p:spPr>
          <a:xfrm>
            <a:off x="7324611" y="4158046"/>
            <a:ext cx="346155" cy="338554"/>
          </a:xfrm>
          <a:prstGeom prst="rect">
            <a:avLst/>
          </a:prstGeom>
          <a:noFill/>
        </p:spPr>
        <p:txBody>
          <a:bodyPr wrap="square">
            <a:spAutoFit/>
          </a:bodyPr>
          <a:lstStyle/>
          <a:p>
            <a:r>
              <a:rPr lang="en-US" sz="1600" b="1"/>
              <a:t>+</a:t>
            </a:r>
          </a:p>
        </p:txBody>
      </p:sp>
      <p:sp>
        <p:nvSpPr>
          <p:cNvPr id="28" name="TextBox 27">
            <a:extLst>
              <a:ext uri="{FF2B5EF4-FFF2-40B4-BE49-F238E27FC236}">
                <a16:creationId xmlns:a16="http://schemas.microsoft.com/office/drawing/2014/main" id="{C193460A-0E5E-E542-829E-526DA6B33C08}"/>
              </a:ext>
            </a:extLst>
          </p:cNvPr>
          <p:cNvSpPr txBox="1"/>
          <p:nvPr/>
        </p:nvSpPr>
        <p:spPr>
          <a:xfrm>
            <a:off x="7798501" y="4877452"/>
            <a:ext cx="346155" cy="338554"/>
          </a:xfrm>
          <a:prstGeom prst="rect">
            <a:avLst/>
          </a:prstGeom>
          <a:noFill/>
        </p:spPr>
        <p:txBody>
          <a:bodyPr wrap="square">
            <a:spAutoFit/>
          </a:bodyPr>
          <a:lstStyle/>
          <a:p>
            <a:r>
              <a:rPr lang="en-US" sz="1600" b="1"/>
              <a:t>_</a:t>
            </a:r>
          </a:p>
        </p:txBody>
      </p:sp>
      <p:sp>
        <p:nvSpPr>
          <p:cNvPr id="29" name="TextBox 28">
            <a:extLst>
              <a:ext uri="{FF2B5EF4-FFF2-40B4-BE49-F238E27FC236}">
                <a16:creationId xmlns:a16="http://schemas.microsoft.com/office/drawing/2014/main" id="{A3774909-035E-149F-25E1-8EF3DBDE61D2}"/>
              </a:ext>
            </a:extLst>
          </p:cNvPr>
          <p:cNvSpPr txBox="1"/>
          <p:nvPr/>
        </p:nvSpPr>
        <p:spPr>
          <a:xfrm>
            <a:off x="7338085" y="4222170"/>
            <a:ext cx="346155" cy="338554"/>
          </a:xfrm>
          <a:prstGeom prst="rect">
            <a:avLst/>
          </a:prstGeom>
          <a:noFill/>
        </p:spPr>
        <p:txBody>
          <a:bodyPr wrap="square">
            <a:spAutoFit/>
          </a:bodyPr>
          <a:lstStyle/>
          <a:p>
            <a:r>
              <a:rPr lang="en-US" sz="1600" b="1"/>
              <a:t>_</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215F8DA-B545-22B2-79A7-88C236D06FAF}"/>
                  </a:ext>
                </a:extLst>
              </p:cNvPr>
              <p:cNvSpPr txBox="1"/>
              <p:nvPr/>
            </p:nvSpPr>
            <p:spPr>
              <a:xfrm>
                <a:off x="6798402" y="4231695"/>
                <a:ext cx="579410" cy="4668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300" b="1" i="1" smtClean="0">
                              <a:latin typeface="Cambria Math" panose="02040503050406030204" pitchFamily="18" charset="0"/>
                            </a:rPr>
                          </m:ctrlPr>
                        </m:fPr>
                        <m:num>
                          <m:sSub>
                            <m:sSubPr>
                              <m:ctrlPr>
                                <a:rPr lang="en-US" sz="1300" b="1" i="1" smtClean="0">
                                  <a:latin typeface="Cambria Math" panose="02040503050406030204" pitchFamily="18" charset="0"/>
                                </a:rPr>
                              </m:ctrlPr>
                            </m:sSubPr>
                            <m:e>
                              <m:r>
                                <a:rPr lang="en-US" sz="1300" b="1" i="1" smtClean="0">
                                  <a:latin typeface="Cambria Math" panose="02040503050406030204" pitchFamily="18" charset="0"/>
                                </a:rPr>
                                <m:t>𝑽</m:t>
                              </m:r>
                            </m:e>
                            <m:sub>
                              <m:r>
                                <a:rPr lang="en-US" sz="1300" b="1" i="1" smtClean="0">
                                  <a:latin typeface="Cambria Math" panose="02040503050406030204" pitchFamily="18" charset="0"/>
                                </a:rPr>
                                <m:t>𝑪𝑽</m:t>
                              </m:r>
                            </m:sub>
                          </m:sSub>
                        </m:num>
                        <m:den>
                          <m:r>
                            <a:rPr lang="en-US" sz="1300" b="1" i="1" smtClean="0">
                              <a:latin typeface="Cambria Math" panose="02040503050406030204" pitchFamily="18" charset="0"/>
                            </a:rPr>
                            <m:t>𝒔</m:t>
                          </m:r>
                        </m:den>
                      </m:f>
                    </m:oMath>
                  </m:oMathPara>
                </a14:m>
                <a:endParaRPr lang="en-US" sz="1300" b="1"/>
              </a:p>
            </p:txBody>
          </p:sp>
        </mc:Choice>
        <mc:Fallback xmlns="">
          <p:sp>
            <p:nvSpPr>
              <p:cNvPr id="30" name="TextBox 29">
                <a:extLst>
                  <a:ext uri="{FF2B5EF4-FFF2-40B4-BE49-F238E27FC236}">
                    <a16:creationId xmlns:a16="http://schemas.microsoft.com/office/drawing/2014/main" id="{D215F8DA-B545-22B2-79A7-88C236D06FAF}"/>
                  </a:ext>
                </a:extLst>
              </p:cNvPr>
              <p:cNvSpPr txBox="1">
                <a:spLocks noRot="1" noChangeAspect="1" noMove="1" noResize="1" noEditPoints="1" noAdjustHandles="1" noChangeArrowheads="1" noChangeShapeType="1" noTextEdit="1"/>
              </p:cNvSpPr>
              <p:nvPr/>
            </p:nvSpPr>
            <p:spPr>
              <a:xfrm>
                <a:off x="6798402" y="4231695"/>
                <a:ext cx="579410" cy="46685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DD109CC-57E7-5452-A94D-78D356EB33F5}"/>
                  </a:ext>
                </a:extLst>
              </p:cNvPr>
              <p:cNvSpPr txBox="1"/>
              <p:nvPr/>
            </p:nvSpPr>
            <p:spPr>
              <a:xfrm>
                <a:off x="7628754" y="4638354"/>
                <a:ext cx="752661" cy="2923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300" b="1" i="1" smtClean="0">
                          <a:latin typeface="Cambria Math" panose="02040503050406030204" pitchFamily="18" charset="0"/>
                        </a:rPr>
                        <m:t>𝑶𝑪𝑽</m:t>
                      </m:r>
                      <m:r>
                        <a:rPr lang="en-US" sz="1300" b="1" i="1" smtClean="0">
                          <a:latin typeface="Cambria Math" panose="02040503050406030204" pitchFamily="18" charset="0"/>
                        </a:rPr>
                        <m:t>/</m:t>
                      </m:r>
                      <m:r>
                        <a:rPr lang="en-US" sz="1300" b="1" i="1" smtClean="0">
                          <a:latin typeface="Cambria Math" panose="02040503050406030204" pitchFamily="18" charset="0"/>
                        </a:rPr>
                        <m:t>𝒔</m:t>
                      </m:r>
                    </m:oMath>
                  </m:oMathPara>
                </a14:m>
                <a:endParaRPr lang="en-US" sz="1300" b="1"/>
              </a:p>
            </p:txBody>
          </p:sp>
        </mc:Choice>
        <mc:Fallback xmlns="">
          <p:sp>
            <p:nvSpPr>
              <p:cNvPr id="31" name="TextBox 30">
                <a:extLst>
                  <a:ext uri="{FF2B5EF4-FFF2-40B4-BE49-F238E27FC236}">
                    <a16:creationId xmlns:a16="http://schemas.microsoft.com/office/drawing/2014/main" id="{ADD109CC-57E7-5452-A94D-78D356EB33F5}"/>
                  </a:ext>
                </a:extLst>
              </p:cNvPr>
              <p:cNvSpPr txBox="1">
                <a:spLocks noRot="1" noChangeAspect="1" noMove="1" noResize="1" noEditPoints="1" noAdjustHandles="1" noChangeArrowheads="1" noChangeShapeType="1" noTextEdit="1"/>
              </p:cNvSpPr>
              <p:nvPr/>
            </p:nvSpPr>
            <p:spPr>
              <a:xfrm>
                <a:off x="7628754" y="4638354"/>
                <a:ext cx="752661" cy="292388"/>
              </a:xfrm>
              <a:prstGeom prst="rect">
                <a:avLst/>
              </a:prstGeom>
              <a:blipFill>
                <a:blip r:embed="rId8"/>
                <a:stretch>
                  <a:fillRect b="-10417"/>
                </a:stretch>
              </a:blipFill>
            </p:spPr>
            <p:txBody>
              <a:bodyPr/>
              <a:lstStyle/>
              <a:p>
                <a:r>
                  <a:rPr lang="en-US">
                    <a:noFill/>
                  </a:rPr>
                  <a:t> </a:t>
                </a:r>
              </a:p>
            </p:txBody>
          </p:sp>
        </mc:Fallback>
      </mc:AlternateContent>
      <p:pic>
        <p:nvPicPr>
          <p:cNvPr id="32" name="Picture 31">
            <a:extLst>
              <a:ext uri="{FF2B5EF4-FFF2-40B4-BE49-F238E27FC236}">
                <a16:creationId xmlns:a16="http://schemas.microsoft.com/office/drawing/2014/main" id="{7FC84F41-B965-C32A-9B4A-4EDCED9DBF3F}"/>
              </a:ext>
            </a:extLst>
          </p:cNvPr>
          <p:cNvPicPr>
            <a:picLocks noChangeAspect="1"/>
          </p:cNvPicPr>
          <p:nvPr/>
        </p:nvPicPr>
        <p:blipFill>
          <a:blip r:embed="rId9"/>
          <a:stretch>
            <a:fillRect/>
          </a:stretch>
        </p:blipFill>
        <p:spPr>
          <a:xfrm>
            <a:off x="8581072" y="3755386"/>
            <a:ext cx="276264" cy="163422"/>
          </a:xfrm>
          <a:prstGeom prst="rect">
            <a:avLst/>
          </a:prstGeom>
        </p:spPr>
      </p:pic>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2B5B2FA-3C3B-2C43-81F3-FDD3B7C680B3}"/>
                  </a:ext>
                </a:extLst>
              </p:cNvPr>
              <p:cNvSpPr txBox="1"/>
              <p:nvPr/>
            </p:nvSpPr>
            <p:spPr>
              <a:xfrm>
                <a:off x="8552793" y="3626420"/>
                <a:ext cx="579410" cy="2923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300" b="1" i="1" smtClean="0">
                          <a:latin typeface="Cambria Math" panose="02040503050406030204" pitchFamily="18" charset="0"/>
                        </a:rPr>
                        <m:t>𝑰</m:t>
                      </m:r>
                      <m:r>
                        <a:rPr lang="en-US" sz="1300" b="1" i="1" smtClean="0">
                          <a:latin typeface="Cambria Math" panose="02040503050406030204" pitchFamily="18" charset="0"/>
                        </a:rPr>
                        <m:t>(</m:t>
                      </m:r>
                      <m:r>
                        <a:rPr lang="en-US" sz="1300" b="1" i="1" smtClean="0">
                          <a:latin typeface="Cambria Math" panose="02040503050406030204" pitchFamily="18" charset="0"/>
                        </a:rPr>
                        <m:t>𝒔</m:t>
                      </m:r>
                      <m:r>
                        <a:rPr lang="en-US" sz="1300" b="1" i="1" smtClean="0">
                          <a:latin typeface="Cambria Math" panose="02040503050406030204" pitchFamily="18" charset="0"/>
                        </a:rPr>
                        <m:t>)</m:t>
                      </m:r>
                    </m:oMath>
                  </m:oMathPara>
                </a14:m>
                <a:endParaRPr lang="en-US" sz="1300" b="1"/>
              </a:p>
            </p:txBody>
          </p:sp>
        </mc:Choice>
        <mc:Fallback xmlns="">
          <p:sp>
            <p:nvSpPr>
              <p:cNvPr id="33" name="TextBox 32">
                <a:extLst>
                  <a:ext uri="{FF2B5EF4-FFF2-40B4-BE49-F238E27FC236}">
                    <a16:creationId xmlns:a16="http://schemas.microsoft.com/office/drawing/2014/main" id="{82B5B2FA-3C3B-2C43-81F3-FDD3B7C680B3}"/>
                  </a:ext>
                </a:extLst>
              </p:cNvPr>
              <p:cNvSpPr txBox="1">
                <a:spLocks noRot="1" noChangeAspect="1" noMove="1" noResize="1" noEditPoints="1" noAdjustHandles="1" noChangeArrowheads="1" noChangeShapeType="1" noTextEdit="1"/>
              </p:cNvSpPr>
              <p:nvPr/>
            </p:nvSpPr>
            <p:spPr>
              <a:xfrm>
                <a:off x="8552793" y="3626420"/>
                <a:ext cx="579410" cy="292388"/>
              </a:xfrm>
              <a:prstGeom prst="rect">
                <a:avLst/>
              </a:prstGeom>
              <a:blipFill>
                <a:blip r:embed="rId10"/>
                <a:stretch>
                  <a:fillRect b="-10417"/>
                </a:stretch>
              </a:blipFill>
            </p:spPr>
            <p:txBody>
              <a:bodyPr/>
              <a:lstStyle/>
              <a:p>
                <a:r>
                  <a:rPr lang="en-US">
                    <a:noFill/>
                  </a:rPr>
                  <a:t> </a:t>
                </a:r>
              </a:p>
            </p:txBody>
          </p:sp>
        </mc:Fallback>
      </mc:AlternateContent>
      <p:pic>
        <p:nvPicPr>
          <p:cNvPr id="34" name="Picture 33">
            <a:extLst>
              <a:ext uri="{FF2B5EF4-FFF2-40B4-BE49-F238E27FC236}">
                <a16:creationId xmlns:a16="http://schemas.microsoft.com/office/drawing/2014/main" id="{2C260417-D264-66FC-9D13-8D19341BB669}"/>
              </a:ext>
            </a:extLst>
          </p:cNvPr>
          <p:cNvPicPr>
            <a:picLocks noChangeAspect="1"/>
          </p:cNvPicPr>
          <p:nvPr/>
        </p:nvPicPr>
        <p:blipFill>
          <a:blip r:embed="rId11"/>
          <a:stretch>
            <a:fillRect/>
          </a:stretch>
        </p:blipFill>
        <p:spPr>
          <a:xfrm>
            <a:off x="8830815" y="4631465"/>
            <a:ext cx="190527" cy="266737"/>
          </a:xfrm>
          <a:prstGeom prst="rect">
            <a:avLst/>
          </a:prstGeom>
        </p:spPr>
      </p:pic>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DE39E2D7-4FAF-C2BE-7492-5DDDF0C48B7C}"/>
                  </a:ext>
                </a:extLst>
              </p:cNvPr>
              <p:cNvSpPr txBox="1"/>
              <p:nvPr/>
            </p:nvSpPr>
            <p:spPr>
              <a:xfrm>
                <a:off x="8594998" y="4479193"/>
                <a:ext cx="579410" cy="4668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300" b="1" i="1" smtClean="0">
                              <a:latin typeface="Cambria Math" panose="02040503050406030204" pitchFamily="18" charset="0"/>
                            </a:rPr>
                          </m:ctrlPr>
                        </m:fPr>
                        <m:num>
                          <m:r>
                            <a:rPr lang="en-US" sz="1300" b="1" i="1" smtClean="0">
                              <a:latin typeface="Cambria Math" panose="02040503050406030204" pitchFamily="18" charset="0"/>
                            </a:rPr>
                            <m:t>𝟏</m:t>
                          </m:r>
                        </m:num>
                        <m:den>
                          <m:r>
                            <a:rPr lang="en-US" sz="1300" b="1" i="1" smtClean="0">
                              <a:latin typeface="Cambria Math" panose="02040503050406030204" pitchFamily="18" charset="0"/>
                            </a:rPr>
                            <m:t>𝒔𝑪</m:t>
                          </m:r>
                        </m:den>
                      </m:f>
                    </m:oMath>
                  </m:oMathPara>
                </a14:m>
                <a:endParaRPr lang="en-US" sz="1300" b="1"/>
              </a:p>
            </p:txBody>
          </p:sp>
        </mc:Choice>
        <mc:Fallback xmlns="">
          <p:sp>
            <p:nvSpPr>
              <p:cNvPr id="35" name="TextBox 34">
                <a:extLst>
                  <a:ext uri="{FF2B5EF4-FFF2-40B4-BE49-F238E27FC236}">
                    <a16:creationId xmlns:a16="http://schemas.microsoft.com/office/drawing/2014/main" id="{DE39E2D7-4FAF-C2BE-7492-5DDDF0C48B7C}"/>
                  </a:ext>
                </a:extLst>
              </p:cNvPr>
              <p:cNvSpPr txBox="1">
                <a:spLocks noRot="1" noChangeAspect="1" noMove="1" noResize="1" noEditPoints="1" noAdjustHandles="1" noChangeArrowheads="1" noChangeShapeType="1" noTextEdit="1"/>
              </p:cNvSpPr>
              <p:nvPr/>
            </p:nvSpPr>
            <p:spPr>
              <a:xfrm>
                <a:off x="8594998" y="4479193"/>
                <a:ext cx="579410" cy="466859"/>
              </a:xfrm>
              <a:prstGeom prst="rect">
                <a:avLst/>
              </a:prstGeom>
              <a:blipFill>
                <a:blip r:embed="rId12"/>
                <a:stretch>
                  <a:fillRect b="-2632"/>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15C919F9-9758-F278-C2DE-763EB72815FD}"/>
              </a:ext>
            </a:extLst>
          </p:cNvPr>
          <p:cNvSpPr txBox="1"/>
          <p:nvPr/>
        </p:nvSpPr>
        <p:spPr>
          <a:xfrm>
            <a:off x="7145096" y="5442270"/>
            <a:ext cx="2419947" cy="307777"/>
          </a:xfrm>
          <a:prstGeom prst="rect">
            <a:avLst/>
          </a:prstGeom>
          <a:noFill/>
        </p:spPr>
        <p:txBody>
          <a:bodyPr wrap="square">
            <a:spAutoFit/>
          </a:bodyPr>
          <a:lstStyle/>
          <a:p>
            <a:r>
              <a:rPr lang="en-US" sz="1400"/>
              <a:t>H8 : Mạch sau chuyển mạch</a:t>
            </a:r>
          </a:p>
        </p:txBody>
      </p:sp>
    </p:spTree>
    <p:extLst>
      <p:ext uri="{BB962C8B-B14F-4D97-AF65-F5344CB8AC3E}">
        <p14:creationId xmlns:p14="http://schemas.microsoft.com/office/powerpoint/2010/main" val="4236588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F7DCB-2EB0-0C5F-00C2-9455FF7AEA55}"/>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694F95A1-F10D-4340-8BBA-CF6F030CD313}"/>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11</a:t>
            </a:fld>
            <a:r>
              <a:rPr lang="en-US"/>
              <a:t> 	</a:t>
            </a:r>
          </a:p>
        </p:txBody>
      </p:sp>
      <p:sp>
        <p:nvSpPr>
          <p:cNvPr id="20" name="Date Placeholder 3">
            <a:extLst>
              <a:ext uri="{FF2B5EF4-FFF2-40B4-BE49-F238E27FC236}">
                <a16:creationId xmlns:a16="http://schemas.microsoft.com/office/drawing/2014/main" id="{171110ED-A93D-E5F2-B6B5-F0D623366DBC}"/>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3/21/2025</a:t>
            </a:fld>
            <a:endParaRPr lang="en-US"/>
          </a:p>
        </p:txBody>
      </p:sp>
      <p:sp>
        <p:nvSpPr>
          <p:cNvPr id="21" name="Footer Placeholder 5">
            <a:extLst>
              <a:ext uri="{FF2B5EF4-FFF2-40B4-BE49-F238E27FC236}">
                <a16:creationId xmlns:a16="http://schemas.microsoft.com/office/drawing/2014/main" id="{B6CD615C-D981-CF6A-738B-EF1EEF315706}"/>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5" name="Title 4">
            <a:extLst>
              <a:ext uri="{FF2B5EF4-FFF2-40B4-BE49-F238E27FC236}">
                <a16:creationId xmlns:a16="http://schemas.microsoft.com/office/drawing/2014/main" id="{DC9FD256-7D51-47CE-C70B-FB3C8A356CF0}"/>
              </a:ext>
            </a:extLst>
          </p:cNvPr>
          <p:cNvSpPr>
            <a:spLocks noGrp="1"/>
          </p:cNvSpPr>
          <p:nvPr>
            <p:ph type="title"/>
          </p:nvPr>
        </p:nvSpPr>
        <p:spPr>
          <a:xfrm>
            <a:off x="466887" y="89570"/>
            <a:ext cx="9766931" cy="548731"/>
          </a:xfrm>
        </p:spPr>
        <p:txBody>
          <a:bodyPr/>
          <a:lstStyle/>
          <a:p>
            <a:r>
              <a:rPr lang="en-US" sz="4000">
                <a:solidFill>
                  <a:srgbClr val="262626"/>
                </a:solidFill>
              </a:rPr>
              <a:t>Tổng quan về các phương pháp sạc</a:t>
            </a:r>
            <a:endParaRPr lang="en-US"/>
          </a:p>
        </p:txBody>
      </p:sp>
      <p:sp>
        <p:nvSpPr>
          <p:cNvPr id="3" name="TextBox 2">
            <a:extLst>
              <a:ext uri="{FF2B5EF4-FFF2-40B4-BE49-F238E27FC236}">
                <a16:creationId xmlns:a16="http://schemas.microsoft.com/office/drawing/2014/main" id="{921FA078-1611-1C2B-411A-741B36DE5588}"/>
              </a:ext>
            </a:extLst>
          </p:cNvPr>
          <p:cNvSpPr txBox="1"/>
          <p:nvPr/>
        </p:nvSpPr>
        <p:spPr>
          <a:xfrm>
            <a:off x="141130" y="2466289"/>
            <a:ext cx="4811870" cy="769441"/>
          </a:xfrm>
          <a:prstGeom prst="rect">
            <a:avLst/>
          </a:prstGeom>
          <a:noFill/>
        </p:spPr>
        <p:txBody>
          <a:bodyPr wrap="square">
            <a:spAutoFit/>
          </a:bodyPr>
          <a:lstStyle/>
          <a:p>
            <a:pPr marL="342900" indent="-342900">
              <a:buFont typeface="Arial" panose="020B0604020202020204" pitchFamily="34" charset="0"/>
              <a:buChar char="•"/>
            </a:pPr>
            <a:r>
              <a:rPr lang="en-US" sz="2200" b="1">
                <a:solidFill>
                  <a:srgbClr val="262626"/>
                </a:solidFill>
              </a:rPr>
              <a:t>Nhận xét : </a:t>
            </a:r>
            <a:r>
              <a:rPr lang="en-US" sz="2200">
                <a:solidFill>
                  <a:srgbClr val="262626"/>
                </a:solidFill>
              </a:rPr>
              <a:t>Hoạt động của Pin phụ thuộc nhiều vào điện áp sạc CV </a:t>
            </a:r>
            <a:endParaRPr lang="en-US" sz="2000">
              <a:solidFill>
                <a:srgbClr val="262626"/>
              </a:solidFill>
            </a:endParaRPr>
          </a:p>
        </p:txBody>
      </p:sp>
      <p:sp>
        <p:nvSpPr>
          <p:cNvPr id="4" name="TextBox 3">
            <a:extLst>
              <a:ext uri="{FF2B5EF4-FFF2-40B4-BE49-F238E27FC236}">
                <a16:creationId xmlns:a16="http://schemas.microsoft.com/office/drawing/2014/main" id="{ABFEE902-C45A-CEC3-7DF0-6F849516B402}"/>
              </a:ext>
            </a:extLst>
          </p:cNvPr>
          <p:cNvSpPr txBox="1"/>
          <p:nvPr/>
        </p:nvSpPr>
        <p:spPr>
          <a:xfrm>
            <a:off x="160180" y="887139"/>
            <a:ext cx="7483494" cy="646331"/>
          </a:xfrm>
          <a:prstGeom prst="rect">
            <a:avLst/>
          </a:prstGeom>
          <a:noFill/>
        </p:spPr>
        <p:txBody>
          <a:bodyPr wrap="square">
            <a:spAutoFit/>
          </a:bodyPr>
          <a:lstStyle/>
          <a:p>
            <a:pPr marL="342900" indent="-342900">
              <a:buFont typeface="Wingdings" panose="05000000000000000000" pitchFamily="2" charset="2"/>
              <a:buChar char="q"/>
            </a:pPr>
            <a:r>
              <a:rPr lang="en-US" sz="3600">
                <a:solidFill>
                  <a:srgbClr val="262626"/>
                </a:solidFill>
              </a:rPr>
              <a:t>Phương pháp ổn áp (CV) </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0C76F40-E5A5-004D-2854-925785E62D45}"/>
                  </a:ext>
                </a:extLst>
              </p:cNvPr>
              <p:cNvSpPr txBox="1"/>
              <p:nvPr/>
            </p:nvSpPr>
            <p:spPr>
              <a:xfrm>
                <a:off x="160180" y="1472594"/>
                <a:ext cx="9661840" cy="1046440"/>
              </a:xfrm>
              <a:prstGeom prst="rect">
                <a:avLst/>
              </a:prstGeom>
              <a:noFill/>
            </p:spPr>
            <p:txBody>
              <a:bodyPr wrap="square">
                <a:spAutoFit/>
              </a:bodyPr>
              <a:lstStyle/>
              <a:p>
                <a:pPr marL="342900" indent="-342900">
                  <a:buFont typeface="Arial" panose="020B0604020202020204" pitchFamily="34" charset="0"/>
                  <a:buChar char="•"/>
                </a:pPr>
                <a:r>
                  <a:rPr lang="en-US" sz="2200" b="1">
                    <a:solidFill>
                      <a:srgbClr val="262626"/>
                    </a:solidFill>
                  </a:rPr>
                  <a:t>Chú ý khi thiết kế </a:t>
                </a:r>
                <a14:m>
                  <m:oMath xmlns:m="http://schemas.openxmlformats.org/officeDocument/2006/math">
                    <m:sSub>
                      <m:sSubPr>
                        <m:ctrlPr>
                          <a:rPr lang="en-US" sz="2200" b="1" i="1" smtClean="0">
                            <a:solidFill>
                              <a:srgbClr val="262626"/>
                            </a:solidFill>
                            <a:latin typeface="Cambria Math" panose="02040503050406030204" pitchFamily="18" charset="0"/>
                          </a:rPr>
                        </m:ctrlPr>
                      </m:sSubPr>
                      <m:e>
                        <m:r>
                          <a:rPr lang="en-US" sz="2200" b="1" i="1" smtClean="0">
                            <a:solidFill>
                              <a:srgbClr val="262626"/>
                            </a:solidFill>
                            <a:latin typeface="Cambria Math" panose="02040503050406030204" pitchFamily="18" charset="0"/>
                          </a:rPr>
                          <m:t>𝑽</m:t>
                        </m:r>
                      </m:e>
                      <m:sub>
                        <m:r>
                          <a:rPr lang="en-US" sz="2200" b="1" i="1" smtClean="0">
                            <a:solidFill>
                              <a:srgbClr val="262626"/>
                            </a:solidFill>
                            <a:latin typeface="Cambria Math" panose="02040503050406030204" pitchFamily="18" charset="0"/>
                          </a:rPr>
                          <m:t>𝑪𝑽</m:t>
                        </m:r>
                      </m:sub>
                    </m:sSub>
                  </m:oMath>
                </a14:m>
                <a:r>
                  <a:rPr lang="en-US" sz="2000">
                    <a:solidFill>
                      <a:srgbClr val="262626"/>
                    </a:solidFill>
                  </a:rPr>
                  <a:t> : Khi chọn điện áp sạc </a:t>
                </a:r>
                <a14:m>
                  <m:oMath xmlns:m="http://schemas.openxmlformats.org/officeDocument/2006/math">
                    <m:sSub>
                      <m:sSubPr>
                        <m:ctrlPr>
                          <a:rPr lang="en-US" sz="2000" b="0" i="1" smtClean="0">
                            <a:solidFill>
                              <a:srgbClr val="262626"/>
                            </a:solidFill>
                            <a:latin typeface="Cambria Math" panose="02040503050406030204" pitchFamily="18" charset="0"/>
                          </a:rPr>
                        </m:ctrlPr>
                      </m:sSubPr>
                      <m:e>
                        <m:r>
                          <a:rPr lang="en-US" sz="2000" b="0" i="1" smtClean="0">
                            <a:solidFill>
                              <a:srgbClr val="262626"/>
                            </a:solidFill>
                            <a:latin typeface="Cambria Math" panose="02040503050406030204" pitchFamily="18" charset="0"/>
                          </a:rPr>
                          <m:t>𝑉</m:t>
                        </m:r>
                      </m:e>
                      <m:sub>
                        <m:r>
                          <a:rPr lang="en-US" sz="2000" b="0" i="1" smtClean="0">
                            <a:solidFill>
                              <a:srgbClr val="262626"/>
                            </a:solidFill>
                            <a:latin typeface="Cambria Math" panose="02040503050406030204" pitchFamily="18" charset="0"/>
                          </a:rPr>
                          <m:t>𝐶𝑉</m:t>
                        </m:r>
                      </m:sub>
                    </m:sSub>
                  </m:oMath>
                </a14:m>
                <a:r>
                  <a:rPr lang="en-US" sz="2000">
                    <a:solidFill>
                      <a:srgbClr val="262626"/>
                    </a:solidFill>
                  </a:rPr>
                  <a:t> quá lớn, điện áp pin tăng từ OCV lên </a:t>
                </a:r>
                <a14:m>
                  <m:oMath xmlns:m="http://schemas.openxmlformats.org/officeDocument/2006/math">
                    <m:sSub>
                      <m:sSubPr>
                        <m:ctrlPr>
                          <a:rPr lang="en-US" sz="2000" b="0" i="1" smtClean="0">
                            <a:solidFill>
                              <a:srgbClr val="262626"/>
                            </a:solidFill>
                            <a:latin typeface="Cambria Math" panose="02040503050406030204" pitchFamily="18" charset="0"/>
                          </a:rPr>
                        </m:ctrlPr>
                      </m:sSubPr>
                      <m:e>
                        <m:r>
                          <a:rPr lang="en-US" sz="2000" b="0" i="1" smtClean="0">
                            <a:solidFill>
                              <a:srgbClr val="262626"/>
                            </a:solidFill>
                            <a:latin typeface="Cambria Math" panose="02040503050406030204" pitchFamily="18" charset="0"/>
                          </a:rPr>
                          <m:t>𝑉</m:t>
                        </m:r>
                      </m:e>
                      <m:sub>
                        <m:r>
                          <a:rPr lang="en-US" sz="2000" b="0" i="1" smtClean="0">
                            <a:solidFill>
                              <a:srgbClr val="262626"/>
                            </a:solidFill>
                            <a:latin typeface="Cambria Math" panose="02040503050406030204" pitchFamily="18" charset="0"/>
                          </a:rPr>
                          <m:t>𝐶𝑉</m:t>
                        </m:r>
                      </m:sub>
                    </m:sSub>
                  </m:oMath>
                </a14:m>
                <a:r>
                  <a:rPr lang="en-US" sz="2000">
                    <a:solidFill>
                      <a:srgbClr val="262626"/>
                    </a:solidFill>
                  </a:rPr>
                  <a:t> là quá ngắn </a:t>
                </a:r>
              </a:p>
              <a:p>
                <a:r>
                  <a:rPr lang="en-US" sz="2000">
                    <a:solidFill>
                      <a:srgbClr val="262626"/>
                    </a:solidFill>
                    <a:sym typeface="Wingdings" panose="05000000000000000000" pitchFamily="2" charset="2"/>
                  </a:rPr>
                  <a:t> Gây ra hiện tượng quá nhiệt trên pin [2] </a:t>
                </a:r>
                <a:endParaRPr lang="en-US" sz="2000">
                  <a:solidFill>
                    <a:srgbClr val="262626"/>
                  </a:solidFill>
                </a:endParaRPr>
              </a:p>
            </p:txBody>
          </p:sp>
        </mc:Choice>
        <mc:Fallback xmlns="">
          <p:sp>
            <p:nvSpPr>
              <p:cNvPr id="6" name="TextBox 5">
                <a:extLst>
                  <a:ext uri="{FF2B5EF4-FFF2-40B4-BE49-F238E27FC236}">
                    <a16:creationId xmlns:a16="http://schemas.microsoft.com/office/drawing/2014/main" id="{70C76F40-E5A5-004D-2854-925785E62D45}"/>
                  </a:ext>
                </a:extLst>
              </p:cNvPr>
              <p:cNvSpPr txBox="1">
                <a:spLocks noRot="1" noChangeAspect="1" noMove="1" noResize="1" noEditPoints="1" noAdjustHandles="1" noChangeArrowheads="1" noChangeShapeType="1" noTextEdit="1"/>
              </p:cNvSpPr>
              <p:nvPr/>
            </p:nvSpPr>
            <p:spPr>
              <a:xfrm>
                <a:off x="160180" y="1472594"/>
                <a:ext cx="9661840" cy="1046440"/>
              </a:xfrm>
              <a:prstGeom prst="rect">
                <a:avLst/>
              </a:prstGeom>
              <a:blipFill>
                <a:blip r:embed="rId4"/>
                <a:stretch>
                  <a:fillRect l="-694" t="-4094" b="-10526"/>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CED35499-91FE-9CBA-3B7F-69F854A336D7}"/>
              </a:ext>
            </a:extLst>
          </p:cNvPr>
          <p:cNvPicPr>
            <a:picLocks noChangeAspect="1"/>
          </p:cNvPicPr>
          <p:nvPr/>
        </p:nvPicPr>
        <p:blipFill>
          <a:blip r:embed="rId5"/>
          <a:stretch>
            <a:fillRect/>
          </a:stretch>
        </p:blipFill>
        <p:spPr>
          <a:xfrm>
            <a:off x="5429658" y="1995814"/>
            <a:ext cx="3795305" cy="3201584"/>
          </a:xfrm>
          <a:prstGeom prst="rect">
            <a:avLst/>
          </a:prstGeom>
        </p:spPr>
        <p:style>
          <a:lnRef idx="2">
            <a:schemeClr val="dk1"/>
          </a:lnRef>
          <a:fillRef idx="1">
            <a:schemeClr val="lt1"/>
          </a:fillRef>
          <a:effectRef idx="0">
            <a:schemeClr val="dk1"/>
          </a:effectRef>
          <a:fontRef idx="minor">
            <a:schemeClr val="dk1"/>
          </a:fontRef>
        </p:style>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056A867-54D0-967A-09F9-A9B29C904A5F}"/>
                  </a:ext>
                </a:extLst>
              </p:cNvPr>
              <p:cNvSpPr txBox="1"/>
              <p:nvPr/>
            </p:nvSpPr>
            <p:spPr>
              <a:xfrm>
                <a:off x="458649" y="3541557"/>
                <a:ext cx="4792820" cy="1415772"/>
              </a:xfrm>
              <a:prstGeom prst="rect">
                <a:avLst/>
              </a:prstGeom>
              <a:noFill/>
            </p:spPr>
            <p:txBody>
              <a:bodyPr wrap="square">
                <a:spAutoFit/>
              </a:bodyPr>
              <a:lstStyle/>
              <a:p>
                <a:r>
                  <a:rPr lang="en-US" sz="2200">
                    <a:solidFill>
                      <a:srgbClr val="262626"/>
                    </a:solidFill>
                    <a:sym typeface="Wingdings" panose="05000000000000000000" pitchFamily="2" charset="2"/>
                  </a:rPr>
                  <a:t>Đây là phương pháp sạc đơn giản ,tuy nhiên ưu điểm còn chưa cao do nhiều đại lượng tỉ lệ nghịch khi </a:t>
                </a:r>
                <a14:m>
                  <m:oMath xmlns:m="http://schemas.openxmlformats.org/officeDocument/2006/math">
                    <m:sSub>
                      <m:sSubPr>
                        <m:ctrlPr>
                          <a:rPr lang="en-US" sz="2200" b="0" i="1" smtClean="0">
                            <a:solidFill>
                              <a:srgbClr val="262626"/>
                            </a:solidFill>
                            <a:latin typeface="Cambria Math" panose="02040503050406030204" pitchFamily="18" charset="0"/>
                            <a:sym typeface="Wingdings" panose="05000000000000000000" pitchFamily="2" charset="2"/>
                          </a:rPr>
                        </m:ctrlPr>
                      </m:sSubPr>
                      <m:e>
                        <m:r>
                          <a:rPr lang="en-US" sz="2200" b="0" i="1" smtClean="0">
                            <a:solidFill>
                              <a:srgbClr val="262626"/>
                            </a:solidFill>
                            <a:latin typeface="Cambria Math" panose="02040503050406030204" pitchFamily="18" charset="0"/>
                            <a:sym typeface="Wingdings" panose="05000000000000000000" pitchFamily="2" charset="2"/>
                          </a:rPr>
                          <m:t>𝑉</m:t>
                        </m:r>
                      </m:e>
                      <m:sub>
                        <m:r>
                          <a:rPr lang="en-US" sz="2200" b="0" i="1" smtClean="0">
                            <a:solidFill>
                              <a:srgbClr val="262626"/>
                            </a:solidFill>
                            <a:latin typeface="Cambria Math" panose="02040503050406030204" pitchFamily="18" charset="0"/>
                            <a:sym typeface="Wingdings" panose="05000000000000000000" pitchFamily="2" charset="2"/>
                          </a:rPr>
                          <m:t>𝐶𝑉</m:t>
                        </m:r>
                      </m:sub>
                    </m:sSub>
                  </m:oMath>
                </a14:m>
                <a:r>
                  <a:rPr lang="en-US" sz="2000">
                    <a:solidFill>
                      <a:srgbClr val="262626"/>
                    </a:solidFill>
                  </a:rPr>
                  <a:t> thay đổi </a:t>
                </a:r>
              </a:p>
            </p:txBody>
          </p:sp>
        </mc:Choice>
        <mc:Fallback xmlns="">
          <p:sp>
            <p:nvSpPr>
              <p:cNvPr id="9" name="TextBox 8">
                <a:extLst>
                  <a:ext uri="{FF2B5EF4-FFF2-40B4-BE49-F238E27FC236}">
                    <a16:creationId xmlns:a16="http://schemas.microsoft.com/office/drawing/2014/main" id="{3056A867-54D0-967A-09F9-A9B29C904A5F}"/>
                  </a:ext>
                </a:extLst>
              </p:cNvPr>
              <p:cNvSpPr txBox="1">
                <a:spLocks noRot="1" noChangeAspect="1" noMove="1" noResize="1" noEditPoints="1" noAdjustHandles="1" noChangeArrowheads="1" noChangeShapeType="1" noTextEdit="1"/>
              </p:cNvSpPr>
              <p:nvPr/>
            </p:nvSpPr>
            <p:spPr>
              <a:xfrm>
                <a:off x="458649" y="3541557"/>
                <a:ext cx="4792820" cy="1415772"/>
              </a:xfrm>
              <a:prstGeom prst="rect">
                <a:avLst/>
              </a:prstGeom>
              <a:blipFill>
                <a:blip r:embed="rId6"/>
                <a:stretch>
                  <a:fillRect l="-1654" t="-3017" b="-6897"/>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E2C8D154-6BD2-2C6E-7F7A-073D3E287950}"/>
              </a:ext>
            </a:extLst>
          </p:cNvPr>
          <p:cNvSpPr txBox="1"/>
          <p:nvPr/>
        </p:nvSpPr>
        <p:spPr>
          <a:xfrm>
            <a:off x="140462" y="3574285"/>
            <a:ext cx="669325" cy="369332"/>
          </a:xfrm>
          <a:prstGeom prst="rect">
            <a:avLst/>
          </a:prstGeom>
          <a:noFill/>
        </p:spPr>
        <p:txBody>
          <a:bodyPr wrap="square">
            <a:spAutoFit/>
          </a:bodyPr>
          <a:lstStyle/>
          <a:p>
            <a:r>
              <a:rPr lang="en-US" sz="1800">
                <a:solidFill>
                  <a:srgbClr val="262626"/>
                </a:solidFill>
                <a:sym typeface="Wingdings" panose="05000000000000000000" pitchFamily="2" charset="2"/>
              </a:rPr>
              <a:t></a:t>
            </a:r>
            <a:endParaRPr lang="en-US"/>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0648779-3D1C-3E6E-9B6F-B9F05DE95D8C}"/>
                  </a:ext>
                </a:extLst>
              </p:cNvPr>
              <p:cNvSpPr txBox="1"/>
              <p:nvPr/>
            </p:nvSpPr>
            <p:spPr>
              <a:xfrm>
                <a:off x="5715935" y="5259791"/>
                <a:ext cx="3352511" cy="535531"/>
              </a:xfrm>
              <a:prstGeom prst="rect">
                <a:avLst/>
              </a:prstGeom>
              <a:noFill/>
            </p:spPr>
            <p:txBody>
              <a:bodyPr wrap="square">
                <a:spAutoFit/>
              </a:bodyPr>
              <a:lstStyle/>
              <a:p>
                <a:pPr algn="ctr"/>
                <a14:m>
                  <m:oMath xmlns:m="http://schemas.openxmlformats.org/officeDocument/2006/math">
                    <m:r>
                      <a:rPr lang="en-US" sz="1400" b="0" i="1" smtClean="0">
                        <a:solidFill>
                          <a:srgbClr val="262626"/>
                        </a:solidFill>
                        <a:latin typeface="Cambria Math" panose="02040503050406030204" pitchFamily="18" charset="0"/>
                      </a:rPr>
                      <m:t>𝑂𝐶𝑉</m:t>
                    </m:r>
                    <m:r>
                      <a:rPr lang="en-US" sz="1400" b="0" i="1" smtClean="0">
                        <a:solidFill>
                          <a:srgbClr val="262626"/>
                        </a:solidFill>
                        <a:latin typeface="Cambria Math" panose="02040503050406030204" pitchFamily="18" charset="0"/>
                      </a:rPr>
                      <m:t>=3.35</m:t>
                    </m:r>
                    <m:r>
                      <a:rPr lang="en-US" sz="1400" b="0" i="1" smtClean="0">
                        <a:solidFill>
                          <a:srgbClr val="262626"/>
                        </a:solidFill>
                        <a:latin typeface="Cambria Math" panose="02040503050406030204" pitchFamily="18" charset="0"/>
                      </a:rPr>
                      <m:t>𝑉</m:t>
                    </m:r>
                    <m:r>
                      <a:rPr lang="en-US" sz="1400" b="0" i="1" smtClean="0">
                        <a:solidFill>
                          <a:srgbClr val="262626"/>
                        </a:solidFill>
                        <a:latin typeface="Cambria Math" panose="02040503050406030204" pitchFamily="18" charset="0"/>
                      </a:rPr>
                      <m:t>,</m:t>
                    </m:r>
                    <m:sSub>
                      <m:sSubPr>
                        <m:ctrlPr>
                          <a:rPr lang="en-US" sz="1400" b="0" i="1" smtClean="0">
                            <a:solidFill>
                              <a:srgbClr val="262626"/>
                            </a:solidFill>
                            <a:latin typeface="Cambria Math" panose="02040503050406030204" pitchFamily="18" charset="0"/>
                          </a:rPr>
                        </m:ctrlPr>
                      </m:sSubPr>
                      <m:e>
                        <m:r>
                          <a:rPr lang="en-US" sz="1400" b="0" i="1" smtClean="0">
                            <a:solidFill>
                              <a:srgbClr val="262626"/>
                            </a:solidFill>
                            <a:latin typeface="Cambria Math" panose="02040503050406030204" pitchFamily="18" charset="0"/>
                          </a:rPr>
                          <m:t>𝑅</m:t>
                        </m:r>
                      </m:e>
                      <m:sub>
                        <m:r>
                          <a:rPr lang="en-US" sz="1400" b="0" i="1" smtClean="0">
                            <a:solidFill>
                              <a:srgbClr val="262626"/>
                            </a:solidFill>
                            <a:latin typeface="Cambria Math" panose="02040503050406030204" pitchFamily="18" charset="0"/>
                          </a:rPr>
                          <m:t>𝑏</m:t>
                        </m:r>
                      </m:sub>
                    </m:sSub>
                    <m:r>
                      <a:rPr lang="en-US" sz="1400" b="0" i="1" smtClean="0">
                        <a:solidFill>
                          <a:srgbClr val="262626"/>
                        </a:solidFill>
                        <a:latin typeface="Cambria Math" panose="02040503050406030204" pitchFamily="18" charset="0"/>
                      </a:rPr>
                      <m:t>=0.068,</m:t>
                    </m:r>
                    <m:sSub>
                      <m:sSubPr>
                        <m:ctrlPr>
                          <a:rPr lang="en-US" sz="1400" b="0" i="1" smtClean="0">
                            <a:solidFill>
                              <a:srgbClr val="262626"/>
                            </a:solidFill>
                            <a:latin typeface="Cambria Math" panose="02040503050406030204" pitchFamily="18" charset="0"/>
                          </a:rPr>
                        </m:ctrlPr>
                      </m:sSubPr>
                      <m:e>
                        <m:r>
                          <a:rPr lang="en-US" sz="1400" b="0" i="1" smtClean="0">
                            <a:solidFill>
                              <a:srgbClr val="262626"/>
                            </a:solidFill>
                            <a:latin typeface="Cambria Math" panose="02040503050406030204" pitchFamily="18" charset="0"/>
                          </a:rPr>
                          <m:t>𝐶</m:t>
                        </m:r>
                      </m:e>
                      <m:sub>
                        <m:r>
                          <a:rPr lang="en-US" sz="1400" b="0" i="1" smtClean="0">
                            <a:solidFill>
                              <a:srgbClr val="262626"/>
                            </a:solidFill>
                            <a:latin typeface="Cambria Math" panose="02040503050406030204" pitchFamily="18" charset="0"/>
                          </a:rPr>
                          <m:t>𝑏</m:t>
                        </m:r>
                      </m:sub>
                    </m:sSub>
                    <m:r>
                      <a:rPr lang="en-US" sz="1400" b="0" i="1" smtClean="0">
                        <a:solidFill>
                          <a:srgbClr val="262626"/>
                        </a:solidFill>
                        <a:latin typeface="Cambria Math" panose="02040503050406030204" pitchFamily="18" charset="0"/>
                      </a:rPr>
                      <m:t>=11030</m:t>
                    </m:r>
                    <m:r>
                      <a:rPr lang="en-US" sz="1400" b="0" i="1" smtClean="0">
                        <a:solidFill>
                          <a:srgbClr val="262626"/>
                        </a:solidFill>
                        <a:latin typeface="Cambria Math" panose="02040503050406030204" pitchFamily="18" charset="0"/>
                      </a:rPr>
                      <m:t>𝐹</m:t>
                    </m:r>
                    <m:r>
                      <a:rPr lang="en-US" sz="1400" b="0" i="1" smtClean="0">
                        <a:solidFill>
                          <a:srgbClr val="262626"/>
                        </a:solidFill>
                        <a:latin typeface="Cambria Math" panose="02040503050406030204" pitchFamily="18" charset="0"/>
                      </a:rPr>
                      <m:t>,  </m:t>
                    </m:r>
                    <m:sSub>
                      <m:sSubPr>
                        <m:ctrlPr>
                          <a:rPr lang="en-US" sz="1400" b="0" i="1" smtClean="0">
                            <a:solidFill>
                              <a:srgbClr val="262626"/>
                            </a:solidFill>
                            <a:latin typeface="Cambria Math" panose="02040503050406030204" pitchFamily="18" charset="0"/>
                          </a:rPr>
                        </m:ctrlPr>
                      </m:sSubPr>
                      <m:e>
                        <m:r>
                          <a:rPr lang="en-US" sz="1400" b="0" i="1" smtClean="0">
                            <a:solidFill>
                              <a:srgbClr val="262626"/>
                            </a:solidFill>
                            <a:latin typeface="Cambria Math" panose="02040503050406030204" pitchFamily="18" charset="0"/>
                          </a:rPr>
                          <m:t> </m:t>
                        </m:r>
                        <m:r>
                          <a:rPr lang="en-US" sz="1400" b="0" i="1" smtClean="0">
                            <a:solidFill>
                              <a:srgbClr val="262626"/>
                            </a:solidFill>
                            <a:latin typeface="Cambria Math" panose="02040503050406030204" pitchFamily="18" charset="0"/>
                          </a:rPr>
                          <m:t>𝐼</m:t>
                        </m:r>
                      </m:e>
                      <m:sub>
                        <m:r>
                          <a:rPr lang="en-US" sz="1400" b="0" i="1" smtClean="0">
                            <a:solidFill>
                              <a:srgbClr val="262626"/>
                            </a:solidFill>
                            <a:latin typeface="Cambria Math" panose="02040503050406030204" pitchFamily="18" charset="0"/>
                          </a:rPr>
                          <m:t>𝑐𝑢𝑡𝑜𝑓𝑓</m:t>
                        </m:r>
                      </m:sub>
                    </m:sSub>
                    <m:r>
                      <a:rPr lang="en-US" sz="1400" b="0" i="1" smtClean="0">
                        <a:solidFill>
                          <a:srgbClr val="262626"/>
                        </a:solidFill>
                        <a:latin typeface="Cambria Math" panose="02040503050406030204" pitchFamily="18" charset="0"/>
                      </a:rPr>
                      <m:t>=0.1</m:t>
                    </m:r>
                    <m:r>
                      <a:rPr lang="en-US" sz="1400" b="0" i="1" smtClean="0">
                        <a:solidFill>
                          <a:srgbClr val="262626"/>
                        </a:solidFill>
                        <a:latin typeface="Cambria Math" panose="02040503050406030204" pitchFamily="18" charset="0"/>
                      </a:rPr>
                      <m:t>𝐴</m:t>
                    </m:r>
                    <m:r>
                      <a:rPr lang="en-US" sz="1400" b="0" i="1" smtClean="0">
                        <a:solidFill>
                          <a:srgbClr val="262626"/>
                        </a:solidFill>
                        <a:latin typeface="Cambria Math" panose="02040503050406030204" pitchFamily="18" charset="0"/>
                      </a:rPr>
                      <m:t>, </m:t>
                    </m:r>
                    <m:sSub>
                      <m:sSubPr>
                        <m:ctrlPr>
                          <a:rPr lang="en-US" sz="1400" b="0" i="1" smtClean="0">
                            <a:solidFill>
                              <a:srgbClr val="262626"/>
                            </a:solidFill>
                            <a:latin typeface="Cambria Math" panose="02040503050406030204" pitchFamily="18" charset="0"/>
                          </a:rPr>
                        </m:ctrlPr>
                      </m:sSubPr>
                      <m:e>
                        <m:r>
                          <a:rPr lang="en-US" sz="1400" b="0" i="1" smtClean="0">
                            <a:solidFill>
                              <a:srgbClr val="262626"/>
                            </a:solidFill>
                            <a:latin typeface="Cambria Math" panose="02040503050406030204" pitchFamily="18" charset="0"/>
                          </a:rPr>
                          <m:t>𝑉</m:t>
                        </m:r>
                      </m:e>
                      <m:sub>
                        <m:r>
                          <a:rPr lang="en-US" sz="1400" b="0" i="1" smtClean="0">
                            <a:solidFill>
                              <a:srgbClr val="262626"/>
                            </a:solidFill>
                            <a:latin typeface="Cambria Math" panose="02040503050406030204" pitchFamily="18" charset="0"/>
                          </a:rPr>
                          <m:t>𝑐𝑣</m:t>
                        </m:r>
                      </m:sub>
                    </m:sSub>
                    <m:r>
                      <a:rPr lang="en-US" sz="1400" b="0" i="1" smtClean="0">
                        <a:solidFill>
                          <a:srgbClr val="262626"/>
                        </a:solidFill>
                        <a:latin typeface="Cambria Math" panose="02040503050406030204" pitchFamily="18" charset="0"/>
                      </a:rPr>
                      <m:t>=4</m:t>
                    </m:r>
                    <m:r>
                      <a:rPr lang="en-US" sz="1400" b="0" i="1" smtClean="0">
                        <a:solidFill>
                          <a:srgbClr val="262626"/>
                        </a:solidFill>
                        <a:latin typeface="Cambria Math" panose="02040503050406030204" pitchFamily="18" charset="0"/>
                      </a:rPr>
                      <m:t>𝑉</m:t>
                    </m:r>
                  </m:oMath>
                </a14:m>
                <a:r>
                  <a:rPr lang="en-US" sz="1400">
                    <a:solidFill>
                      <a:srgbClr val="262626"/>
                    </a:solidFill>
                  </a:rPr>
                  <a:t> </a:t>
                </a:r>
                <a:endParaRPr lang="en-US" sz="1400"/>
              </a:p>
            </p:txBody>
          </p:sp>
        </mc:Choice>
        <mc:Fallback xmlns="">
          <p:sp>
            <p:nvSpPr>
              <p:cNvPr id="13" name="TextBox 12">
                <a:extLst>
                  <a:ext uri="{FF2B5EF4-FFF2-40B4-BE49-F238E27FC236}">
                    <a16:creationId xmlns:a16="http://schemas.microsoft.com/office/drawing/2014/main" id="{E0648779-3D1C-3E6E-9B6F-B9F05DE95D8C}"/>
                  </a:ext>
                </a:extLst>
              </p:cNvPr>
              <p:cNvSpPr txBox="1">
                <a:spLocks noRot="1" noChangeAspect="1" noMove="1" noResize="1" noEditPoints="1" noAdjustHandles="1" noChangeArrowheads="1" noChangeShapeType="1" noTextEdit="1"/>
              </p:cNvSpPr>
              <p:nvPr/>
            </p:nvSpPr>
            <p:spPr>
              <a:xfrm>
                <a:off x="5715935" y="5259791"/>
                <a:ext cx="3352511" cy="535531"/>
              </a:xfrm>
              <a:prstGeom prst="rect">
                <a:avLst/>
              </a:prstGeom>
              <a:blipFill>
                <a:blip r:embed="rId7"/>
                <a:stretch>
                  <a:fillRect b="-1136"/>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2B6CEFB7-F54D-4C03-525A-35E9F82A1C6F}"/>
              </a:ext>
            </a:extLst>
          </p:cNvPr>
          <p:cNvSpPr txBox="1"/>
          <p:nvPr/>
        </p:nvSpPr>
        <p:spPr>
          <a:xfrm>
            <a:off x="6306774" y="5794391"/>
            <a:ext cx="2434444" cy="307777"/>
          </a:xfrm>
          <a:prstGeom prst="rect">
            <a:avLst/>
          </a:prstGeom>
          <a:noFill/>
        </p:spPr>
        <p:txBody>
          <a:bodyPr wrap="square">
            <a:spAutoFit/>
          </a:bodyPr>
          <a:lstStyle/>
          <a:p>
            <a:r>
              <a:rPr lang="en-US" sz="1400"/>
              <a:t>H9 : Đồ thị phụ thuộc Vcv</a:t>
            </a:r>
          </a:p>
        </p:txBody>
      </p:sp>
      <p:sp>
        <p:nvSpPr>
          <p:cNvPr id="16" name="TextBox 15">
            <a:extLst>
              <a:ext uri="{FF2B5EF4-FFF2-40B4-BE49-F238E27FC236}">
                <a16:creationId xmlns:a16="http://schemas.microsoft.com/office/drawing/2014/main" id="{C429EAFB-E7AB-B236-8639-0A8362E73C6A}"/>
              </a:ext>
            </a:extLst>
          </p:cNvPr>
          <p:cNvSpPr txBox="1"/>
          <p:nvPr/>
        </p:nvSpPr>
        <p:spPr>
          <a:xfrm>
            <a:off x="5850866" y="4410393"/>
            <a:ext cx="1948772" cy="307777"/>
          </a:xfrm>
          <a:prstGeom prst="rect">
            <a:avLst/>
          </a:prstGeom>
          <a:noFill/>
        </p:spPr>
        <p:txBody>
          <a:bodyPr wrap="square">
            <a:spAutoFit/>
          </a:bodyPr>
          <a:lstStyle/>
          <a:p>
            <a:r>
              <a:rPr lang="en-US" sz="1400" b="1">
                <a:solidFill>
                  <a:schemeClr val="accent1">
                    <a:lumMod val="75000"/>
                  </a:schemeClr>
                </a:solidFill>
                <a:sym typeface="Wingdings" panose="05000000000000000000" pitchFamily="2" charset="2"/>
              </a:rPr>
              <a:t>Dung lượng sạc </a:t>
            </a:r>
            <a:endParaRPr lang="en-US" sz="1400" b="1">
              <a:solidFill>
                <a:schemeClr val="accent1">
                  <a:lumMod val="75000"/>
                </a:schemeClr>
              </a:solidFill>
            </a:endParaRPr>
          </a:p>
        </p:txBody>
      </p:sp>
      <p:sp>
        <p:nvSpPr>
          <p:cNvPr id="17" name="TextBox 16">
            <a:extLst>
              <a:ext uri="{FF2B5EF4-FFF2-40B4-BE49-F238E27FC236}">
                <a16:creationId xmlns:a16="http://schemas.microsoft.com/office/drawing/2014/main" id="{32724FC2-F2B1-A167-A1ED-F8D33AE31C56}"/>
              </a:ext>
            </a:extLst>
          </p:cNvPr>
          <p:cNvSpPr txBox="1"/>
          <p:nvPr/>
        </p:nvSpPr>
        <p:spPr>
          <a:xfrm>
            <a:off x="6021727" y="3540877"/>
            <a:ext cx="1948772" cy="307777"/>
          </a:xfrm>
          <a:prstGeom prst="rect">
            <a:avLst/>
          </a:prstGeom>
          <a:noFill/>
        </p:spPr>
        <p:txBody>
          <a:bodyPr wrap="square">
            <a:spAutoFit/>
          </a:bodyPr>
          <a:lstStyle/>
          <a:p>
            <a:r>
              <a:rPr lang="en-US" sz="1400" b="1">
                <a:solidFill>
                  <a:schemeClr val="accent2">
                    <a:lumMod val="75000"/>
                  </a:schemeClr>
                </a:solidFill>
                <a:sym typeface="Wingdings" panose="05000000000000000000" pitchFamily="2" charset="2"/>
              </a:rPr>
              <a:t>Thời gian sạc </a:t>
            </a:r>
            <a:endParaRPr lang="en-US" sz="1400" b="1">
              <a:solidFill>
                <a:schemeClr val="accent2">
                  <a:lumMod val="75000"/>
                </a:schemeClr>
              </a:solidFill>
            </a:endParaRPr>
          </a:p>
        </p:txBody>
      </p:sp>
    </p:spTree>
    <p:extLst>
      <p:ext uri="{BB962C8B-B14F-4D97-AF65-F5344CB8AC3E}">
        <p14:creationId xmlns:p14="http://schemas.microsoft.com/office/powerpoint/2010/main" val="797634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19B1E-B3E1-B1F1-41B4-56865EBE7EB1}"/>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7E21C57E-38D6-87F1-AEA7-C6F8FB062D5B}"/>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12</a:t>
            </a:fld>
            <a:r>
              <a:rPr lang="en-US"/>
              <a:t> 	</a:t>
            </a:r>
          </a:p>
        </p:txBody>
      </p:sp>
      <p:sp>
        <p:nvSpPr>
          <p:cNvPr id="20" name="Date Placeholder 3">
            <a:extLst>
              <a:ext uri="{FF2B5EF4-FFF2-40B4-BE49-F238E27FC236}">
                <a16:creationId xmlns:a16="http://schemas.microsoft.com/office/drawing/2014/main" id="{2302140F-D439-4919-D964-70EAFF6A31FD}"/>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3/21/2025</a:t>
            </a:fld>
            <a:endParaRPr lang="en-US"/>
          </a:p>
        </p:txBody>
      </p:sp>
      <p:sp>
        <p:nvSpPr>
          <p:cNvPr id="21" name="Footer Placeholder 5">
            <a:extLst>
              <a:ext uri="{FF2B5EF4-FFF2-40B4-BE49-F238E27FC236}">
                <a16:creationId xmlns:a16="http://schemas.microsoft.com/office/drawing/2014/main" id="{AA1DB822-ADAF-6348-C2A7-42653DD7971F}"/>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5" name="Title 4">
            <a:extLst>
              <a:ext uri="{FF2B5EF4-FFF2-40B4-BE49-F238E27FC236}">
                <a16:creationId xmlns:a16="http://schemas.microsoft.com/office/drawing/2014/main" id="{9D2073B9-B159-F507-EF0E-B5D53F9C4F23}"/>
              </a:ext>
            </a:extLst>
          </p:cNvPr>
          <p:cNvSpPr>
            <a:spLocks noGrp="1"/>
          </p:cNvSpPr>
          <p:nvPr>
            <p:ph type="title"/>
          </p:nvPr>
        </p:nvSpPr>
        <p:spPr>
          <a:xfrm>
            <a:off x="466887" y="89570"/>
            <a:ext cx="9766931" cy="548731"/>
          </a:xfrm>
        </p:spPr>
        <p:txBody>
          <a:bodyPr/>
          <a:lstStyle/>
          <a:p>
            <a:r>
              <a:rPr lang="en-US" sz="4000">
                <a:solidFill>
                  <a:srgbClr val="262626"/>
                </a:solidFill>
              </a:rPr>
              <a:t>Tổng quan về các phương pháp sạc</a:t>
            </a:r>
            <a:endParaRPr lang="en-US"/>
          </a:p>
        </p:txBody>
      </p:sp>
      <p:sp>
        <p:nvSpPr>
          <p:cNvPr id="3" name="TextBox 2">
            <a:extLst>
              <a:ext uri="{FF2B5EF4-FFF2-40B4-BE49-F238E27FC236}">
                <a16:creationId xmlns:a16="http://schemas.microsoft.com/office/drawing/2014/main" id="{088BE152-9729-3D27-FD9C-2ACE3D5C6FD4}"/>
              </a:ext>
            </a:extLst>
          </p:cNvPr>
          <p:cNvSpPr txBox="1"/>
          <p:nvPr/>
        </p:nvSpPr>
        <p:spPr>
          <a:xfrm>
            <a:off x="141130" y="2466289"/>
            <a:ext cx="9661840" cy="430887"/>
          </a:xfrm>
          <a:prstGeom prst="rect">
            <a:avLst/>
          </a:prstGeom>
          <a:noFill/>
        </p:spPr>
        <p:txBody>
          <a:bodyPr wrap="square">
            <a:spAutoFit/>
          </a:bodyPr>
          <a:lstStyle/>
          <a:p>
            <a:pPr marL="342900" indent="-342900">
              <a:buFont typeface="Arial" panose="020B0604020202020204" pitchFamily="34" charset="0"/>
              <a:buChar char="•"/>
            </a:pPr>
            <a:r>
              <a:rPr lang="en-US" sz="2200" b="1">
                <a:solidFill>
                  <a:srgbClr val="262626"/>
                </a:solidFill>
              </a:rPr>
              <a:t>Nhận xét : </a:t>
            </a:r>
            <a:r>
              <a:rPr lang="en-US" sz="2200">
                <a:solidFill>
                  <a:srgbClr val="262626"/>
                </a:solidFill>
              </a:rPr>
              <a:t>Hoạt động của Pin phụ thuộc nhiều vào điện áp sạc CV </a:t>
            </a:r>
            <a:endParaRPr lang="en-US" sz="2000">
              <a:solidFill>
                <a:srgbClr val="262626"/>
              </a:solidFill>
            </a:endParaRP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7CD9572B-1C73-E793-D180-E2B752DE1543}"/>
                  </a:ext>
                </a:extLst>
              </p:cNvPr>
              <p:cNvGraphicFramePr>
                <a:graphicFrameLocks noGrp="1"/>
              </p:cNvGraphicFramePr>
              <p:nvPr/>
            </p:nvGraphicFramePr>
            <p:xfrm>
              <a:off x="433549" y="2969747"/>
              <a:ext cx="9229435" cy="1731811"/>
            </p:xfrm>
            <a:graphic>
              <a:graphicData uri="http://schemas.openxmlformats.org/drawingml/2006/table">
                <a:tbl>
                  <a:tblPr firstRow="1" bandRow="1">
                    <a:tableStyleId>{5C22544A-7EE6-4342-B048-85BDC9FD1C3A}</a:tableStyleId>
                  </a:tblPr>
                  <a:tblGrid>
                    <a:gridCol w="1631209">
                      <a:extLst>
                        <a:ext uri="{9D8B030D-6E8A-4147-A177-3AD203B41FA5}">
                          <a16:colId xmlns:a16="http://schemas.microsoft.com/office/drawing/2014/main" val="2066070953"/>
                        </a:ext>
                      </a:extLst>
                    </a:gridCol>
                    <a:gridCol w="3079425">
                      <a:extLst>
                        <a:ext uri="{9D8B030D-6E8A-4147-A177-3AD203B41FA5}">
                          <a16:colId xmlns:a16="http://schemas.microsoft.com/office/drawing/2014/main" val="1720902868"/>
                        </a:ext>
                      </a:extLst>
                    </a:gridCol>
                    <a:gridCol w="1707071">
                      <a:extLst>
                        <a:ext uri="{9D8B030D-6E8A-4147-A177-3AD203B41FA5}">
                          <a16:colId xmlns:a16="http://schemas.microsoft.com/office/drawing/2014/main" val="3225502254"/>
                        </a:ext>
                      </a:extLst>
                    </a:gridCol>
                    <a:gridCol w="2811730">
                      <a:extLst>
                        <a:ext uri="{9D8B030D-6E8A-4147-A177-3AD203B41FA5}">
                          <a16:colId xmlns:a16="http://schemas.microsoft.com/office/drawing/2014/main" val="3024411073"/>
                        </a:ext>
                      </a:extLst>
                    </a:gridCol>
                  </a:tblGrid>
                  <a:tr h="389838">
                    <a:tc>
                      <a:txBody>
                        <a:bodyPr/>
                        <a:lstStyle/>
                        <a:p>
                          <a:pPr algn="ctr"/>
                          <a14:m>
                            <m:oMathPara xmlns:m="http://schemas.openxmlformats.org/officeDocument/2006/math">
                              <m:oMathParaPr>
                                <m:jc m:val="centerGroup"/>
                              </m:oMathParaPr>
                              <m:oMath xmlns:m="http://schemas.openxmlformats.org/officeDocument/2006/math">
                                <m:sSub>
                                  <m:sSubPr>
                                    <m:ctrlPr>
                                      <a:rPr lang="en-US" b="1" i="1" smtClean="0">
                                        <a:solidFill>
                                          <a:srgbClr val="262626"/>
                                        </a:solidFill>
                                        <a:latin typeface="Cambria Math" panose="02040503050406030204" pitchFamily="18" charset="0"/>
                                      </a:rPr>
                                    </m:ctrlPr>
                                  </m:sSubPr>
                                  <m:e>
                                    <m:r>
                                      <a:rPr lang="en-US" b="1" i="1" smtClean="0">
                                        <a:solidFill>
                                          <a:srgbClr val="262626"/>
                                        </a:solidFill>
                                        <a:latin typeface="Cambria Math" panose="02040503050406030204" pitchFamily="18" charset="0"/>
                                      </a:rPr>
                                      <m:t>𝑽</m:t>
                                    </m:r>
                                  </m:e>
                                  <m:sub>
                                    <m:r>
                                      <a:rPr lang="en-US" b="1" i="1" smtClean="0">
                                        <a:solidFill>
                                          <a:srgbClr val="262626"/>
                                        </a:solidFill>
                                        <a:latin typeface="Cambria Math" panose="02040503050406030204" pitchFamily="18" charset="0"/>
                                      </a:rPr>
                                      <m:t>𝑪𝑽</m:t>
                                    </m:r>
                                  </m:sub>
                                </m:sSub>
                              </m:oMath>
                            </m:oMathPara>
                          </a14:m>
                          <a:endParaRPr lang="en-US">
                            <a:solidFill>
                              <a:srgbClr val="262626"/>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Dung lượng pin được sạc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Thời gian sạc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Sự quá nhiệt, tổn hao pin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566994"/>
                      </a:ext>
                    </a:extLst>
                  </a:tr>
                  <a:tr h="688540">
                    <a:tc>
                      <a:txBody>
                        <a:bodyPr/>
                        <a:lstStyle/>
                        <a:p>
                          <a:pPr algn="ctr"/>
                          <a:r>
                            <a:rPr lang="en-US">
                              <a:solidFill>
                                <a:srgbClr val="262626"/>
                              </a:solidFill>
                            </a:rPr>
                            <a:t>Tăng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Tăng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Nhanh hơn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Tăng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1328988"/>
                      </a:ext>
                    </a:extLst>
                  </a:tr>
                  <a:tr h="653433">
                    <a:tc>
                      <a:txBody>
                        <a:bodyPr/>
                        <a:lstStyle/>
                        <a:p>
                          <a:pPr algn="ctr"/>
                          <a:r>
                            <a:rPr lang="en-US">
                              <a:solidFill>
                                <a:srgbClr val="262626"/>
                              </a:solidFill>
                            </a:rPr>
                            <a:t>Giảm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Giảm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Chậm hơn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Giảm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8543798"/>
                      </a:ext>
                    </a:extLst>
                  </a:tr>
                </a:tbl>
              </a:graphicData>
            </a:graphic>
          </p:graphicFrame>
        </mc:Choice>
        <mc:Fallback xmlns="">
          <p:graphicFrame>
            <p:nvGraphicFramePr>
              <p:cNvPr id="7" name="Table 6">
                <a:extLst>
                  <a:ext uri="{FF2B5EF4-FFF2-40B4-BE49-F238E27FC236}">
                    <a16:creationId xmlns:a16="http://schemas.microsoft.com/office/drawing/2014/main" id="{7CD9572B-1C73-E793-D180-E2B752DE1543}"/>
                  </a:ext>
                </a:extLst>
              </p:cNvPr>
              <p:cNvGraphicFramePr>
                <a:graphicFrameLocks noGrp="1"/>
              </p:cNvGraphicFramePr>
              <p:nvPr/>
            </p:nvGraphicFramePr>
            <p:xfrm>
              <a:off x="433549" y="2969747"/>
              <a:ext cx="9229435" cy="1731811"/>
            </p:xfrm>
            <a:graphic>
              <a:graphicData uri="http://schemas.openxmlformats.org/drawingml/2006/table">
                <a:tbl>
                  <a:tblPr firstRow="1" bandRow="1">
                    <a:tableStyleId>{5C22544A-7EE6-4342-B048-85BDC9FD1C3A}</a:tableStyleId>
                  </a:tblPr>
                  <a:tblGrid>
                    <a:gridCol w="1631209">
                      <a:extLst>
                        <a:ext uri="{9D8B030D-6E8A-4147-A177-3AD203B41FA5}">
                          <a16:colId xmlns:a16="http://schemas.microsoft.com/office/drawing/2014/main" val="2066070953"/>
                        </a:ext>
                      </a:extLst>
                    </a:gridCol>
                    <a:gridCol w="3079425">
                      <a:extLst>
                        <a:ext uri="{9D8B030D-6E8A-4147-A177-3AD203B41FA5}">
                          <a16:colId xmlns:a16="http://schemas.microsoft.com/office/drawing/2014/main" val="1720902868"/>
                        </a:ext>
                      </a:extLst>
                    </a:gridCol>
                    <a:gridCol w="1707071">
                      <a:extLst>
                        <a:ext uri="{9D8B030D-6E8A-4147-A177-3AD203B41FA5}">
                          <a16:colId xmlns:a16="http://schemas.microsoft.com/office/drawing/2014/main" val="3225502254"/>
                        </a:ext>
                      </a:extLst>
                    </a:gridCol>
                    <a:gridCol w="2811730">
                      <a:extLst>
                        <a:ext uri="{9D8B030D-6E8A-4147-A177-3AD203B41FA5}">
                          <a16:colId xmlns:a16="http://schemas.microsoft.com/office/drawing/2014/main" val="3024411073"/>
                        </a:ext>
                      </a:extLst>
                    </a:gridCol>
                  </a:tblGrid>
                  <a:tr h="389838">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73" t="-4688" r="-466045" b="-348438"/>
                          </a:stretch>
                        </a:blipFill>
                      </a:tcPr>
                    </a:tc>
                    <a:tc>
                      <a:txBody>
                        <a:bodyPr/>
                        <a:lstStyle/>
                        <a:p>
                          <a:pPr algn="ctr"/>
                          <a:r>
                            <a:rPr lang="en-US">
                              <a:solidFill>
                                <a:srgbClr val="262626"/>
                              </a:solidFill>
                            </a:rPr>
                            <a:t>Dung lượng pin được sạc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Thời gian sạc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Sự quá nhiệt, tổn hao pin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566994"/>
                      </a:ext>
                    </a:extLst>
                  </a:tr>
                  <a:tr h="688540">
                    <a:tc>
                      <a:txBody>
                        <a:bodyPr/>
                        <a:lstStyle/>
                        <a:p>
                          <a:pPr algn="ctr"/>
                          <a:r>
                            <a:rPr lang="en-US">
                              <a:solidFill>
                                <a:srgbClr val="262626"/>
                              </a:solidFill>
                            </a:rPr>
                            <a:t>Tăng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Tăng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Nhanh hơn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Tăng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1328988"/>
                      </a:ext>
                    </a:extLst>
                  </a:tr>
                  <a:tr h="653433">
                    <a:tc>
                      <a:txBody>
                        <a:bodyPr/>
                        <a:lstStyle/>
                        <a:p>
                          <a:pPr algn="ctr"/>
                          <a:r>
                            <a:rPr lang="en-US">
                              <a:solidFill>
                                <a:srgbClr val="262626"/>
                              </a:solidFill>
                            </a:rPr>
                            <a:t>Giảm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Giảm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Chậm hơn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rgbClr val="262626"/>
                              </a:solidFill>
                            </a:rPr>
                            <a:t>Giảm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8543798"/>
                      </a:ext>
                    </a:extLst>
                  </a:tr>
                </a:tbl>
              </a:graphicData>
            </a:graphic>
          </p:graphicFrame>
        </mc:Fallback>
      </mc:AlternateContent>
      <p:sp>
        <p:nvSpPr>
          <p:cNvPr id="4" name="TextBox 3">
            <a:extLst>
              <a:ext uri="{FF2B5EF4-FFF2-40B4-BE49-F238E27FC236}">
                <a16:creationId xmlns:a16="http://schemas.microsoft.com/office/drawing/2014/main" id="{8F055682-7362-8A91-98A4-B126249F395B}"/>
              </a:ext>
            </a:extLst>
          </p:cNvPr>
          <p:cNvSpPr txBox="1"/>
          <p:nvPr/>
        </p:nvSpPr>
        <p:spPr>
          <a:xfrm>
            <a:off x="160180" y="887139"/>
            <a:ext cx="7483494" cy="646331"/>
          </a:xfrm>
          <a:prstGeom prst="rect">
            <a:avLst/>
          </a:prstGeom>
          <a:noFill/>
        </p:spPr>
        <p:txBody>
          <a:bodyPr wrap="square">
            <a:spAutoFit/>
          </a:bodyPr>
          <a:lstStyle/>
          <a:p>
            <a:pPr marL="342900" indent="-342900">
              <a:buFont typeface="Wingdings" panose="05000000000000000000" pitchFamily="2" charset="2"/>
              <a:buChar char="q"/>
            </a:pPr>
            <a:r>
              <a:rPr lang="en-US" sz="3600">
                <a:solidFill>
                  <a:srgbClr val="262626"/>
                </a:solidFill>
              </a:rPr>
              <a:t>Phương pháp ổn áp (CV) </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8B0C316-38D7-BA46-F595-32ED961F025C}"/>
                  </a:ext>
                </a:extLst>
              </p:cNvPr>
              <p:cNvSpPr txBox="1"/>
              <p:nvPr/>
            </p:nvSpPr>
            <p:spPr>
              <a:xfrm>
                <a:off x="160180" y="1472594"/>
                <a:ext cx="9661840" cy="1046440"/>
              </a:xfrm>
              <a:prstGeom prst="rect">
                <a:avLst/>
              </a:prstGeom>
              <a:noFill/>
            </p:spPr>
            <p:txBody>
              <a:bodyPr wrap="square">
                <a:spAutoFit/>
              </a:bodyPr>
              <a:lstStyle/>
              <a:p>
                <a:pPr marL="342900" indent="-342900">
                  <a:buFont typeface="Arial" panose="020B0604020202020204" pitchFamily="34" charset="0"/>
                  <a:buChar char="•"/>
                </a:pPr>
                <a:r>
                  <a:rPr lang="en-US" sz="2200" b="1">
                    <a:solidFill>
                      <a:srgbClr val="262626"/>
                    </a:solidFill>
                  </a:rPr>
                  <a:t>Chú ý khi thiết kế </a:t>
                </a:r>
                <a14:m>
                  <m:oMath xmlns:m="http://schemas.openxmlformats.org/officeDocument/2006/math">
                    <m:sSub>
                      <m:sSubPr>
                        <m:ctrlPr>
                          <a:rPr lang="en-US" sz="2200" b="1" i="1" smtClean="0">
                            <a:solidFill>
                              <a:srgbClr val="262626"/>
                            </a:solidFill>
                            <a:latin typeface="Cambria Math" panose="02040503050406030204" pitchFamily="18" charset="0"/>
                          </a:rPr>
                        </m:ctrlPr>
                      </m:sSubPr>
                      <m:e>
                        <m:r>
                          <a:rPr lang="en-US" sz="2200" b="1" i="1" smtClean="0">
                            <a:solidFill>
                              <a:srgbClr val="262626"/>
                            </a:solidFill>
                            <a:latin typeface="Cambria Math" panose="02040503050406030204" pitchFamily="18" charset="0"/>
                          </a:rPr>
                          <m:t>𝑽</m:t>
                        </m:r>
                      </m:e>
                      <m:sub>
                        <m:r>
                          <a:rPr lang="en-US" sz="2200" b="1" i="1" smtClean="0">
                            <a:solidFill>
                              <a:srgbClr val="262626"/>
                            </a:solidFill>
                            <a:latin typeface="Cambria Math" panose="02040503050406030204" pitchFamily="18" charset="0"/>
                          </a:rPr>
                          <m:t>𝑪𝑽</m:t>
                        </m:r>
                      </m:sub>
                    </m:sSub>
                  </m:oMath>
                </a14:m>
                <a:r>
                  <a:rPr lang="en-US" sz="2000">
                    <a:solidFill>
                      <a:srgbClr val="262626"/>
                    </a:solidFill>
                  </a:rPr>
                  <a:t> : Khi chọn điện áp sạc </a:t>
                </a:r>
                <a14:m>
                  <m:oMath xmlns:m="http://schemas.openxmlformats.org/officeDocument/2006/math">
                    <m:sSub>
                      <m:sSubPr>
                        <m:ctrlPr>
                          <a:rPr lang="en-US" sz="2000" b="0" i="1" smtClean="0">
                            <a:solidFill>
                              <a:srgbClr val="262626"/>
                            </a:solidFill>
                            <a:latin typeface="Cambria Math" panose="02040503050406030204" pitchFamily="18" charset="0"/>
                          </a:rPr>
                        </m:ctrlPr>
                      </m:sSubPr>
                      <m:e>
                        <m:r>
                          <a:rPr lang="en-US" sz="2000" b="0" i="1" smtClean="0">
                            <a:solidFill>
                              <a:srgbClr val="262626"/>
                            </a:solidFill>
                            <a:latin typeface="Cambria Math" panose="02040503050406030204" pitchFamily="18" charset="0"/>
                          </a:rPr>
                          <m:t>𝑉</m:t>
                        </m:r>
                      </m:e>
                      <m:sub>
                        <m:r>
                          <a:rPr lang="en-US" sz="2000" b="0" i="1" smtClean="0">
                            <a:solidFill>
                              <a:srgbClr val="262626"/>
                            </a:solidFill>
                            <a:latin typeface="Cambria Math" panose="02040503050406030204" pitchFamily="18" charset="0"/>
                          </a:rPr>
                          <m:t>𝐶𝑉</m:t>
                        </m:r>
                      </m:sub>
                    </m:sSub>
                  </m:oMath>
                </a14:m>
                <a:r>
                  <a:rPr lang="en-US" sz="2000">
                    <a:solidFill>
                      <a:srgbClr val="262626"/>
                    </a:solidFill>
                  </a:rPr>
                  <a:t> quá lớn, điện áp pin tăng từ OCV lên </a:t>
                </a:r>
                <a14:m>
                  <m:oMath xmlns:m="http://schemas.openxmlformats.org/officeDocument/2006/math">
                    <m:sSub>
                      <m:sSubPr>
                        <m:ctrlPr>
                          <a:rPr lang="en-US" sz="2000" b="0" i="1" smtClean="0">
                            <a:solidFill>
                              <a:srgbClr val="262626"/>
                            </a:solidFill>
                            <a:latin typeface="Cambria Math" panose="02040503050406030204" pitchFamily="18" charset="0"/>
                          </a:rPr>
                        </m:ctrlPr>
                      </m:sSubPr>
                      <m:e>
                        <m:r>
                          <a:rPr lang="en-US" sz="2000" b="0" i="1" smtClean="0">
                            <a:solidFill>
                              <a:srgbClr val="262626"/>
                            </a:solidFill>
                            <a:latin typeface="Cambria Math" panose="02040503050406030204" pitchFamily="18" charset="0"/>
                          </a:rPr>
                          <m:t>𝑉</m:t>
                        </m:r>
                      </m:e>
                      <m:sub>
                        <m:r>
                          <a:rPr lang="en-US" sz="2000" b="0" i="1" smtClean="0">
                            <a:solidFill>
                              <a:srgbClr val="262626"/>
                            </a:solidFill>
                            <a:latin typeface="Cambria Math" panose="02040503050406030204" pitchFamily="18" charset="0"/>
                          </a:rPr>
                          <m:t>𝐶𝑉</m:t>
                        </m:r>
                      </m:sub>
                    </m:sSub>
                  </m:oMath>
                </a14:m>
                <a:r>
                  <a:rPr lang="en-US" sz="2000">
                    <a:solidFill>
                      <a:srgbClr val="262626"/>
                    </a:solidFill>
                  </a:rPr>
                  <a:t> là quá ngắn </a:t>
                </a:r>
              </a:p>
              <a:p>
                <a:r>
                  <a:rPr lang="en-US" sz="2000">
                    <a:solidFill>
                      <a:srgbClr val="262626"/>
                    </a:solidFill>
                    <a:sym typeface="Wingdings" panose="05000000000000000000" pitchFamily="2" charset="2"/>
                  </a:rPr>
                  <a:t> Gây ra hiện tượng quá nhiệt trên pin [2] </a:t>
                </a:r>
                <a:endParaRPr lang="en-US" sz="2000">
                  <a:solidFill>
                    <a:srgbClr val="262626"/>
                  </a:solidFill>
                </a:endParaRPr>
              </a:p>
            </p:txBody>
          </p:sp>
        </mc:Choice>
        <mc:Fallback xmlns="">
          <p:sp>
            <p:nvSpPr>
              <p:cNvPr id="6" name="TextBox 5">
                <a:extLst>
                  <a:ext uri="{FF2B5EF4-FFF2-40B4-BE49-F238E27FC236}">
                    <a16:creationId xmlns:a16="http://schemas.microsoft.com/office/drawing/2014/main" id="{38B0C316-38D7-BA46-F595-32ED961F025C}"/>
                  </a:ext>
                </a:extLst>
              </p:cNvPr>
              <p:cNvSpPr txBox="1">
                <a:spLocks noRot="1" noChangeAspect="1" noMove="1" noResize="1" noEditPoints="1" noAdjustHandles="1" noChangeArrowheads="1" noChangeShapeType="1" noTextEdit="1"/>
              </p:cNvSpPr>
              <p:nvPr/>
            </p:nvSpPr>
            <p:spPr>
              <a:xfrm>
                <a:off x="160180" y="1472594"/>
                <a:ext cx="9661840" cy="1046440"/>
              </a:xfrm>
              <a:prstGeom prst="rect">
                <a:avLst/>
              </a:prstGeom>
              <a:blipFill>
                <a:blip r:embed="rId4"/>
                <a:stretch>
                  <a:fillRect l="-694" t="-4094"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95DC294-B426-3332-EAC3-E650545FA770}"/>
                  </a:ext>
                </a:extLst>
              </p:cNvPr>
              <p:cNvSpPr txBox="1"/>
              <p:nvPr/>
            </p:nvSpPr>
            <p:spPr>
              <a:xfrm>
                <a:off x="243048" y="4774129"/>
                <a:ext cx="9302746" cy="769441"/>
              </a:xfrm>
              <a:prstGeom prst="rect">
                <a:avLst/>
              </a:prstGeom>
              <a:noFill/>
            </p:spPr>
            <p:txBody>
              <a:bodyPr wrap="square">
                <a:spAutoFit/>
              </a:bodyPr>
              <a:lstStyle/>
              <a:p>
                <a:r>
                  <a:rPr lang="en-US" sz="2200">
                    <a:solidFill>
                      <a:srgbClr val="262626"/>
                    </a:solidFill>
                    <a:sym typeface="Wingdings" panose="05000000000000000000" pitchFamily="2" charset="2"/>
                  </a:rPr>
                  <a:t> Đây là phương pháp sạc đơn giản ,tuy nhiên ưu điểm còn chưa cao do nhiều đại lượng tỉ lệ nghịch khi </a:t>
                </a:r>
                <a14:m>
                  <m:oMath xmlns:m="http://schemas.openxmlformats.org/officeDocument/2006/math">
                    <m:sSub>
                      <m:sSubPr>
                        <m:ctrlPr>
                          <a:rPr lang="en-US" sz="2200" b="0" i="1" smtClean="0">
                            <a:solidFill>
                              <a:srgbClr val="262626"/>
                            </a:solidFill>
                            <a:latin typeface="Cambria Math" panose="02040503050406030204" pitchFamily="18" charset="0"/>
                            <a:sym typeface="Wingdings" panose="05000000000000000000" pitchFamily="2" charset="2"/>
                          </a:rPr>
                        </m:ctrlPr>
                      </m:sSubPr>
                      <m:e>
                        <m:r>
                          <a:rPr lang="en-US" sz="2200" b="0" i="1" smtClean="0">
                            <a:solidFill>
                              <a:srgbClr val="262626"/>
                            </a:solidFill>
                            <a:latin typeface="Cambria Math" panose="02040503050406030204" pitchFamily="18" charset="0"/>
                            <a:sym typeface="Wingdings" panose="05000000000000000000" pitchFamily="2" charset="2"/>
                          </a:rPr>
                          <m:t>𝑉</m:t>
                        </m:r>
                      </m:e>
                      <m:sub>
                        <m:r>
                          <a:rPr lang="en-US" sz="2200" b="0" i="1" smtClean="0">
                            <a:solidFill>
                              <a:srgbClr val="262626"/>
                            </a:solidFill>
                            <a:latin typeface="Cambria Math" panose="02040503050406030204" pitchFamily="18" charset="0"/>
                            <a:sym typeface="Wingdings" panose="05000000000000000000" pitchFamily="2" charset="2"/>
                          </a:rPr>
                          <m:t>𝐶𝑉</m:t>
                        </m:r>
                      </m:sub>
                    </m:sSub>
                  </m:oMath>
                </a14:m>
                <a:r>
                  <a:rPr lang="en-US" sz="2000">
                    <a:solidFill>
                      <a:srgbClr val="262626"/>
                    </a:solidFill>
                  </a:rPr>
                  <a:t> thay đổi </a:t>
                </a:r>
              </a:p>
            </p:txBody>
          </p:sp>
        </mc:Choice>
        <mc:Fallback xmlns="">
          <p:sp>
            <p:nvSpPr>
              <p:cNvPr id="10" name="TextBox 9">
                <a:extLst>
                  <a:ext uri="{FF2B5EF4-FFF2-40B4-BE49-F238E27FC236}">
                    <a16:creationId xmlns:a16="http://schemas.microsoft.com/office/drawing/2014/main" id="{195DC294-B426-3332-EAC3-E650545FA770}"/>
                  </a:ext>
                </a:extLst>
              </p:cNvPr>
              <p:cNvSpPr txBox="1">
                <a:spLocks noRot="1" noChangeAspect="1" noMove="1" noResize="1" noEditPoints="1" noAdjustHandles="1" noChangeArrowheads="1" noChangeShapeType="1" noTextEdit="1"/>
              </p:cNvSpPr>
              <p:nvPr/>
            </p:nvSpPr>
            <p:spPr>
              <a:xfrm>
                <a:off x="243048" y="4774129"/>
                <a:ext cx="9302746" cy="769441"/>
              </a:xfrm>
              <a:prstGeom prst="rect">
                <a:avLst/>
              </a:prstGeom>
              <a:blipFill>
                <a:blip r:embed="rId5"/>
                <a:stretch>
                  <a:fillRect l="-852" t="-5556" b="-15873"/>
                </a:stretch>
              </a:blipFill>
            </p:spPr>
            <p:txBody>
              <a:bodyPr/>
              <a:lstStyle/>
              <a:p>
                <a:r>
                  <a:rPr lang="en-US">
                    <a:noFill/>
                  </a:rPr>
                  <a:t> </a:t>
                </a:r>
              </a:p>
            </p:txBody>
          </p:sp>
        </mc:Fallback>
      </mc:AlternateContent>
    </p:spTree>
    <p:extLst>
      <p:ext uri="{BB962C8B-B14F-4D97-AF65-F5344CB8AC3E}">
        <p14:creationId xmlns:p14="http://schemas.microsoft.com/office/powerpoint/2010/main" val="1401677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7D674-382E-2791-0C0C-67A9A61CD88A}"/>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9BFC11CA-6A92-0AF9-4035-B05867D51C23}"/>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13</a:t>
            </a:fld>
            <a:r>
              <a:rPr lang="en-US"/>
              <a:t> 	</a:t>
            </a:r>
          </a:p>
        </p:txBody>
      </p:sp>
      <p:sp>
        <p:nvSpPr>
          <p:cNvPr id="20" name="Date Placeholder 3">
            <a:extLst>
              <a:ext uri="{FF2B5EF4-FFF2-40B4-BE49-F238E27FC236}">
                <a16:creationId xmlns:a16="http://schemas.microsoft.com/office/drawing/2014/main" id="{2C3D1EED-2B4F-FAAB-53A7-D282310F2602}"/>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3/21/2025</a:t>
            </a:fld>
            <a:endParaRPr lang="en-US"/>
          </a:p>
        </p:txBody>
      </p:sp>
      <p:sp>
        <p:nvSpPr>
          <p:cNvPr id="21" name="Footer Placeholder 5">
            <a:extLst>
              <a:ext uri="{FF2B5EF4-FFF2-40B4-BE49-F238E27FC236}">
                <a16:creationId xmlns:a16="http://schemas.microsoft.com/office/drawing/2014/main" id="{BD8FB8ED-4DA7-A46A-9B25-7C6389C11AC2}"/>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5" name="Title 4">
            <a:extLst>
              <a:ext uri="{FF2B5EF4-FFF2-40B4-BE49-F238E27FC236}">
                <a16:creationId xmlns:a16="http://schemas.microsoft.com/office/drawing/2014/main" id="{BF8EFCEA-1C82-82DF-731C-777A20624CC8}"/>
              </a:ext>
            </a:extLst>
          </p:cNvPr>
          <p:cNvSpPr>
            <a:spLocks noGrp="1"/>
          </p:cNvSpPr>
          <p:nvPr>
            <p:ph type="title"/>
          </p:nvPr>
        </p:nvSpPr>
        <p:spPr>
          <a:xfrm>
            <a:off x="466887" y="89570"/>
            <a:ext cx="9766931" cy="548731"/>
          </a:xfrm>
        </p:spPr>
        <p:txBody>
          <a:bodyPr/>
          <a:lstStyle/>
          <a:p>
            <a:r>
              <a:rPr lang="en-US" sz="4000">
                <a:solidFill>
                  <a:srgbClr val="262626"/>
                </a:solidFill>
              </a:rPr>
              <a:t>Tổng quan về các phương pháp sạc</a:t>
            </a:r>
            <a:endParaRPr lang="en-US"/>
          </a:p>
        </p:txBody>
      </p:sp>
      <p:sp>
        <p:nvSpPr>
          <p:cNvPr id="4" name="TextBox 3">
            <a:extLst>
              <a:ext uri="{FF2B5EF4-FFF2-40B4-BE49-F238E27FC236}">
                <a16:creationId xmlns:a16="http://schemas.microsoft.com/office/drawing/2014/main" id="{9EC97072-5BF1-706C-1FBA-BDA8E6CFEF00}"/>
              </a:ext>
            </a:extLst>
          </p:cNvPr>
          <p:cNvSpPr txBox="1"/>
          <p:nvPr/>
        </p:nvSpPr>
        <p:spPr>
          <a:xfrm>
            <a:off x="160180" y="887139"/>
            <a:ext cx="9745820" cy="646331"/>
          </a:xfrm>
          <a:prstGeom prst="rect">
            <a:avLst/>
          </a:prstGeom>
          <a:noFill/>
        </p:spPr>
        <p:txBody>
          <a:bodyPr wrap="square">
            <a:spAutoFit/>
          </a:bodyPr>
          <a:lstStyle/>
          <a:p>
            <a:pPr marL="342900" indent="-342900">
              <a:buFont typeface="Wingdings" panose="05000000000000000000" pitchFamily="2" charset="2"/>
              <a:buChar char="q"/>
            </a:pPr>
            <a:r>
              <a:rPr lang="en-US" sz="3600">
                <a:solidFill>
                  <a:srgbClr val="262626"/>
                </a:solidFill>
              </a:rPr>
              <a:t>Kiểm chứng công thức pp CC, pp CV</a:t>
            </a:r>
          </a:p>
        </p:txBody>
      </p:sp>
    </p:spTree>
    <p:extLst>
      <p:ext uri="{BB962C8B-B14F-4D97-AF65-F5344CB8AC3E}">
        <p14:creationId xmlns:p14="http://schemas.microsoft.com/office/powerpoint/2010/main" val="123640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82063-BACE-9F6C-597C-3A23138B12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0DE237-A122-06FC-E25C-6A4977D810BB}"/>
              </a:ext>
            </a:extLst>
          </p:cNvPr>
          <p:cNvSpPr>
            <a:spLocks noGrp="1"/>
          </p:cNvSpPr>
          <p:nvPr>
            <p:ph type="title"/>
          </p:nvPr>
        </p:nvSpPr>
        <p:spPr>
          <a:xfrm>
            <a:off x="-156312" y="110469"/>
            <a:ext cx="9807016" cy="548731"/>
          </a:xfrm>
        </p:spPr>
        <p:txBody>
          <a:bodyPr/>
          <a:lstStyle/>
          <a:p>
            <a:r>
              <a:rPr lang="en-US" sz="3500">
                <a:latin typeface="+mj-lt"/>
              </a:rPr>
              <a:t>Reference </a:t>
            </a:r>
          </a:p>
        </p:txBody>
      </p:sp>
      <p:sp>
        <p:nvSpPr>
          <p:cNvPr id="19" name="Slide Number Placeholder 6">
            <a:extLst>
              <a:ext uri="{FF2B5EF4-FFF2-40B4-BE49-F238E27FC236}">
                <a16:creationId xmlns:a16="http://schemas.microsoft.com/office/drawing/2014/main" id="{0B220A2C-A787-DC41-B58E-3C51D1DDF900}"/>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14</a:t>
            </a:fld>
            <a:r>
              <a:rPr lang="en-US"/>
              <a:t> 	</a:t>
            </a:r>
          </a:p>
        </p:txBody>
      </p:sp>
      <p:sp>
        <p:nvSpPr>
          <p:cNvPr id="20" name="Date Placeholder 3">
            <a:extLst>
              <a:ext uri="{FF2B5EF4-FFF2-40B4-BE49-F238E27FC236}">
                <a16:creationId xmlns:a16="http://schemas.microsoft.com/office/drawing/2014/main" id="{1920D586-796A-0164-7216-BC5DE7BA0175}"/>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3/21/2025</a:t>
            </a:fld>
            <a:endParaRPr lang="en-US"/>
          </a:p>
        </p:txBody>
      </p:sp>
      <p:sp>
        <p:nvSpPr>
          <p:cNvPr id="21" name="Footer Placeholder 5">
            <a:extLst>
              <a:ext uri="{FF2B5EF4-FFF2-40B4-BE49-F238E27FC236}">
                <a16:creationId xmlns:a16="http://schemas.microsoft.com/office/drawing/2014/main" id="{38F7EA4B-39BB-2FD7-3D69-820844C8C1F9}"/>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23" name="TextBox 22">
            <a:extLst>
              <a:ext uri="{FF2B5EF4-FFF2-40B4-BE49-F238E27FC236}">
                <a16:creationId xmlns:a16="http://schemas.microsoft.com/office/drawing/2014/main" id="{AC4F1DEC-EEE7-DB6B-6DA6-C0D671FDC99E}"/>
              </a:ext>
            </a:extLst>
          </p:cNvPr>
          <p:cNvSpPr txBox="1"/>
          <p:nvPr/>
        </p:nvSpPr>
        <p:spPr>
          <a:xfrm>
            <a:off x="270552" y="1073449"/>
            <a:ext cx="9364896" cy="707886"/>
          </a:xfrm>
          <a:prstGeom prst="rect">
            <a:avLst/>
          </a:prstGeom>
          <a:noFill/>
        </p:spPr>
        <p:txBody>
          <a:bodyPr wrap="square" rtlCol="0">
            <a:spAutoFit/>
          </a:bodyPr>
          <a:lstStyle/>
          <a:p>
            <a:r>
              <a:rPr lang="en-US" sz="2000" i="1"/>
              <a:t>[1] Towards a smarter battery management system: A critical review on optimal charging methods of lithium ion batteries</a:t>
            </a:r>
          </a:p>
        </p:txBody>
      </p:sp>
      <p:sp>
        <p:nvSpPr>
          <p:cNvPr id="3" name="TextBox 2">
            <a:extLst>
              <a:ext uri="{FF2B5EF4-FFF2-40B4-BE49-F238E27FC236}">
                <a16:creationId xmlns:a16="http://schemas.microsoft.com/office/drawing/2014/main" id="{5CF32CD1-343B-B1E0-F017-8B5E20032B34}"/>
              </a:ext>
            </a:extLst>
          </p:cNvPr>
          <p:cNvSpPr txBox="1"/>
          <p:nvPr/>
        </p:nvSpPr>
        <p:spPr>
          <a:xfrm>
            <a:off x="270552" y="1713529"/>
            <a:ext cx="9364896" cy="707886"/>
          </a:xfrm>
          <a:prstGeom prst="rect">
            <a:avLst/>
          </a:prstGeom>
          <a:noFill/>
        </p:spPr>
        <p:txBody>
          <a:bodyPr wrap="square" rtlCol="0">
            <a:spAutoFit/>
          </a:bodyPr>
          <a:lstStyle/>
          <a:p>
            <a:r>
              <a:rPr lang="en-US" sz="2000" i="1"/>
              <a:t>[2] Charging Algorithms of Lithium-Ion Batteries: an Overview-Weixiang Shen, Thanh Tu Vo, Ajay Kapoor</a:t>
            </a:r>
          </a:p>
        </p:txBody>
      </p:sp>
      <p:sp>
        <p:nvSpPr>
          <p:cNvPr id="4" name="TextBox 3">
            <a:extLst>
              <a:ext uri="{FF2B5EF4-FFF2-40B4-BE49-F238E27FC236}">
                <a16:creationId xmlns:a16="http://schemas.microsoft.com/office/drawing/2014/main" id="{23681E2E-D792-1158-DCB8-23DF086937F8}"/>
              </a:ext>
            </a:extLst>
          </p:cNvPr>
          <p:cNvSpPr txBox="1"/>
          <p:nvPr/>
        </p:nvSpPr>
        <p:spPr>
          <a:xfrm>
            <a:off x="285808" y="2353609"/>
            <a:ext cx="9364896" cy="707886"/>
          </a:xfrm>
          <a:prstGeom prst="rect">
            <a:avLst/>
          </a:prstGeom>
          <a:noFill/>
        </p:spPr>
        <p:txBody>
          <a:bodyPr wrap="square" lIns="91440" tIns="45720" rIns="91440" bIns="45720" rtlCol="0" anchor="t">
            <a:spAutoFit/>
          </a:bodyPr>
          <a:lstStyle/>
          <a:p>
            <a:r>
              <a:rPr lang="en-US" sz="2000" i="1"/>
              <a:t>[3] ĐA2-</a:t>
            </a:r>
            <a:r>
              <a:rPr lang="en-US" sz="2000" i="1">
                <a:ea typeface="+mn-lt"/>
                <a:cs typeface="+mn-lt"/>
              </a:rPr>
              <a:t>SO SÁNH CÁC PHƯƠNG PHÁP SẠC TRUYỀN THỐNG CỦA PIN LITHIUM – Cao Thị </a:t>
            </a:r>
            <a:r>
              <a:rPr lang="en-US" sz="2000" i="1" err="1">
                <a:ea typeface="+mn-lt"/>
                <a:cs typeface="+mn-lt"/>
              </a:rPr>
              <a:t>Thủy</a:t>
            </a:r>
            <a:endParaRPr lang="en-US" sz="2000" i="1" err="1">
              <a:cs typeface="Lato"/>
            </a:endParaRPr>
          </a:p>
        </p:txBody>
      </p:sp>
      <p:sp>
        <p:nvSpPr>
          <p:cNvPr id="5" name="TextBox 3">
            <a:extLst>
              <a:ext uri="{FF2B5EF4-FFF2-40B4-BE49-F238E27FC236}">
                <a16:creationId xmlns:a16="http://schemas.microsoft.com/office/drawing/2014/main" id="{3152F877-1732-BC67-FD06-1F9A855934E2}"/>
              </a:ext>
            </a:extLst>
          </p:cNvPr>
          <p:cNvSpPr txBox="1"/>
          <p:nvPr/>
        </p:nvSpPr>
        <p:spPr>
          <a:xfrm>
            <a:off x="285964" y="2985266"/>
            <a:ext cx="9364896" cy="707886"/>
          </a:xfrm>
          <a:prstGeom prst="rect">
            <a:avLst/>
          </a:prstGeom>
          <a:noFill/>
        </p:spPr>
        <p:txBody>
          <a:bodyPr wrap="square" lIns="91440" tIns="45720" rIns="91440" bIns="45720" rtlCol="0" anchor="t">
            <a:spAutoFit/>
          </a:bodyPr>
          <a:lstStyle/>
          <a:p>
            <a:r>
              <a:rPr lang="en-US" sz="2000" i="1"/>
              <a:t>[4] ĐA2-</a:t>
            </a:r>
            <a:r>
              <a:rPr lang="en-US" sz="2000" i="1">
                <a:ea typeface="+mn-lt"/>
                <a:cs typeface="+mn-lt"/>
              </a:rPr>
              <a:t>NGHIÊN CỨU PHƯƠNG PHÁP SẠC BOOSTCHARGING-CC/CV CHO PIN LITHIUM-ION - Phạm Minh Anh</a:t>
            </a:r>
            <a:endParaRPr lang="en-US" sz="2000" i="1" err="1">
              <a:cs typeface="Lato"/>
            </a:endParaRPr>
          </a:p>
        </p:txBody>
      </p:sp>
    </p:spTree>
    <p:extLst>
      <p:ext uri="{BB962C8B-B14F-4D97-AF65-F5344CB8AC3E}">
        <p14:creationId xmlns:p14="http://schemas.microsoft.com/office/powerpoint/2010/main" val="36704422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15086-9F7A-0B23-7192-39C96D2F621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5B1FD5-42AA-7A74-3472-6291644BA675}"/>
              </a:ext>
            </a:extLst>
          </p:cNvPr>
          <p:cNvSpPr>
            <a:spLocks noGrp="1"/>
          </p:cNvSpPr>
          <p:nvPr>
            <p:ph type="title"/>
          </p:nvPr>
        </p:nvSpPr>
        <p:spPr>
          <a:xfrm>
            <a:off x="681037" y="1234956"/>
            <a:ext cx="8543925" cy="2852737"/>
          </a:xfrm>
        </p:spPr>
        <p:txBody>
          <a:bodyPr>
            <a:normAutofit/>
          </a:bodyPr>
          <a:lstStyle/>
          <a:p>
            <a:pPr algn="ctr"/>
            <a:r>
              <a:rPr lang="en-US" sz="8000">
                <a:solidFill>
                  <a:srgbClr val="262626"/>
                </a:solidFill>
                <a:latin typeface="Dosis ExtraBold" pitchFamily="2" charset="0"/>
              </a:rPr>
              <a:t>Thank you!</a:t>
            </a:r>
          </a:p>
        </p:txBody>
      </p:sp>
    </p:spTree>
    <p:extLst>
      <p:ext uri="{BB962C8B-B14F-4D97-AF65-F5344CB8AC3E}">
        <p14:creationId xmlns:p14="http://schemas.microsoft.com/office/powerpoint/2010/main" val="2032102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E1703-B659-A6EA-B454-C85EA32F8A11}"/>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EA8BE9C5-4973-EADD-5904-765B021379EF}"/>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16</a:t>
            </a:fld>
            <a:r>
              <a:rPr lang="en-US"/>
              <a:t> 	</a:t>
            </a:r>
          </a:p>
        </p:txBody>
      </p:sp>
      <p:sp>
        <p:nvSpPr>
          <p:cNvPr id="20" name="Date Placeholder 3">
            <a:extLst>
              <a:ext uri="{FF2B5EF4-FFF2-40B4-BE49-F238E27FC236}">
                <a16:creationId xmlns:a16="http://schemas.microsoft.com/office/drawing/2014/main" id="{C12FAC24-2014-851E-9E8D-9C2E543862C9}"/>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3/21/2025</a:t>
            </a:fld>
            <a:endParaRPr lang="en-US"/>
          </a:p>
        </p:txBody>
      </p:sp>
      <p:sp>
        <p:nvSpPr>
          <p:cNvPr id="21" name="Footer Placeholder 5">
            <a:extLst>
              <a:ext uri="{FF2B5EF4-FFF2-40B4-BE49-F238E27FC236}">
                <a16:creationId xmlns:a16="http://schemas.microsoft.com/office/drawing/2014/main" id="{F80B1917-0E77-18A5-ADC9-99197B2C6A7D}"/>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5" name="Title 4">
            <a:extLst>
              <a:ext uri="{FF2B5EF4-FFF2-40B4-BE49-F238E27FC236}">
                <a16:creationId xmlns:a16="http://schemas.microsoft.com/office/drawing/2014/main" id="{5AE09D1C-DE33-A7C5-8812-DC6948760100}"/>
              </a:ext>
            </a:extLst>
          </p:cNvPr>
          <p:cNvSpPr>
            <a:spLocks noGrp="1"/>
          </p:cNvSpPr>
          <p:nvPr>
            <p:ph type="title"/>
          </p:nvPr>
        </p:nvSpPr>
        <p:spPr>
          <a:xfrm>
            <a:off x="466887" y="89570"/>
            <a:ext cx="9766931" cy="548731"/>
          </a:xfrm>
        </p:spPr>
        <p:txBody>
          <a:bodyPr/>
          <a:lstStyle/>
          <a:p>
            <a:r>
              <a:rPr lang="en-US" sz="4000">
                <a:solidFill>
                  <a:srgbClr val="262626"/>
                </a:solidFill>
              </a:rPr>
              <a:t>Tổng quan về các phương pháp sạc</a:t>
            </a:r>
            <a:endParaRPr lang="en-US"/>
          </a:p>
        </p:txBody>
      </p:sp>
      <p:sp>
        <p:nvSpPr>
          <p:cNvPr id="4" name="TextBox 3">
            <a:extLst>
              <a:ext uri="{FF2B5EF4-FFF2-40B4-BE49-F238E27FC236}">
                <a16:creationId xmlns:a16="http://schemas.microsoft.com/office/drawing/2014/main" id="{74C23C0A-AE63-680C-5840-ABF68AC6B984}"/>
              </a:ext>
            </a:extLst>
          </p:cNvPr>
          <p:cNvSpPr txBox="1"/>
          <p:nvPr/>
        </p:nvSpPr>
        <p:spPr>
          <a:xfrm>
            <a:off x="74455" y="820473"/>
            <a:ext cx="9221945" cy="5363007"/>
          </a:xfrm>
          <a:prstGeom prst="rect">
            <a:avLst/>
          </a:prstGeom>
          <a:noFill/>
        </p:spPr>
        <p:txBody>
          <a:bodyPr wrap="square">
            <a:spAutoFit/>
          </a:bodyPr>
          <a:lstStyle/>
          <a:p>
            <a:pPr>
              <a:buNone/>
            </a:pPr>
            <a:r>
              <a:rPr lang="vi-VN" sz="1600" b="1">
                <a:effectLst/>
              </a:rPr>
              <a:t>1. Định nghĩa OCV</a:t>
            </a:r>
          </a:p>
          <a:p>
            <a:pPr>
              <a:buFont typeface="Arial" panose="020B0604020202020204" pitchFamily="34" charset="0"/>
              <a:buChar char="•"/>
            </a:pPr>
            <a:r>
              <a:rPr lang="vi-VN" sz="1600" b="1">
                <a:effectLst/>
              </a:rPr>
              <a:t>OCV (Open-Circuit Voltage)</a:t>
            </a:r>
            <a:r>
              <a:rPr lang="vi-VN" sz="1600">
                <a:effectLst/>
              </a:rPr>
              <a:t> là điện áp tại hai đầu cực của pin khi không có tải (tức là khi pin không được kết nối với bất kỳ tải nào và không có dòng điện chạy qua). Đây là điện áp cân bằng của pin khi không có dòng điện.</a:t>
            </a:r>
          </a:p>
          <a:p>
            <a:pPr>
              <a:spcBef>
                <a:spcPts val="300"/>
              </a:spcBef>
              <a:buFont typeface="Arial" panose="020B0604020202020204" pitchFamily="34" charset="0"/>
              <a:buChar char="•"/>
            </a:pPr>
            <a:r>
              <a:rPr lang="vi-VN" sz="1600">
                <a:effectLst/>
              </a:rPr>
              <a:t>OCV có mối quan hệ phi tuyến với </a:t>
            </a:r>
            <a:r>
              <a:rPr lang="vi-VN" sz="1600" b="1">
                <a:effectLst/>
              </a:rPr>
              <a:t>SOC (State of Charge)</a:t>
            </a:r>
            <a:r>
              <a:rPr lang="vi-VN" sz="1600">
                <a:effectLst/>
              </a:rPr>
              <a:t> và nhiệt độ (T). Điều này có nghĩa là giá trị OCV thay đổi tùy thuộc vào mức độ sạc của pin và nhiệt độ môi trường.</a:t>
            </a:r>
          </a:p>
          <a:p>
            <a:pPr>
              <a:buNone/>
            </a:pPr>
            <a:r>
              <a:rPr lang="vi-VN" sz="1600" b="1">
                <a:effectLst/>
              </a:rPr>
              <a:t>2. Vai trò của OCV trong mô hình pin</a:t>
            </a:r>
          </a:p>
          <a:p>
            <a:pPr>
              <a:buFont typeface="Arial" panose="020B0604020202020204" pitchFamily="34" charset="0"/>
              <a:buChar char="•"/>
            </a:pPr>
            <a:r>
              <a:rPr lang="vi-VN" sz="1600">
                <a:effectLst/>
              </a:rPr>
              <a:t>Trong các mô hình mạch tương đương (Equivalent Circuit Models - ECMs), OCV thường được biểu diễn bằng một nguồn điện áp lý tưởng trong mạch điện.</a:t>
            </a:r>
          </a:p>
          <a:p>
            <a:pPr>
              <a:spcBef>
                <a:spcPts val="300"/>
              </a:spcBef>
              <a:buFont typeface="Arial" panose="020B0604020202020204" pitchFamily="34" charset="0"/>
              <a:buChar char="•"/>
            </a:pPr>
            <a:r>
              <a:rPr lang="vi-VN" sz="1600">
                <a:effectLst/>
              </a:rPr>
              <a:t>OCV là một thành phần quan trọng trong việc mô phỏng và dự đoán hành vi của pin, đặc biệt là trong việc ước lượng </a:t>
            </a:r>
            <a:r>
              <a:rPr lang="vi-VN" sz="1600" b="1">
                <a:effectLst/>
              </a:rPr>
              <a:t>SOC</a:t>
            </a:r>
            <a:r>
              <a:rPr lang="vi-VN" sz="1600">
                <a:effectLst/>
              </a:rPr>
              <a:t> và </a:t>
            </a:r>
            <a:r>
              <a:rPr lang="vi-VN" sz="1600" b="1">
                <a:effectLst/>
              </a:rPr>
              <a:t>SOH (State of Health)</a:t>
            </a:r>
            <a:r>
              <a:rPr lang="vi-VN" sz="1600">
                <a:effectLst/>
              </a:rPr>
              <a:t>.</a:t>
            </a:r>
          </a:p>
          <a:p>
            <a:pPr>
              <a:spcBef>
                <a:spcPts val="300"/>
              </a:spcBef>
              <a:spcAft>
                <a:spcPts val="300"/>
              </a:spcAft>
              <a:buFont typeface="Arial" panose="020B0604020202020204" pitchFamily="34" charset="0"/>
              <a:buChar char="•"/>
            </a:pPr>
            <a:r>
              <a:rPr lang="vi-VN" sz="1600">
                <a:effectLst/>
              </a:rPr>
              <a:t>Trong mô hình pin đơn giản nhất (Simple Battery Model), OCV được sử dụng cùng với một điện trở nội (internal resistance) để mô tả điện áp đầu ra của pin:</a:t>
            </a:r>
          </a:p>
          <a:p>
            <a:pPr>
              <a:spcBef>
                <a:spcPts val="300"/>
              </a:spcBef>
              <a:spcAft>
                <a:spcPts val="300"/>
              </a:spcAft>
              <a:buFont typeface="Arial" panose="020B0604020202020204" pitchFamily="34" charset="0"/>
              <a:buChar char="•"/>
            </a:pPr>
            <a:r>
              <a:rPr lang="vi-VN" sz="1600">
                <a:effectLst/>
                <a:latin typeface="KaTeX_Main"/>
              </a:rPr>
              <a:t>Vbatt=OCV(SOC,T)−Rint⋅i</a:t>
            </a:r>
            <a:r>
              <a:rPr lang="vi-VN" sz="1600" i="1">
                <a:effectLst/>
                <a:latin typeface="KaTeX_Math"/>
              </a:rPr>
              <a:t>Vbatt</a:t>
            </a:r>
            <a:r>
              <a:rPr lang="vi-VN" sz="1600">
                <a:effectLst/>
                <a:latin typeface="KaTeX_Main"/>
              </a:rPr>
              <a:t>​=</a:t>
            </a:r>
            <a:r>
              <a:rPr lang="vi-VN" sz="1600" i="1">
                <a:effectLst/>
                <a:latin typeface="KaTeX_Math"/>
              </a:rPr>
              <a:t>OCV</a:t>
            </a:r>
            <a:r>
              <a:rPr lang="vi-VN" sz="1600">
                <a:effectLst/>
                <a:latin typeface="KaTeX_Main"/>
              </a:rPr>
              <a:t>(</a:t>
            </a:r>
            <a:r>
              <a:rPr lang="vi-VN" sz="1600" i="1">
                <a:effectLst/>
                <a:latin typeface="KaTeX_Math"/>
              </a:rPr>
              <a:t>SOC</a:t>
            </a:r>
            <a:r>
              <a:rPr lang="vi-VN" sz="1600">
                <a:effectLst/>
                <a:latin typeface="KaTeX_Main"/>
              </a:rPr>
              <a:t>,</a:t>
            </a:r>
            <a:r>
              <a:rPr lang="vi-VN" sz="1600" i="1">
                <a:effectLst/>
                <a:latin typeface="KaTeX_Math"/>
              </a:rPr>
              <a:t>T</a:t>
            </a:r>
            <a:r>
              <a:rPr lang="vi-VN" sz="1600">
                <a:effectLst/>
                <a:latin typeface="KaTeX_Main"/>
              </a:rPr>
              <a:t>)−</a:t>
            </a:r>
            <a:r>
              <a:rPr lang="vi-VN" sz="1600" i="1">
                <a:effectLst/>
                <a:latin typeface="KaTeX_Math"/>
              </a:rPr>
              <a:t>Rint</a:t>
            </a:r>
            <a:r>
              <a:rPr lang="vi-VN" sz="1600">
                <a:effectLst/>
                <a:latin typeface="KaTeX_Main"/>
              </a:rPr>
              <a:t>​⋅</a:t>
            </a:r>
            <a:r>
              <a:rPr lang="vi-VN" sz="1600" i="1">
                <a:effectLst/>
                <a:latin typeface="KaTeX_Math"/>
              </a:rPr>
              <a:t>i</a:t>
            </a:r>
            <a:r>
              <a:rPr lang="vi-VN" sz="1600">
                <a:effectLst/>
              </a:rPr>
              <a:t>Trong đó:</a:t>
            </a:r>
            <a:endParaRPr lang="en-US" sz="1600">
              <a:effectLst/>
            </a:endParaRPr>
          </a:p>
          <a:p>
            <a:pPr>
              <a:spcBef>
                <a:spcPts val="300"/>
              </a:spcBef>
              <a:spcAft>
                <a:spcPts val="300"/>
              </a:spcAft>
            </a:pPr>
            <a:endParaRPr lang="vi-VN" sz="1600">
              <a:effectLst/>
            </a:endParaRPr>
          </a:p>
          <a:p>
            <a:pPr>
              <a:buNone/>
            </a:pPr>
            <a:r>
              <a:rPr lang="vi-VN" sz="1600" b="1">
                <a:effectLst/>
              </a:rPr>
              <a:t>3. Mối quan hệ giữa OCV và SOC</a:t>
            </a:r>
          </a:p>
          <a:p>
            <a:pPr>
              <a:buFont typeface="Arial" panose="020B0604020202020204" pitchFamily="34" charset="0"/>
              <a:buChar char="•"/>
            </a:pPr>
            <a:r>
              <a:rPr lang="vi-VN" sz="1600">
                <a:effectLst/>
              </a:rPr>
              <a:t>OCV có mối quan hệ phi tuyến với SOC, nghĩa là giá trị OCV thay đổi theo mức độ sạc của pin. Điều này có nghĩa là khi SOC thay đổi, OCV cũng thay đổi theo một cách không tuyến tính.</a:t>
            </a:r>
          </a:p>
          <a:p>
            <a:pPr>
              <a:spcBef>
                <a:spcPts val="300"/>
              </a:spcBef>
              <a:buFont typeface="Arial" panose="020B0604020202020204" pitchFamily="34" charset="0"/>
              <a:buChar char="•"/>
            </a:pPr>
            <a:r>
              <a:rPr lang="vi-VN" sz="1600">
                <a:effectLst/>
              </a:rPr>
              <a:t>Mối quan hệ này thường được xác định thông qua các thử nghiệm thực nghiệm, chẳng hạn như các chu kỳ xả pin với tốc độ xả thấp (low C-rate) để xác định đường cong OCV-SOC.</a:t>
            </a:r>
          </a:p>
        </p:txBody>
      </p:sp>
    </p:spTree>
    <p:extLst>
      <p:ext uri="{BB962C8B-B14F-4D97-AF65-F5344CB8AC3E}">
        <p14:creationId xmlns:p14="http://schemas.microsoft.com/office/powerpoint/2010/main" val="1594270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7C3BD-C57B-A598-41F4-8B0168D56EC2}"/>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C1579C1C-64A4-EC8A-D12C-4E9BE3F17138}"/>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17</a:t>
            </a:fld>
            <a:r>
              <a:rPr lang="en-US"/>
              <a:t> 	</a:t>
            </a:r>
          </a:p>
        </p:txBody>
      </p:sp>
      <p:sp>
        <p:nvSpPr>
          <p:cNvPr id="20" name="Date Placeholder 3">
            <a:extLst>
              <a:ext uri="{FF2B5EF4-FFF2-40B4-BE49-F238E27FC236}">
                <a16:creationId xmlns:a16="http://schemas.microsoft.com/office/drawing/2014/main" id="{8E767E91-BB9D-E7E6-0A48-1324FE45358E}"/>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3/21/2025</a:t>
            </a:fld>
            <a:endParaRPr lang="en-US"/>
          </a:p>
        </p:txBody>
      </p:sp>
      <p:sp>
        <p:nvSpPr>
          <p:cNvPr id="21" name="Footer Placeholder 5">
            <a:extLst>
              <a:ext uri="{FF2B5EF4-FFF2-40B4-BE49-F238E27FC236}">
                <a16:creationId xmlns:a16="http://schemas.microsoft.com/office/drawing/2014/main" id="{50EF8AF4-C203-011F-B6D4-1B49DC33AB3C}"/>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5" name="Title 4">
            <a:extLst>
              <a:ext uri="{FF2B5EF4-FFF2-40B4-BE49-F238E27FC236}">
                <a16:creationId xmlns:a16="http://schemas.microsoft.com/office/drawing/2014/main" id="{6D2BC118-FE6B-C4EE-AAD0-410C2DD22307}"/>
              </a:ext>
            </a:extLst>
          </p:cNvPr>
          <p:cNvSpPr>
            <a:spLocks noGrp="1"/>
          </p:cNvSpPr>
          <p:nvPr>
            <p:ph type="title"/>
          </p:nvPr>
        </p:nvSpPr>
        <p:spPr>
          <a:xfrm>
            <a:off x="466887" y="89570"/>
            <a:ext cx="9766931" cy="548731"/>
          </a:xfrm>
        </p:spPr>
        <p:txBody>
          <a:bodyPr/>
          <a:lstStyle/>
          <a:p>
            <a:r>
              <a:rPr lang="en-US" sz="4000">
                <a:solidFill>
                  <a:srgbClr val="262626"/>
                </a:solidFill>
              </a:rPr>
              <a:t>Tổng quan về các phương pháp sạc</a:t>
            </a:r>
            <a:endParaRPr lang="en-US"/>
          </a:p>
        </p:txBody>
      </p:sp>
      <p:sp>
        <p:nvSpPr>
          <p:cNvPr id="4" name="TextBox 3">
            <a:extLst>
              <a:ext uri="{FF2B5EF4-FFF2-40B4-BE49-F238E27FC236}">
                <a16:creationId xmlns:a16="http://schemas.microsoft.com/office/drawing/2014/main" id="{76820F63-FD50-02B6-71BC-CB2095CF5AEA}"/>
              </a:ext>
            </a:extLst>
          </p:cNvPr>
          <p:cNvSpPr txBox="1"/>
          <p:nvPr/>
        </p:nvSpPr>
        <p:spPr>
          <a:xfrm>
            <a:off x="80090" y="801414"/>
            <a:ext cx="9745820" cy="5824671"/>
          </a:xfrm>
          <a:prstGeom prst="rect">
            <a:avLst/>
          </a:prstGeom>
          <a:noFill/>
        </p:spPr>
        <p:txBody>
          <a:bodyPr wrap="square">
            <a:spAutoFit/>
          </a:bodyPr>
          <a:lstStyle/>
          <a:p>
            <a:pPr>
              <a:buNone/>
            </a:pPr>
            <a:r>
              <a:rPr lang="vi-VN" sz="1400" b="1">
                <a:effectLst/>
              </a:rPr>
              <a:t>4. OCV trong các mô hình mạch tương đương phức tạp hơn</a:t>
            </a:r>
          </a:p>
          <a:p>
            <a:pPr>
              <a:spcAft>
                <a:spcPts val="300"/>
              </a:spcAft>
              <a:buFont typeface="Arial" panose="020B0604020202020204" pitchFamily="34" charset="0"/>
              <a:buChar char="•"/>
            </a:pPr>
            <a:r>
              <a:rPr lang="vi-VN" sz="1400">
                <a:effectLst/>
              </a:rPr>
              <a:t>Trong các mô hình mạch tương đương phức tạp hơn như mô hình </a:t>
            </a:r>
            <a:r>
              <a:rPr lang="vi-VN" sz="1400" b="1">
                <a:effectLst/>
              </a:rPr>
              <a:t>1RC</a:t>
            </a:r>
            <a:r>
              <a:rPr lang="vi-VN" sz="1400">
                <a:effectLst/>
              </a:rPr>
              <a:t> và </a:t>
            </a:r>
            <a:r>
              <a:rPr lang="vi-VN" sz="1400" b="1">
                <a:effectLst/>
              </a:rPr>
              <a:t>2RC</a:t>
            </a:r>
            <a:r>
              <a:rPr lang="vi-VN" sz="1400">
                <a:effectLst/>
              </a:rPr>
              <a:t>, OCV vẫn là một thành phần quan trọng. Ví dụ, trong mô hình </a:t>
            </a:r>
            <a:r>
              <a:rPr lang="vi-VN" sz="1400" b="1">
                <a:effectLst/>
              </a:rPr>
              <a:t>1RC</a:t>
            </a:r>
            <a:r>
              <a:rPr lang="vi-VN" sz="1400">
                <a:effectLst/>
              </a:rPr>
              <a:t>, điện áp đầu ra của pin được mô tả bằng công thức:</a:t>
            </a:r>
          </a:p>
          <a:p>
            <a:pPr>
              <a:spcBef>
                <a:spcPts val="300"/>
              </a:spcBef>
              <a:spcAft>
                <a:spcPts val="300"/>
              </a:spcAft>
              <a:buFont typeface="Arial" panose="020B0604020202020204" pitchFamily="34" charset="0"/>
              <a:buChar char="•"/>
            </a:pPr>
            <a:r>
              <a:rPr lang="vi-VN" sz="1400">
                <a:effectLst/>
                <a:latin typeface="KaTeX_Main"/>
              </a:rPr>
              <a:t>Vbatt(t)=OCV(SOC,T)−R0(SOC,T)⋅i−vRC(t)</a:t>
            </a:r>
            <a:r>
              <a:rPr lang="vi-VN" sz="1400" i="1">
                <a:effectLst/>
                <a:latin typeface="KaTeX_Math"/>
              </a:rPr>
              <a:t>Vbatt</a:t>
            </a:r>
            <a:r>
              <a:rPr lang="vi-VN" sz="1400">
                <a:effectLst/>
                <a:latin typeface="KaTeX_Main"/>
              </a:rPr>
              <a:t>​(</a:t>
            </a:r>
            <a:r>
              <a:rPr lang="vi-VN" sz="1400" i="1">
                <a:effectLst/>
                <a:latin typeface="KaTeX_Math"/>
              </a:rPr>
              <a:t>t</a:t>
            </a:r>
            <a:r>
              <a:rPr lang="vi-VN" sz="1400">
                <a:effectLst/>
                <a:latin typeface="KaTeX_Main"/>
              </a:rPr>
              <a:t>)=</a:t>
            </a:r>
            <a:r>
              <a:rPr lang="vi-VN" sz="1400" i="1">
                <a:effectLst/>
                <a:latin typeface="KaTeX_Math"/>
              </a:rPr>
              <a:t>OCV</a:t>
            </a:r>
            <a:r>
              <a:rPr lang="vi-VN" sz="1400">
                <a:effectLst/>
                <a:latin typeface="KaTeX_Main"/>
              </a:rPr>
              <a:t>(</a:t>
            </a:r>
            <a:r>
              <a:rPr lang="vi-VN" sz="1400" i="1">
                <a:effectLst/>
                <a:latin typeface="KaTeX_Math"/>
              </a:rPr>
              <a:t>SOC</a:t>
            </a:r>
            <a:r>
              <a:rPr lang="vi-VN" sz="1400">
                <a:effectLst/>
                <a:latin typeface="KaTeX_Main"/>
              </a:rPr>
              <a:t>,</a:t>
            </a:r>
            <a:r>
              <a:rPr lang="vi-VN" sz="1400" i="1">
                <a:effectLst/>
                <a:latin typeface="KaTeX_Math"/>
              </a:rPr>
              <a:t>T</a:t>
            </a:r>
            <a:r>
              <a:rPr lang="vi-VN" sz="1400">
                <a:effectLst/>
                <a:latin typeface="KaTeX_Main"/>
              </a:rPr>
              <a:t>)−</a:t>
            </a:r>
            <a:r>
              <a:rPr lang="vi-VN" sz="1400" i="1">
                <a:effectLst/>
                <a:latin typeface="KaTeX_Math"/>
              </a:rPr>
              <a:t>R</a:t>
            </a:r>
            <a:r>
              <a:rPr lang="vi-VN" sz="1400">
                <a:effectLst/>
                <a:latin typeface="KaTeX_Main"/>
              </a:rPr>
              <a:t>0​(</a:t>
            </a:r>
            <a:r>
              <a:rPr lang="vi-VN" sz="1400" i="1">
                <a:effectLst/>
                <a:latin typeface="KaTeX_Math"/>
              </a:rPr>
              <a:t>SOC</a:t>
            </a:r>
            <a:r>
              <a:rPr lang="vi-VN" sz="1400">
                <a:effectLst/>
                <a:latin typeface="KaTeX_Main"/>
              </a:rPr>
              <a:t>,</a:t>
            </a:r>
            <a:r>
              <a:rPr lang="vi-VN" sz="1400" i="1">
                <a:effectLst/>
                <a:latin typeface="KaTeX_Math"/>
              </a:rPr>
              <a:t>T</a:t>
            </a:r>
            <a:r>
              <a:rPr lang="vi-VN" sz="1400">
                <a:effectLst/>
                <a:latin typeface="KaTeX_Main"/>
              </a:rPr>
              <a:t>)⋅</a:t>
            </a:r>
            <a:r>
              <a:rPr lang="vi-VN" sz="1400" i="1">
                <a:effectLst/>
                <a:latin typeface="KaTeX_Math"/>
              </a:rPr>
              <a:t>i</a:t>
            </a:r>
            <a:r>
              <a:rPr lang="vi-VN" sz="1400">
                <a:effectLst/>
                <a:latin typeface="KaTeX_Main"/>
              </a:rPr>
              <a:t>−</a:t>
            </a:r>
            <a:r>
              <a:rPr lang="vi-VN" sz="1400" i="1">
                <a:effectLst/>
                <a:latin typeface="KaTeX_Math"/>
              </a:rPr>
              <a:t>vRC</a:t>
            </a:r>
            <a:r>
              <a:rPr lang="vi-VN" sz="1400">
                <a:effectLst/>
                <a:latin typeface="KaTeX_Main"/>
              </a:rPr>
              <a:t>​(</a:t>
            </a:r>
            <a:r>
              <a:rPr lang="vi-VN" sz="1400" i="1">
                <a:effectLst/>
                <a:latin typeface="KaTeX_Math"/>
              </a:rPr>
              <a:t>t</a:t>
            </a:r>
            <a:r>
              <a:rPr lang="vi-VN" sz="1400">
                <a:effectLst/>
                <a:latin typeface="KaTeX_Main"/>
              </a:rPr>
              <a:t>)</a:t>
            </a:r>
            <a:r>
              <a:rPr lang="vi-VN" sz="1400">
                <a:effectLst/>
              </a:rPr>
              <a:t>Trong đó:</a:t>
            </a:r>
          </a:p>
          <a:p>
            <a:pPr marL="742950" lvl="1" indent="-285750">
              <a:spcBef>
                <a:spcPts val="300"/>
              </a:spcBef>
              <a:buFont typeface="Arial" panose="020B0604020202020204" pitchFamily="34" charset="0"/>
              <a:buChar char="•"/>
            </a:pPr>
            <a:r>
              <a:rPr lang="vi-VN" sz="1400">
                <a:effectLst/>
                <a:latin typeface="KaTeX_Main"/>
              </a:rPr>
              <a:t>R0</a:t>
            </a:r>
            <a:r>
              <a:rPr lang="vi-VN" sz="1400" i="1">
                <a:effectLst/>
                <a:latin typeface="KaTeX_Math"/>
              </a:rPr>
              <a:t>R</a:t>
            </a:r>
            <a:r>
              <a:rPr lang="vi-VN" sz="1400">
                <a:effectLst/>
                <a:latin typeface="KaTeX_Main"/>
              </a:rPr>
              <a:t>0​</a:t>
            </a:r>
            <a:r>
              <a:rPr lang="vi-VN" sz="1400">
                <a:effectLst/>
              </a:rPr>
              <a:t>: Điện trở nội của pin.</a:t>
            </a:r>
          </a:p>
          <a:p>
            <a:pPr marL="742950" lvl="1" indent="-285750">
              <a:spcBef>
                <a:spcPts val="300"/>
              </a:spcBef>
              <a:buFont typeface="Arial" panose="020B0604020202020204" pitchFamily="34" charset="0"/>
              <a:buChar char="•"/>
            </a:pPr>
            <a:r>
              <a:rPr lang="vi-VN" sz="1400">
                <a:effectLst/>
                <a:latin typeface="KaTeX_Main"/>
              </a:rPr>
              <a:t>vRC(t)</a:t>
            </a:r>
            <a:r>
              <a:rPr lang="vi-VN" sz="1400" i="1">
                <a:effectLst/>
                <a:latin typeface="KaTeX_Math"/>
              </a:rPr>
              <a:t>vRC</a:t>
            </a:r>
            <a:r>
              <a:rPr lang="vi-VN" sz="1400">
                <a:effectLst/>
                <a:latin typeface="KaTeX_Main"/>
              </a:rPr>
              <a:t>​(</a:t>
            </a:r>
            <a:r>
              <a:rPr lang="vi-VN" sz="1400" i="1">
                <a:effectLst/>
                <a:latin typeface="KaTeX_Math"/>
              </a:rPr>
              <a:t>t</a:t>
            </a:r>
            <a:r>
              <a:rPr lang="vi-VN" sz="1400">
                <a:effectLst/>
                <a:latin typeface="KaTeX_Main"/>
              </a:rPr>
              <a:t>)</a:t>
            </a:r>
            <a:r>
              <a:rPr lang="vi-VN" sz="1400">
                <a:effectLst/>
              </a:rPr>
              <a:t>: Điện áp trên mạng RC mô tả hiệu ứng quá độ của pin.</a:t>
            </a:r>
          </a:p>
          <a:p>
            <a:pPr>
              <a:spcBef>
                <a:spcPts val="300"/>
              </a:spcBef>
              <a:spcAft>
                <a:spcPts val="300"/>
              </a:spcAft>
              <a:buFont typeface="Arial" panose="020B0604020202020204" pitchFamily="34" charset="0"/>
              <a:buChar char="•"/>
            </a:pPr>
            <a:r>
              <a:rPr lang="vi-VN" sz="1400">
                <a:effectLst/>
              </a:rPr>
              <a:t>Trong mô hình </a:t>
            </a:r>
            <a:r>
              <a:rPr lang="vi-VN" sz="1400" b="1">
                <a:effectLst/>
              </a:rPr>
              <a:t>2RC</a:t>
            </a:r>
            <a:r>
              <a:rPr lang="vi-VN" sz="1400">
                <a:effectLst/>
              </a:rPr>
              <a:t>, OCV cũng được sử dụng tương tự, nhưng có thêm một mạng RC thứ hai để mô tả các hiệu ứng quá độ dài hơn:</a:t>
            </a:r>
          </a:p>
          <a:p>
            <a:pPr>
              <a:spcBef>
                <a:spcPts val="300"/>
              </a:spcBef>
              <a:buFont typeface="Arial" panose="020B0604020202020204" pitchFamily="34" charset="0"/>
              <a:buChar char="•"/>
            </a:pPr>
            <a:r>
              <a:rPr lang="vi-VN" sz="1400">
                <a:effectLst/>
                <a:latin typeface="KaTeX_Main"/>
              </a:rPr>
              <a:t>Vbatt(t)=OCV(SOC,T)−R0(SOC,T)⋅i−vRC,1(t)−vRC,2(t)</a:t>
            </a:r>
            <a:r>
              <a:rPr lang="vi-VN" sz="1400" i="1">
                <a:effectLst/>
                <a:latin typeface="KaTeX_Math"/>
              </a:rPr>
              <a:t>Vbatt</a:t>
            </a:r>
            <a:r>
              <a:rPr lang="vi-VN" sz="1400">
                <a:effectLst/>
                <a:latin typeface="KaTeX_Main"/>
              </a:rPr>
              <a:t>​(</a:t>
            </a:r>
            <a:r>
              <a:rPr lang="vi-VN" sz="1400" i="1">
                <a:effectLst/>
                <a:latin typeface="KaTeX_Math"/>
              </a:rPr>
              <a:t>t</a:t>
            </a:r>
            <a:r>
              <a:rPr lang="vi-VN" sz="1400">
                <a:effectLst/>
                <a:latin typeface="KaTeX_Main"/>
              </a:rPr>
              <a:t>)=</a:t>
            </a:r>
            <a:r>
              <a:rPr lang="vi-VN" sz="1400" i="1">
                <a:effectLst/>
                <a:latin typeface="KaTeX_Math"/>
              </a:rPr>
              <a:t>OCV</a:t>
            </a:r>
            <a:r>
              <a:rPr lang="vi-VN" sz="1400">
                <a:effectLst/>
                <a:latin typeface="KaTeX_Main"/>
              </a:rPr>
              <a:t>(</a:t>
            </a:r>
            <a:r>
              <a:rPr lang="vi-VN" sz="1400" i="1">
                <a:effectLst/>
                <a:latin typeface="KaTeX_Math"/>
              </a:rPr>
              <a:t>SOC</a:t>
            </a:r>
            <a:r>
              <a:rPr lang="vi-VN" sz="1400">
                <a:effectLst/>
                <a:latin typeface="KaTeX_Main"/>
              </a:rPr>
              <a:t>,</a:t>
            </a:r>
            <a:r>
              <a:rPr lang="vi-VN" sz="1400" i="1">
                <a:effectLst/>
                <a:latin typeface="KaTeX_Math"/>
              </a:rPr>
              <a:t>T</a:t>
            </a:r>
            <a:r>
              <a:rPr lang="vi-VN" sz="1400">
                <a:effectLst/>
                <a:latin typeface="KaTeX_Main"/>
              </a:rPr>
              <a:t>)−</a:t>
            </a:r>
            <a:r>
              <a:rPr lang="vi-VN" sz="1400" i="1">
                <a:effectLst/>
                <a:latin typeface="KaTeX_Math"/>
              </a:rPr>
              <a:t>R</a:t>
            </a:r>
            <a:r>
              <a:rPr lang="vi-VN" sz="1400">
                <a:effectLst/>
                <a:latin typeface="KaTeX_Main"/>
              </a:rPr>
              <a:t>0​(</a:t>
            </a:r>
            <a:r>
              <a:rPr lang="vi-VN" sz="1400" i="1">
                <a:effectLst/>
                <a:latin typeface="KaTeX_Math"/>
              </a:rPr>
              <a:t>SOC</a:t>
            </a:r>
            <a:r>
              <a:rPr lang="vi-VN" sz="1400">
                <a:effectLst/>
                <a:latin typeface="KaTeX_Main"/>
              </a:rPr>
              <a:t>,</a:t>
            </a:r>
            <a:r>
              <a:rPr lang="vi-VN" sz="1400" i="1">
                <a:effectLst/>
                <a:latin typeface="KaTeX_Math"/>
              </a:rPr>
              <a:t>T</a:t>
            </a:r>
            <a:r>
              <a:rPr lang="vi-VN" sz="1400">
                <a:effectLst/>
                <a:latin typeface="KaTeX_Main"/>
              </a:rPr>
              <a:t>)⋅</a:t>
            </a:r>
            <a:r>
              <a:rPr lang="vi-VN" sz="1400" i="1">
                <a:effectLst/>
                <a:latin typeface="KaTeX_Math"/>
              </a:rPr>
              <a:t>i</a:t>
            </a:r>
            <a:r>
              <a:rPr lang="vi-VN" sz="1400">
                <a:effectLst/>
                <a:latin typeface="KaTeX_Main"/>
              </a:rPr>
              <a:t>−</a:t>
            </a:r>
            <a:r>
              <a:rPr lang="vi-VN" sz="1400" i="1">
                <a:effectLst/>
                <a:latin typeface="KaTeX_Math"/>
              </a:rPr>
              <a:t>vRC</a:t>
            </a:r>
            <a:r>
              <a:rPr lang="vi-VN" sz="1400">
                <a:effectLst/>
                <a:latin typeface="KaTeX_Main"/>
              </a:rPr>
              <a:t>,1​(</a:t>
            </a:r>
            <a:r>
              <a:rPr lang="vi-VN" sz="1400" i="1">
                <a:effectLst/>
                <a:latin typeface="KaTeX_Math"/>
              </a:rPr>
              <a:t>t</a:t>
            </a:r>
            <a:r>
              <a:rPr lang="vi-VN" sz="1400">
                <a:effectLst/>
                <a:latin typeface="KaTeX_Main"/>
              </a:rPr>
              <a:t>)−</a:t>
            </a:r>
            <a:r>
              <a:rPr lang="vi-VN" sz="1400" i="1">
                <a:effectLst/>
                <a:latin typeface="KaTeX_Math"/>
              </a:rPr>
              <a:t>vRC</a:t>
            </a:r>
            <a:r>
              <a:rPr lang="vi-VN" sz="1400">
                <a:effectLst/>
                <a:latin typeface="KaTeX_Main"/>
              </a:rPr>
              <a:t>,2​(</a:t>
            </a:r>
            <a:r>
              <a:rPr lang="vi-VN" sz="1400" i="1">
                <a:effectLst/>
                <a:latin typeface="KaTeX_Math"/>
              </a:rPr>
              <a:t>t</a:t>
            </a:r>
            <a:r>
              <a:rPr lang="vi-VN" sz="1400">
                <a:effectLst/>
                <a:latin typeface="KaTeX_Main"/>
              </a:rPr>
              <a:t>)</a:t>
            </a:r>
            <a:endParaRPr lang="vi-VN" sz="1400">
              <a:effectLst/>
            </a:endParaRPr>
          </a:p>
          <a:p>
            <a:pPr>
              <a:buNone/>
            </a:pPr>
            <a:r>
              <a:rPr lang="vi-VN" sz="1400" b="1">
                <a:effectLst/>
              </a:rPr>
              <a:t>5. OCV trong mô hình nhiệt</a:t>
            </a:r>
          </a:p>
          <a:p>
            <a:pPr>
              <a:buFont typeface="Arial" panose="020B0604020202020204" pitchFamily="34" charset="0"/>
              <a:buChar char="•"/>
            </a:pPr>
            <a:r>
              <a:rPr lang="vi-VN" sz="1400">
                <a:effectLst/>
              </a:rPr>
              <a:t>OCV cũng được sử dụng trong các mô hình nhiệt để đánh giá hiệu suất của pin dưới các điều kiện nhiệt độ khác nhau. Nhiệt độ ảnh hưởng đến giá trị OCV và các thông số khác của pin như điện trở nội và dung lượng.</a:t>
            </a:r>
          </a:p>
          <a:p>
            <a:pPr>
              <a:buNone/>
            </a:pPr>
            <a:r>
              <a:rPr lang="vi-VN" sz="1400" b="1">
                <a:effectLst/>
              </a:rPr>
              <a:t>6. OCV trong mô hình dữ liệu (Data-Driven Models)</a:t>
            </a:r>
          </a:p>
          <a:p>
            <a:pPr>
              <a:buFont typeface="Arial" panose="020B0604020202020204" pitchFamily="34" charset="0"/>
              <a:buChar char="•"/>
            </a:pPr>
            <a:r>
              <a:rPr lang="vi-VN" sz="1400">
                <a:effectLst/>
              </a:rPr>
              <a:t>Trong các mô hình dữ liệu (Data-Driven Models), OCV thường được sử dụng như một biến đầu vào để dự đoán các thông số khác của pin như SOC, SOH, và điện áp đầu ra. Các mô hình học máy như mạng nơ-ron (Neural Networks) và máy vectơ hỗ trợ (Support Vector Machines) có thể được huấn luyện để học mối quan hệ giữa OCV, SOC, và các biến khác như nhiệt độ và dòng điện.</a:t>
            </a:r>
          </a:p>
          <a:p>
            <a:pPr>
              <a:buNone/>
            </a:pPr>
            <a:r>
              <a:rPr lang="vi-VN" sz="1400" b="1">
                <a:effectLst/>
              </a:rPr>
              <a:t>7. Tầm quan trọng của OCV trong quản lý pin (BMS)</a:t>
            </a:r>
          </a:p>
          <a:p>
            <a:pPr>
              <a:buFont typeface="Arial" panose="020B0604020202020204" pitchFamily="34" charset="0"/>
              <a:buChar char="•"/>
            </a:pPr>
            <a:r>
              <a:rPr lang="vi-VN" sz="1400">
                <a:effectLst/>
              </a:rPr>
              <a:t>OCV là một thông số quan trọng trong hệ thống quản lý pin (Battery Management System - BMS) vì nó giúp ước lượng chính xác SOC và SOH của pin. Việc ước lượng chính xác SOC là rất quan trọng để đảm bảo pin hoạt động an toàn và hiệu quả, đặc biệt là trong các ứng dụng như xe điện và hệ thống lưu trữ năng lượng.</a:t>
            </a:r>
          </a:p>
          <a:p>
            <a:pPr>
              <a:buNone/>
            </a:pPr>
            <a:r>
              <a:rPr lang="vi-VN" sz="1400" b="1">
                <a:effectLst/>
              </a:rPr>
              <a:t>8. Các phương pháp xác định OCV</a:t>
            </a:r>
          </a:p>
          <a:p>
            <a:pPr>
              <a:buFont typeface="Arial" panose="020B0604020202020204" pitchFamily="34" charset="0"/>
              <a:buChar char="•"/>
            </a:pPr>
            <a:r>
              <a:rPr lang="vi-VN" sz="1400">
                <a:effectLst/>
              </a:rPr>
              <a:t>OCV thường được xác định thông qua các thử nghiệm thực nghiệm, chẳng hạn như các chu kỳ xả pin với tốc độ xả thấp (low C-rate) để xác định đường cong OCV-SOC.</a:t>
            </a:r>
          </a:p>
          <a:p>
            <a:pPr>
              <a:spcBef>
                <a:spcPts val="300"/>
              </a:spcBef>
              <a:buFont typeface="Arial" panose="020B0604020202020204" pitchFamily="34" charset="0"/>
              <a:buChar char="•"/>
            </a:pPr>
            <a:r>
              <a:rPr lang="vi-VN" sz="1400">
                <a:effectLst/>
              </a:rPr>
              <a:t>Các phương pháp khác bao gồm sử dụng các thuật toán học máy để dự đoán OCV dựa trên dữ liệu thu thập được từ pin.</a:t>
            </a:r>
            <a:endParaRPr lang="en-US" sz="2800"/>
          </a:p>
        </p:txBody>
      </p:sp>
    </p:spTree>
    <p:extLst>
      <p:ext uri="{BB962C8B-B14F-4D97-AF65-F5344CB8AC3E}">
        <p14:creationId xmlns:p14="http://schemas.microsoft.com/office/powerpoint/2010/main" val="6525227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62C03-309C-4EF8-22D6-352825FAFB6D}"/>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E436B4DD-DD0D-07CF-DA39-88910D2CAA07}"/>
              </a:ext>
            </a:extLst>
          </p:cNvPr>
          <p:cNvSpPr/>
          <p:nvPr/>
        </p:nvSpPr>
        <p:spPr>
          <a:xfrm>
            <a:off x="4441523" y="4398628"/>
            <a:ext cx="3824504" cy="1571596"/>
          </a:xfrm>
          <a:prstGeom prst="rect">
            <a:avLst/>
          </a:prstGeom>
          <a:solidFill>
            <a:schemeClr val="bg1"/>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34FE29D3-E264-6D15-0224-E987230412D5}"/>
              </a:ext>
            </a:extLst>
          </p:cNvPr>
          <p:cNvSpPr>
            <a:spLocks noGrp="1"/>
          </p:cNvSpPr>
          <p:nvPr>
            <p:ph type="dt" sz="half" idx="10"/>
          </p:nvPr>
        </p:nvSpPr>
        <p:spPr>
          <a:xfrm>
            <a:off x="681038" y="6570787"/>
            <a:ext cx="2228850" cy="287215"/>
          </a:xfrm>
        </p:spPr>
        <p:txBody>
          <a:bodyPr/>
          <a:lstStyle/>
          <a:p>
            <a:fld id="{4F253143-4615-40A0-8AC3-64886600ECE3}" type="datetime1">
              <a:rPr lang="en-US" smtClean="0"/>
              <a:t>3/21/2025</a:t>
            </a:fld>
            <a:endParaRPr lang="en-US"/>
          </a:p>
        </p:txBody>
      </p:sp>
      <p:sp>
        <p:nvSpPr>
          <p:cNvPr id="7" name="Slide Number Placeholder 6">
            <a:extLst>
              <a:ext uri="{FF2B5EF4-FFF2-40B4-BE49-F238E27FC236}">
                <a16:creationId xmlns:a16="http://schemas.microsoft.com/office/drawing/2014/main" id="{B20A1F9F-05EB-D4D8-4B3B-FEF066F85D85}"/>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18</a:t>
            </a:fld>
            <a:endParaRPr lang="en-US"/>
          </a:p>
        </p:txBody>
      </p:sp>
      <p:sp>
        <p:nvSpPr>
          <p:cNvPr id="2" name="Title 1">
            <a:extLst>
              <a:ext uri="{FF2B5EF4-FFF2-40B4-BE49-F238E27FC236}">
                <a16:creationId xmlns:a16="http://schemas.microsoft.com/office/drawing/2014/main" id="{C40D793D-CF69-50FB-B8B2-317878741813}"/>
              </a:ext>
            </a:extLst>
          </p:cNvPr>
          <p:cNvSpPr>
            <a:spLocks noGrp="1"/>
          </p:cNvSpPr>
          <p:nvPr>
            <p:ph type="title"/>
          </p:nvPr>
        </p:nvSpPr>
        <p:spPr>
          <a:xfrm>
            <a:off x="500416" y="331083"/>
            <a:ext cx="9766931" cy="548731"/>
          </a:xfrm>
        </p:spPr>
        <p:txBody>
          <a:bodyPr/>
          <a:lstStyle/>
          <a:p>
            <a:pPr>
              <a:spcBef>
                <a:spcPts val="600"/>
              </a:spcBef>
              <a:spcAft>
                <a:spcPts val="600"/>
              </a:spcAft>
            </a:pPr>
            <a:r>
              <a:rPr lang="en-US" sz="3600" dirty="0">
                <a:latin typeface="+mj-lt"/>
              </a:rPr>
              <a:t>II. </a:t>
            </a:r>
            <a:r>
              <a:rPr lang="en-US" sz="3600" dirty="0" err="1">
                <a:latin typeface="+mj-lt"/>
              </a:rPr>
              <a:t>Mô</a:t>
            </a:r>
            <a:r>
              <a:rPr lang="en-US" sz="3600" dirty="0">
                <a:latin typeface="+mj-lt"/>
              </a:rPr>
              <a:t> </a:t>
            </a:r>
            <a:r>
              <a:rPr lang="en-US" sz="3600" dirty="0" err="1">
                <a:latin typeface="+mj-lt"/>
              </a:rPr>
              <a:t>hình</a:t>
            </a:r>
            <a:r>
              <a:rPr lang="en-US" sz="3600" dirty="0">
                <a:latin typeface="+mj-lt"/>
              </a:rPr>
              <a:t> Thevenin</a:t>
            </a:r>
            <a:br>
              <a:rPr lang="en-US" sz="3600" dirty="0">
                <a:latin typeface="+mj-lt"/>
              </a:rPr>
            </a:br>
            <a:endParaRPr lang="en-US" sz="3600" dirty="0">
              <a:latin typeface="+mj-lt"/>
            </a:endParaRPr>
          </a:p>
        </p:txBody>
      </p:sp>
      <p:sp>
        <p:nvSpPr>
          <p:cNvPr id="6" name="TextBox 5">
            <a:extLst>
              <a:ext uri="{FF2B5EF4-FFF2-40B4-BE49-F238E27FC236}">
                <a16:creationId xmlns:a16="http://schemas.microsoft.com/office/drawing/2014/main" id="{26A0FCA6-4B1D-B284-34D8-A0CF60BECB82}"/>
              </a:ext>
            </a:extLst>
          </p:cNvPr>
          <p:cNvSpPr txBox="1"/>
          <p:nvPr/>
        </p:nvSpPr>
        <p:spPr>
          <a:xfrm>
            <a:off x="194865" y="739057"/>
            <a:ext cx="7062019" cy="892552"/>
          </a:xfrm>
          <a:prstGeom prst="rect">
            <a:avLst/>
          </a:prstGeom>
          <a:noFill/>
        </p:spPr>
        <p:txBody>
          <a:bodyPr wrap="square">
            <a:spAutoFit/>
          </a:bodyPr>
          <a:lstStyle/>
          <a:p>
            <a:pPr marL="457200" indent="-457200" rtl="0" fontAlgn="ctr">
              <a:buFont typeface="Wingdings" panose="05000000000000000000" pitchFamily="2" charset="2"/>
              <a:buChar char="q"/>
            </a:pPr>
            <a:r>
              <a:rPr lang="en-US" sz="2600" b="1" dirty="0" err="1"/>
              <a:t>Công</a:t>
            </a:r>
            <a:r>
              <a:rPr lang="en-US" sz="2600" b="1" dirty="0"/>
              <a:t> </a:t>
            </a:r>
            <a:r>
              <a:rPr lang="en-US" sz="2600" b="1" dirty="0" err="1"/>
              <a:t>thức</a:t>
            </a:r>
            <a:endParaRPr lang="en-US" sz="2600" b="1" dirty="0">
              <a:effectLst/>
            </a:endParaRPr>
          </a:p>
          <a:p>
            <a:pPr rtl="0" fontAlgn="ctr"/>
            <a:endParaRPr lang="vi-VN" sz="2600" b="1" dirty="0">
              <a:effectLst/>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23E1FD6-2CB9-C59A-C70E-AD4844496CEF}"/>
                  </a:ext>
                </a:extLst>
              </p:cNvPr>
              <p:cNvSpPr txBox="1"/>
              <p:nvPr/>
            </p:nvSpPr>
            <p:spPr>
              <a:xfrm>
                <a:off x="4512643" y="1670251"/>
                <a:ext cx="4072860" cy="1830245"/>
              </a:xfrm>
              <a:prstGeom prst="rect">
                <a:avLst/>
              </a:prstGeom>
              <a:noFill/>
            </p:spPr>
            <p:txBody>
              <a:bodyPr wrap="square" rtlCol="0">
                <a:spAutoFit/>
              </a:bodyPr>
              <a:lstStyle/>
              <a:p>
                <a:r>
                  <a:rPr lang="en-US" sz="2200" dirty="0"/>
                  <a:t>Kirchhof 1: </a:t>
                </a:r>
                <a14:m>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panose="02040503050406030204" pitchFamily="18" charset="0"/>
                          </a:rPr>
                          <m:t>𝐼</m:t>
                        </m:r>
                      </m:e>
                      <m:sub>
                        <m:r>
                          <a:rPr lang="en-US" sz="2200" b="0" i="1" smtClean="0">
                            <a:latin typeface="Cambria Math" panose="02040503050406030204" pitchFamily="18" charset="0"/>
                          </a:rPr>
                          <m:t>𝐿</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𝐼</m:t>
                        </m:r>
                      </m:e>
                      <m:sub>
                        <m:r>
                          <a:rPr lang="en-US" sz="2200" b="0" i="1" smtClean="0">
                            <a:latin typeface="Cambria Math" panose="02040503050406030204" pitchFamily="18" charset="0"/>
                          </a:rPr>
                          <m:t>𝑅</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𝐼</m:t>
                        </m:r>
                      </m:e>
                      <m:sub>
                        <m:r>
                          <a:rPr lang="en-US" sz="2200" b="0" i="1" smtClean="0">
                            <a:latin typeface="Cambria Math" panose="02040503050406030204" pitchFamily="18" charset="0"/>
                          </a:rPr>
                          <m:t>𝐶</m:t>
                        </m:r>
                      </m:sub>
                    </m:sSub>
                  </m:oMath>
                </a14:m>
                <a:endParaRPr lang="en-US" sz="2200" b="0" dirty="0"/>
              </a:p>
              <a:p>
                <a:pPr marL="285750" indent="-285750">
                  <a:buFont typeface="Wingdings" panose="05000000000000000000" pitchFamily="2" charset="2"/>
                  <a:buChar char="Ø"/>
                </a:pP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𝐼</m:t>
                        </m:r>
                      </m:e>
                      <m:sub>
                        <m:r>
                          <a:rPr lang="en-US" sz="2200" i="1">
                            <a:latin typeface="Cambria Math" panose="02040503050406030204" pitchFamily="18" charset="0"/>
                          </a:rPr>
                          <m:t>𝐿</m:t>
                        </m:r>
                      </m:sub>
                    </m:sSub>
                    <m:r>
                      <a:rPr lang="en-US" sz="2200" i="1">
                        <a:latin typeface="Cambria Math" panose="02040503050406030204" pitchFamily="18" charset="0"/>
                      </a:rPr>
                      <m:t>=</m:t>
                    </m:r>
                    <m:f>
                      <m:fPr>
                        <m:ctrlPr>
                          <a:rPr lang="en-US" sz="2200" i="1" dirty="0" smtClean="0">
                            <a:latin typeface="Cambria Math" panose="02040503050406030204" pitchFamily="18" charset="0"/>
                          </a:rPr>
                        </m:ctrlPr>
                      </m:fPr>
                      <m:num>
                        <m:sSub>
                          <m:sSubPr>
                            <m:ctrlPr>
                              <a:rPr lang="en-US" sz="2200" i="1" dirty="0" smtClean="0">
                                <a:latin typeface="Cambria Math" panose="02040503050406030204" pitchFamily="18" charset="0"/>
                              </a:rPr>
                            </m:ctrlPr>
                          </m:sSubPr>
                          <m:e>
                            <m:r>
                              <a:rPr lang="en-US" sz="2200" b="0" i="1" dirty="0" smtClean="0">
                                <a:latin typeface="Cambria Math" panose="02040503050406030204" pitchFamily="18" charset="0"/>
                              </a:rPr>
                              <m:t>𝑈</m:t>
                            </m:r>
                          </m:e>
                          <m:sub>
                            <m:r>
                              <a:rPr lang="en-US" sz="2200" b="0" i="1" dirty="0" smtClean="0">
                                <a:latin typeface="Cambria Math" panose="02040503050406030204" pitchFamily="18" charset="0"/>
                              </a:rPr>
                              <m:t>𝑇h</m:t>
                            </m:r>
                          </m:sub>
                        </m:sSub>
                      </m:num>
                      <m:den>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𝑅</m:t>
                            </m:r>
                          </m:e>
                          <m:sub>
                            <m:r>
                              <a:rPr lang="en-US" sz="2200" b="0" i="1" dirty="0" smtClean="0">
                                <a:latin typeface="Cambria Math" panose="02040503050406030204" pitchFamily="18" charset="0"/>
                              </a:rPr>
                              <m:t>𝑇h</m:t>
                            </m:r>
                          </m:sub>
                        </m:sSub>
                      </m:den>
                    </m:f>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b="0" i="1" smtClean="0">
                            <a:latin typeface="Cambria Math" panose="02040503050406030204" pitchFamily="18" charset="0"/>
                          </a:rPr>
                          <m:t>𝐶</m:t>
                        </m:r>
                      </m:e>
                      <m:sub>
                        <m:r>
                          <a:rPr lang="en-US" sz="2200" b="0" i="1" smtClean="0">
                            <a:latin typeface="Cambria Math" panose="02040503050406030204" pitchFamily="18" charset="0"/>
                          </a:rPr>
                          <m:t>𝑇h</m:t>
                        </m:r>
                      </m:sub>
                    </m:sSub>
                    <m:r>
                      <a:rPr lang="en-US" sz="2200" i="1" smtClean="0">
                        <a:latin typeface="Cambria Math" panose="02040503050406030204" pitchFamily="18" charset="0"/>
                        <a:ea typeface="Cambria Math" panose="02040503050406030204" pitchFamily="18" charset="0"/>
                      </a:rPr>
                      <m:t>×</m:t>
                    </m:r>
                    <m:f>
                      <m:fPr>
                        <m:ctrlPr>
                          <a:rPr lang="en-US" sz="2200" i="1" smtClean="0">
                            <a:latin typeface="Cambria Math" panose="02040503050406030204" pitchFamily="18" charset="0"/>
                            <a:ea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𝑑</m:t>
                        </m:r>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𝑈</m:t>
                            </m:r>
                          </m:e>
                          <m:sub>
                            <m:r>
                              <a:rPr lang="en-US" sz="2200" b="0" i="1" smtClean="0">
                                <a:latin typeface="Cambria Math" panose="02040503050406030204" pitchFamily="18" charset="0"/>
                                <a:ea typeface="Cambria Math" panose="02040503050406030204" pitchFamily="18" charset="0"/>
                              </a:rPr>
                              <m:t>𝑇h</m:t>
                            </m:r>
                          </m:sub>
                        </m:sSub>
                      </m:num>
                      <m:den>
                        <m:r>
                          <a:rPr lang="en-US" sz="2200" b="0" i="1" smtClean="0">
                            <a:latin typeface="Cambria Math" panose="02040503050406030204" pitchFamily="18" charset="0"/>
                            <a:ea typeface="Cambria Math" panose="02040503050406030204" pitchFamily="18" charset="0"/>
                          </a:rPr>
                          <m:t>𝑑𝑡</m:t>
                        </m:r>
                      </m:den>
                    </m:f>
                  </m:oMath>
                </a14:m>
                <a:endParaRPr lang="en-US" sz="2200" dirty="0"/>
              </a:p>
              <a:p>
                <a:pPr marL="285750" indent="-285750">
                  <a:buFont typeface="Wingdings" panose="05000000000000000000" pitchFamily="2" charset="2"/>
                  <a:buChar char="Ø"/>
                </a:pPr>
                <a14:m>
                  <m:oMath xmlns:m="http://schemas.openxmlformats.org/officeDocument/2006/math">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𝑑</m:t>
                        </m:r>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𝑈</m:t>
                            </m:r>
                          </m:e>
                          <m:sub>
                            <m:r>
                              <a:rPr lang="en-US" sz="2200" i="1">
                                <a:latin typeface="Cambria Math" panose="02040503050406030204" pitchFamily="18" charset="0"/>
                                <a:ea typeface="Cambria Math" panose="02040503050406030204" pitchFamily="18" charset="0"/>
                              </a:rPr>
                              <m:t>𝑇h</m:t>
                            </m:r>
                          </m:sub>
                        </m:sSub>
                      </m:num>
                      <m:den>
                        <m:r>
                          <a:rPr lang="en-US" sz="2200" i="1">
                            <a:latin typeface="Cambria Math" panose="02040503050406030204" pitchFamily="18" charset="0"/>
                            <a:ea typeface="Cambria Math" panose="02040503050406030204" pitchFamily="18" charset="0"/>
                          </a:rPr>
                          <m:t>𝑑𝑡</m:t>
                        </m:r>
                      </m:den>
                    </m:f>
                    <m:r>
                      <a:rPr lang="en-US" sz="2200" i="1">
                        <a:latin typeface="Cambria Math" panose="02040503050406030204" pitchFamily="18" charset="0"/>
                      </a:rPr>
                      <m:t>=</m:t>
                    </m:r>
                    <m:r>
                      <a:rPr lang="en-US" sz="2200" b="0" i="1" smtClean="0">
                        <a:latin typeface="Cambria Math" panose="02040503050406030204" pitchFamily="18" charset="0"/>
                      </a:rPr>
                      <m:t>−</m:t>
                    </m:r>
                    <m:f>
                      <m:fPr>
                        <m:ctrlPr>
                          <a:rPr lang="en-US" sz="2200" i="1" dirty="0" smtClean="0">
                            <a:latin typeface="Cambria Math" panose="02040503050406030204" pitchFamily="18" charset="0"/>
                          </a:rPr>
                        </m:ctrlPr>
                      </m:fPr>
                      <m:num>
                        <m:sSub>
                          <m:sSubPr>
                            <m:ctrlPr>
                              <a:rPr lang="en-US" sz="2200" i="1" dirty="0" smtClean="0">
                                <a:latin typeface="Cambria Math" panose="02040503050406030204" pitchFamily="18" charset="0"/>
                              </a:rPr>
                            </m:ctrlPr>
                          </m:sSubPr>
                          <m:e>
                            <m:r>
                              <a:rPr lang="en-US" sz="2200" b="0" i="1" dirty="0" smtClean="0">
                                <a:latin typeface="Cambria Math" panose="02040503050406030204" pitchFamily="18" charset="0"/>
                              </a:rPr>
                              <m:t>𝑈</m:t>
                            </m:r>
                          </m:e>
                          <m:sub>
                            <m:r>
                              <a:rPr lang="en-US" sz="2200" b="0" i="1" dirty="0" smtClean="0">
                                <a:latin typeface="Cambria Math" panose="02040503050406030204" pitchFamily="18" charset="0"/>
                              </a:rPr>
                              <m:t>𝑇h</m:t>
                            </m:r>
                          </m:sub>
                        </m:sSub>
                      </m:num>
                      <m:den>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𝑅</m:t>
                            </m:r>
                          </m:e>
                          <m:sub>
                            <m:r>
                              <a:rPr lang="en-US" sz="2200" b="0" i="1" dirty="0" smtClean="0">
                                <a:latin typeface="Cambria Math" panose="02040503050406030204" pitchFamily="18" charset="0"/>
                              </a:rPr>
                              <m:t>𝑇h</m:t>
                            </m:r>
                          </m:sub>
                        </m:sSub>
                        <m:r>
                          <a:rPr lang="en-US" sz="2200" b="0" i="1" dirty="0" smtClean="0">
                            <a:latin typeface="Cambria Math" panose="02040503050406030204" pitchFamily="18" charset="0"/>
                            <a:ea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𝐶</m:t>
                            </m:r>
                          </m:e>
                          <m:sub>
                            <m:r>
                              <a:rPr lang="en-US" sz="2200" i="1">
                                <a:latin typeface="Cambria Math" panose="02040503050406030204" pitchFamily="18" charset="0"/>
                              </a:rPr>
                              <m:t>𝑇h</m:t>
                            </m:r>
                          </m:sub>
                        </m:sSub>
                      </m:den>
                    </m:f>
                    <m:r>
                      <a:rPr lang="en-US" sz="2200" i="1">
                        <a:latin typeface="Cambria Math" panose="02040503050406030204" pitchFamily="18" charset="0"/>
                      </a:rPr>
                      <m:t>+</m:t>
                    </m:r>
                    <m:f>
                      <m:fPr>
                        <m:ctrlPr>
                          <a:rPr lang="en-US" sz="2200" i="1" smtClean="0">
                            <a:latin typeface="Cambria Math" panose="02040503050406030204" pitchFamily="18" charset="0"/>
                            <a:ea typeface="Cambria Math" panose="02040503050406030204" pitchFamily="18" charset="0"/>
                          </a:rPr>
                        </m:ctrlPr>
                      </m:fPr>
                      <m:num>
                        <m:sSub>
                          <m:sSubPr>
                            <m:ctrlPr>
                              <a:rPr lang="en-US" sz="2200" i="1">
                                <a:latin typeface="Cambria Math" panose="02040503050406030204" pitchFamily="18" charset="0"/>
                              </a:rPr>
                            </m:ctrlPr>
                          </m:sSubPr>
                          <m:e>
                            <m:r>
                              <a:rPr lang="en-US" sz="2200" i="1">
                                <a:latin typeface="Cambria Math" panose="02040503050406030204" pitchFamily="18" charset="0"/>
                              </a:rPr>
                              <m:t>𝐼</m:t>
                            </m:r>
                          </m:e>
                          <m:sub>
                            <m:r>
                              <a:rPr lang="en-US" sz="2200" i="1">
                                <a:latin typeface="Cambria Math" panose="02040503050406030204" pitchFamily="18" charset="0"/>
                              </a:rPr>
                              <m:t>𝐿</m:t>
                            </m:r>
                          </m:sub>
                        </m:sSub>
                      </m:num>
                      <m:den>
                        <m:sSub>
                          <m:sSubPr>
                            <m:ctrlPr>
                              <a:rPr lang="en-US" sz="2200" i="1">
                                <a:latin typeface="Cambria Math" panose="02040503050406030204" pitchFamily="18" charset="0"/>
                              </a:rPr>
                            </m:ctrlPr>
                          </m:sSubPr>
                          <m:e>
                            <m:r>
                              <a:rPr lang="en-US" sz="2200" i="1">
                                <a:latin typeface="Cambria Math" panose="02040503050406030204" pitchFamily="18" charset="0"/>
                              </a:rPr>
                              <m:t>𝐶</m:t>
                            </m:r>
                          </m:e>
                          <m:sub>
                            <m:r>
                              <a:rPr lang="en-US" sz="2200" i="1">
                                <a:latin typeface="Cambria Math" panose="02040503050406030204" pitchFamily="18" charset="0"/>
                              </a:rPr>
                              <m:t>𝑇h</m:t>
                            </m:r>
                          </m:sub>
                        </m:sSub>
                      </m:den>
                    </m:f>
                  </m:oMath>
                </a14:m>
                <a:endParaRPr lang="en-US" sz="2200" dirty="0"/>
              </a:p>
              <a:p>
                <a:pPr marL="285750" indent="-285750">
                  <a:buFont typeface="Wingdings" panose="05000000000000000000" pitchFamily="2" charset="2"/>
                  <a:buChar char="Ø"/>
                </a:pPr>
                <a:endParaRPr lang="en-US" sz="2200" dirty="0"/>
              </a:p>
            </p:txBody>
          </p:sp>
        </mc:Choice>
        <mc:Fallback xmlns="">
          <p:sp>
            <p:nvSpPr>
              <p:cNvPr id="18" name="TextBox 17">
                <a:extLst>
                  <a:ext uri="{FF2B5EF4-FFF2-40B4-BE49-F238E27FC236}">
                    <a16:creationId xmlns:a16="http://schemas.microsoft.com/office/drawing/2014/main" id="{E23E1FD6-2CB9-C59A-C70E-AD4844496CEF}"/>
                  </a:ext>
                </a:extLst>
              </p:cNvPr>
              <p:cNvSpPr txBox="1">
                <a:spLocks noRot="1" noChangeAspect="1" noMove="1" noResize="1" noEditPoints="1" noAdjustHandles="1" noChangeArrowheads="1" noChangeShapeType="1" noTextEdit="1"/>
              </p:cNvSpPr>
              <p:nvPr/>
            </p:nvSpPr>
            <p:spPr>
              <a:xfrm>
                <a:off x="4512643" y="1670251"/>
                <a:ext cx="4072860" cy="1830245"/>
              </a:xfrm>
              <a:prstGeom prst="rect">
                <a:avLst/>
              </a:prstGeom>
              <a:blipFill>
                <a:blip r:embed="rId3"/>
                <a:stretch>
                  <a:fillRect l="-1946" t="-2667"/>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510B87E6-DA4F-2456-DC48-3AE7449AAE44}"/>
              </a:ext>
            </a:extLst>
          </p:cNvPr>
          <p:cNvSpPr txBox="1"/>
          <p:nvPr/>
        </p:nvSpPr>
        <p:spPr>
          <a:xfrm>
            <a:off x="1090108" y="4117108"/>
            <a:ext cx="3095495" cy="338554"/>
          </a:xfrm>
          <a:prstGeom prst="rect">
            <a:avLst/>
          </a:prstGeom>
          <a:noFill/>
        </p:spPr>
        <p:txBody>
          <a:bodyPr wrap="square" rtlCol="0">
            <a:spAutoFit/>
          </a:bodyPr>
          <a:lstStyle/>
          <a:p>
            <a:r>
              <a:rPr lang="en-US" sz="1600" i="1" dirty="0" err="1"/>
              <a:t>Mô</a:t>
            </a:r>
            <a:r>
              <a:rPr lang="en-US" sz="1600" i="1" dirty="0"/>
              <a:t> </a:t>
            </a:r>
            <a:r>
              <a:rPr lang="en-US" sz="1600" i="1" dirty="0" err="1"/>
              <a:t>hình</a:t>
            </a:r>
            <a:r>
              <a:rPr lang="en-US" sz="1600" i="1" dirty="0"/>
              <a:t> Thevenin</a:t>
            </a:r>
          </a:p>
        </p:txBody>
      </p:sp>
      <p:pic>
        <p:nvPicPr>
          <p:cNvPr id="5" name="Picture 4">
            <a:extLst>
              <a:ext uri="{FF2B5EF4-FFF2-40B4-BE49-F238E27FC236}">
                <a16:creationId xmlns:a16="http://schemas.microsoft.com/office/drawing/2014/main" id="{00076863-B804-EE5A-99BC-15DEA696132E}"/>
              </a:ext>
            </a:extLst>
          </p:cNvPr>
          <p:cNvPicPr>
            <a:picLocks noChangeAspect="1"/>
          </p:cNvPicPr>
          <p:nvPr/>
        </p:nvPicPr>
        <p:blipFill>
          <a:blip r:embed="rId4"/>
          <a:stretch>
            <a:fillRect/>
          </a:stretch>
        </p:blipFill>
        <p:spPr>
          <a:xfrm>
            <a:off x="220185" y="1287788"/>
            <a:ext cx="3505689" cy="282932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F6204BB-8C99-0BCB-82B8-3F1C8E473988}"/>
                  </a:ext>
                </a:extLst>
              </p:cNvPr>
              <p:cNvSpPr txBox="1"/>
              <p:nvPr/>
            </p:nvSpPr>
            <p:spPr>
              <a:xfrm>
                <a:off x="4441523" y="3540539"/>
                <a:ext cx="5244292" cy="769441"/>
              </a:xfrm>
              <a:prstGeom prst="rect">
                <a:avLst/>
              </a:prstGeom>
              <a:noFill/>
            </p:spPr>
            <p:txBody>
              <a:bodyPr wrap="square" rtlCol="0">
                <a:spAutoFit/>
              </a:bodyPr>
              <a:lstStyle/>
              <a:p>
                <a:r>
                  <a:rPr lang="en-US" sz="2200" dirty="0"/>
                  <a:t>Kirchhof 2: </a:t>
                </a:r>
                <a14:m>
                  <m:oMath xmlns:m="http://schemas.openxmlformats.org/officeDocument/2006/math">
                    <m:sSub>
                      <m:sSubPr>
                        <m:ctrlPr>
                          <a:rPr lang="en-US" sz="2200" i="1">
                            <a:latin typeface="Cambria Math" panose="02040503050406030204" pitchFamily="18" charset="0"/>
                          </a:rPr>
                        </m:ctrlPr>
                      </m:sSubPr>
                      <m:e>
                        <m:r>
                          <a:rPr lang="en-US" sz="2200" b="0" i="1" smtClean="0">
                            <a:latin typeface="Cambria Math" panose="02040503050406030204" pitchFamily="18" charset="0"/>
                          </a:rPr>
                          <m:t>𝑈</m:t>
                        </m:r>
                      </m:e>
                      <m:sub>
                        <m:r>
                          <a:rPr lang="en-US" sz="2200" i="1">
                            <a:latin typeface="Cambria Math" panose="02040503050406030204" pitchFamily="18" charset="0"/>
                          </a:rPr>
                          <m:t>𝐿</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b="0" i="1" smtClean="0">
                            <a:latin typeface="Cambria Math" panose="02040503050406030204" pitchFamily="18" charset="0"/>
                          </a:rPr>
                          <m:t>𝑈</m:t>
                        </m:r>
                      </m:e>
                      <m:sub>
                        <m:r>
                          <a:rPr lang="en-US" sz="2200" b="0" i="1" smtClean="0">
                            <a:latin typeface="Cambria Math" panose="02040503050406030204" pitchFamily="18" charset="0"/>
                          </a:rPr>
                          <m:t>𝑜𝑐</m:t>
                        </m:r>
                      </m:sub>
                    </m:sSub>
                    <m:r>
                      <a:rPr lang="en-US" sz="2200" b="0" i="1" smtClean="0">
                        <a:latin typeface="Cambria Math" panose="02040503050406030204" pitchFamily="18" charset="0"/>
                      </a:rPr>
                      <m:t>−</m:t>
                    </m:r>
                    <m:sSub>
                      <m:sSubPr>
                        <m:ctrlPr>
                          <a:rPr lang="en-US" sz="2200" i="1">
                            <a:latin typeface="Cambria Math" panose="02040503050406030204" pitchFamily="18" charset="0"/>
                          </a:rPr>
                        </m:ctrlPr>
                      </m:sSubPr>
                      <m:e>
                        <m:r>
                          <a:rPr lang="en-US" sz="2200" b="0" i="1" smtClean="0">
                            <a:latin typeface="Cambria Math" panose="02040503050406030204" pitchFamily="18" charset="0"/>
                          </a:rPr>
                          <m:t>𝑈</m:t>
                        </m:r>
                      </m:e>
                      <m:sub>
                        <m:r>
                          <a:rPr lang="en-US" sz="2200" b="0" i="1" smtClean="0">
                            <a:latin typeface="Cambria Math" panose="02040503050406030204" pitchFamily="18" charset="0"/>
                          </a:rPr>
                          <m:t>𝑇h</m:t>
                        </m:r>
                      </m:sub>
                    </m:sSub>
                    <m:r>
                      <a:rPr lang="en-US" sz="2200" b="0" i="1" smtClean="0">
                        <a:latin typeface="Cambria Math" panose="02040503050406030204" pitchFamily="18" charset="0"/>
                      </a:rPr>
                      <m:t>−</m:t>
                    </m:r>
                    <m:sSub>
                      <m:sSubPr>
                        <m:ctrlPr>
                          <a:rPr lang="en-US" sz="2200" i="1">
                            <a:latin typeface="Cambria Math" panose="02040503050406030204" pitchFamily="18" charset="0"/>
                          </a:rPr>
                        </m:ctrlPr>
                      </m:sSubPr>
                      <m:e>
                        <m:sSub>
                          <m:sSubPr>
                            <m:ctrlPr>
                              <a:rPr lang="en-US" sz="2200" i="1">
                                <a:latin typeface="Cambria Math" panose="02040503050406030204" pitchFamily="18" charset="0"/>
                              </a:rPr>
                            </m:ctrlPr>
                          </m:sSubPr>
                          <m:e>
                            <m:r>
                              <a:rPr lang="en-US" sz="2200" i="1">
                                <a:latin typeface="Cambria Math" panose="02040503050406030204" pitchFamily="18" charset="0"/>
                              </a:rPr>
                              <m:t>𝐼</m:t>
                            </m:r>
                          </m:e>
                          <m:sub>
                            <m:r>
                              <a:rPr lang="en-US" sz="2200" i="1">
                                <a:latin typeface="Cambria Math" panose="02040503050406030204" pitchFamily="18" charset="0"/>
                              </a:rPr>
                              <m:t>𝐿</m:t>
                            </m:r>
                          </m:sub>
                        </m:sSub>
                        <m:r>
                          <a:rPr lang="en-US" sz="220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rPr>
                          <m:t>𝑅</m:t>
                        </m:r>
                      </m:e>
                      <m:sub>
                        <m:r>
                          <a:rPr lang="en-US" sz="2200" b="0" i="1" smtClean="0">
                            <a:latin typeface="Cambria Math" panose="02040503050406030204" pitchFamily="18" charset="0"/>
                          </a:rPr>
                          <m:t>𝑜</m:t>
                        </m:r>
                      </m:sub>
                    </m:sSub>
                  </m:oMath>
                </a14:m>
                <a:endParaRPr lang="en-US" sz="2200" dirty="0"/>
              </a:p>
              <a:p>
                <a:pPr marL="285750" indent="-285750">
                  <a:buFont typeface="Wingdings" panose="05000000000000000000" pitchFamily="2" charset="2"/>
                  <a:buChar char="Ø"/>
                </a:pPr>
                <a:endParaRPr lang="en-US" sz="2200" dirty="0"/>
              </a:p>
            </p:txBody>
          </p:sp>
        </mc:Choice>
        <mc:Fallback xmlns="">
          <p:sp>
            <p:nvSpPr>
              <p:cNvPr id="8" name="TextBox 7">
                <a:extLst>
                  <a:ext uri="{FF2B5EF4-FFF2-40B4-BE49-F238E27FC236}">
                    <a16:creationId xmlns:a16="http://schemas.microsoft.com/office/drawing/2014/main" id="{7F6204BB-8C99-0BCB-82B8-3F1C8E473988}"/>
                  </a:ext>
                </a:extLst>
              </p:cNvPr>
              <p:cNvSpPr txBox="1">
                <a:spLocks noRot="1" noChangeAspect="1" noMove="1" noResize="1" noEditPoints="1" noAdjustHandles="1" noChangeArrowheads="1" noChangeShapeType="1" noTextEdit="1"/>
              </p:cNvSpPr>
              <p:nvPr/>
            </p:nvSpPr>
            <p:spPr>
              <a:xfrm>
                <a:off x="4441523" y="3540539"/>
                <a:ext cx="5244292" cy="769441"/>
              </a:xfrm>
              <a:prstGeom prst="rect">
                <a:avLst/>
              </a:prstGeom>
              <a:blipFill>
                <a:blip r:embed="rId5"/>
                <a:stretch>
                  <a:fillRect l="-1512" t="-6349"/>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05BF2D70-EE3E-AC47-2F0A-0E06EFE1F762}"/>
              </a:ext>
            </a:extLst>
          </p:cNvPr>
          <p:cNvPicPr>
            <a:picLocks noChangeAspect="1"/>
          </p:cNvPicPr>
          <p:nvPr/>
        </p:nvPicPr>
        <p:blipFill>
          <a:blip r:embed="rId6"/>
          <a:stretch>
            <a:fillRect/>
          </a:stretch>
        </p:blipFill>
        <p:spPr>
          <a:xfrm>
            <a:off x="4803254" y="4463826"/>
            <a:ext cx="3105583" cy="1457528"/>
          </a:xfrm>
          <a:prstGeom prst="rect">
            <a:avLst/>
          </a:prstGeom>
        </p:spPr>
      </p:pic>
    </p:spTree>
    <p:extLst>
      <p:ext uri="{BB962C8B-B14F-4D97-AF65-F5344CB8AC3E}">
        <p14:creationId xmlns:p14="http://schemas.microsoft.com/office/powerpoint/2010/main" val="5759229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BEF4A-5C55-0276-CA35-F95849D9815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090C340-56A1-C4A1-9FD6-7E0FA1CBC79A}"/>
              </a:ext>
            </a:extLst>
          </p:cNvPr>
          <p:cNvSpPr>
            <a:spLocks noGrp="1"/>
          </p:cNvSpPr>
          <p:nvPr>
            <p:ph type="dt" sz="half" idx="10"/>
          </p:nvPr>
        </p:nvSpPr>
        <p:spPr>
          <a:xfrm>
            <a:off x="681038" y="6570787"/>
            <a:ext cx="2228850" cy="287215"/>
          </a:xfrm>
        </p:spPr>
        <p:txBody>
          <a:bodyPr/>
          <a:lstStyle/>
          <a:p>
            <a:fld id="{4F253143-4615-40A0-8AC3-64886600ECE3}" type="datetime1">
              <a:rPr lang="en-US" smtClean="0"/>
              <a:t>3/21/2025</a:t>
            </a:fld>
            <a:endParaRPr lang="en-US"/>
          </a:p>
        </p:txBody>
      </p:sp>
      <p:sp>
        <p:nvSpPr>
          <p:cNvPr id="7" name="Slide Number Placeholder 6">
            <a:extLst>
              <a:ext uri="{FF2B5EF4-FFF2-40B4-BE49-F238E27FC236}">
                <a16:creationId xmlns:a16="http://schemas.microsoft.com/office/drawing/2014/main" id="{BC1BD615-EFF7-57AC-4916-A1EB601C226D}"/>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19</a:t>
            </a:fld>
            <a:endParaRPr lang="en-US"/>
          </a:p>
        </p:txBody>
      </p:sp>
      <p:sp>
        <p:nvSpPr>
          <p:cNvPr id="2" name="Title 1">
            <a:extLst>
              <a:ext uri="{FF2B5EF4-FFF2-40B4-BE49-F238E27FC236}">
                <a16:creationId xmlns:a16="http://schemas.microsoft.com/office/drawing/2014/main" id="{9C1D943A-F6FA-0A02-8212-A8DAC4DF591D}"/>
              </a:ext>
            </a:extLst>
          </p:cNvPr>
          <p:cNvSpPr>
            <a:spLocks noGrp="1"/>
          </p:cNvSpPr>
          <p:nvPr>
            <p:ph type="title"/>
          </p:nvPr>
        </p:nvSpPr>
        <p:spPr>
          <a:xfrm>
            <a:off x="500416" y="331083"/>
            <a:ext cx="9766931" cy="548731"/>
          </a:xfrm>
        </p:spPr>
        <p:txBody>
          <a:bodyPr/>
          <a:lstStyle/>
          <a:p>
            <a:pPr>
              <a:spcBef>
                <a:spcPts val="600"/>
              </a:spcBef>
              <a:spcAft>
                <a:spcPts val="600"/>
              </a:spcAft>
            </a:pPr>
            <a:r>
              <a:rPr lang="en-US" sz="3600" dirty="0">
                <a:latin typeface="+mj-lt"/>
              </a:rPr>
              <a:t>II. </a:t>
            </a:r>
            <a:r>
              <a:rPr lang="en-US" sz="3600" dirty="0" err="1">
                <a:latin typeface="+mj-lt"/>
              </a:rPr>
              <a:t>Mô</a:t>
            </a:r>
            <a:r>
              <a:rPr lang="en-US" sz="3600" dirty="0">
                <a:latin typeface="+mj-lt"/>
              </a:rPr>
              <a:t> </a:t>
            </a:r>
            <a:r>
              <a:rPr lang="en-US" sz="3600" dirty="0" err="1">
                <a:latin typeface="+mj-lt"/>
              </a:rPr>
              <a:t>hình</a:t>
            </a:r>
            <a:r>
              <a:rPr lang="en-US" sz="3600" dirty="0">
                <a:latin typeface="+mj-lt"/>
              </a:rPr>
              <a:t> Thevenin</a:t>
            </a:r>
            <a:br>
              <a:rPr lang="en-US" sz="3600" dirty="0">
                <a:latin typeface="+mj-lt"/>
              </a:rPr>
            </a:br>
            <a:endParaRPr lang="en-US" sz="3600" dirty="0">
              <a:latin typeface="+mj-lt"/>
            </a:endParaRPr>
          </a:p>
        </p:txBody>
      </p:sp>
      <p:sp>
        <p:nvSpPr>
          <p:cNvPr id="6" name="TextBox 5">
            <a:extLst>
              <a:ext uri="{FF2B5EF4-FFF2-40B4-BE49-F238E27FC236}">
                <a16:creationId xmlns:a16="http://schemas.microsoft.com/office/drawing/2014/main" id="{E4F1D0DB-B97B-6AF1-77AA-15F199132BCA}"/>
              </a:ext>
            </a:extLst>
          </p:cNvPr>
          <p:cNvSpPr txBox="1"/>
          <p:nvPr/>
        </p:nvSpPr>
        <p:spPr>
          <a:xfrm>
            <a:off x="194865" y="739057"/>
            <a:ext cx="7062019" cy="892552"/>
          </a:xfrm>
          <a:prstGeom prst="rect">
            <a:avLst/>
          </a:prstGeom>
          <a:noFill/>
        </p:spPr>
        <p:txBody>
          <a:bodyPr wrap="square">
            <a:spAutoFit/>
          </a:bodyPr>
          <a:lstStyle/>
          <a:p>
            <a:pPr marL="457200" indent="-457200" rtl="0" fontAlgn="ctr">
              <a:buFont typeface="Wingdings" panose="05000000000000000000" pitchFamily="2" charset="2"/>
              <a:buChar char="q"/>
            </a:pPr>
            <a:r>
              <a:rPr lang="en-US" sz="2600" b="1" dirty="0" err="1"/>
              <a:t>Công</a:t>
            </a:r>
            <a:r>
              <a:rPr lang="en-US" sz="2600" b="1" dirty="0"/>
              <a:t> </a:t>
            </a:r>
            <a:r>
              <a:rPr lang="en-US" sz="2600" b="1" dirty="0" err="1"/>
              <a:t>thức</a:t>
            </a:r>
            <a:endParaRPr lang="en-US" sz="2600" b="1" dirty="0">
              <a:effectLst/>
            </a:endParaRPr>
          </a:p>
          <a:p>
            <a:pPr rtl="0" fontAlgn="ctr"/>
            <a:endParaRPr lang="vi-VN" sz="2600" b="1" dirty="0">
              <a:effectLst/>
            </a:endParaRPr>
          </a:p>
        </p:txBody>
      </p:sp>
      <p:pic>
        <p:nvPicPr>
          <p:cNvPr id="9" name="Picture 8">
            <a:extLst>
              <a:ext uri="{FF2B5EF4-FFF2-40B4-BE49-F238E27FC236}">
                <a16:creationId xmlns:a16="http://schemas.microsoft.com/office/drawing/2014/main" id="{D2433405-BE2B-6B13-0398-B71E757BA1E9}"/>
              </a:ext>
            </a:extLst>
          </p:cNvPr>
          <p:cNvPicPr>
            <a:picLocks noChangeAspect="1"/>
          </p:cNvPicPr>
          <p:nvPr/>
        </p:nvPicPr>
        <p:blipFill>
          <a:blip r:embed="rId3"/>
          <a:srcRect t="2225" b="33034"/>
          <a:stretch/>
        </p:blipFill>
        <p:spPr>
          <a:xfrm>
            <a:off x="294097" y="1287788"/>
            <a:ext cx="4453335" cy="5108895"/>
          </a:xfrm>
          <a:prstGeom prst="rect">
            <a:avLst/>
          </a:prstGeom>
        </p:spPr>
      </p:pic>
      <p:pic>
        <p:nvPicPr>
          <p:cNvPr id="10" name="Picture 9">
            <a:extLst>
              <a:ext uri="{FF2B5EF4-FFF2-40B4-BE49-F238E27FC236}">
                <a16:creationId xmlns:a16="http://schemas.microsoft.com/office/drawing/2014/main" id="{0A52AD32-FBA4-9C9D-80EC-1056C02FD23B}"/>
              </a:ext>
            </a:extLst>
          </p:cNvPr>
          <p:cNvPicPr>
            <a:picLocks noChangeAspect="1"/>
          </p:cNvPicPr>
          <p:nvPr/>
        </p:nvPicPr>
        <p:blipFill>
          <a:blip r:embed="rId3"/>
          <a:srcRect t="67467"/>
          <a:stretch/>
        </p:blipFill>
        <p:spPr>
          <a:xfrm>
            <a:off x="4334376" y="1194746"/>
            <a:ext cx="4890587" cy="2819400"/>
          </a:xfrm>
          <a:prstGeom prst="rect">
            <a:avLst/>
          </a:prstGeom>
        </p:spPr>
      </p:pic>
    </p:spTree>
    <p:extLst>
      <p:ext uri="{BB962C8B-B14F-4D97-AF65-F5344CB8AC3E}">
        <p14:creationId xmlns:p14="http://schemas.microsoft.com/office/powerpoint/2010/main" val="1677868749"/>
      </p:ext>
    </p:extLst>
  </p:cSld>
  <p:clrMapOvr>
    <a:masterClrMapping/>
  </p:clrMapOvr>
</p:sld>
</file>

<file path=ppt/theme/theme1.xml><?xml version="1.0" encoding="utf-8"?>
<a:theme xmlns:a="http://schemas.openxmlformats.org/drawingml/2006/main" name="VPEC_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Lato Black"/>
        <a:ea typeface="Asana"/>
        <a:cs typeface=""/>
      </a:majorFont>
      <a:minorFont>
        <a:latin typeface="Lato"/>
        <a:ea typeface="Asana"/>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PEC_theme" id="{8AA4AFE5-4C9B-498E-826A-13CB54DF4FD5}" vid="{7D9A3D0F-9812-4AC9-A974-F1C3C9BA3B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b56721c0-6b3a-4e4c-8183-0c81254e71b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97DCB5278DCA64EA66CD17852BDE685" ma:contentTypeVersion="16" ma:contentTypeDescription="Create a new document." ma:contentTypeScope="" ma:versionID="386d1682a46c43990dd6828e9add67a6">
  <xsd:schema xmlns:xsd="http://www.w3.org/2001/XMLSchema" xmlns:xs="http://www.w3.org/2001/XMLSchema" xmlns:p="http://schemas.microsoft.com/office/2006/metadata/properties" xmlns:ns3="b56721c0-6b3a-4e4c-8183-0c81254e71b1" xmlns:ns4="2dd14a5b-7585-47f3-b208-26920f442fab" targetNamespace="http://schemas.microsoft.com/office/2006/metadata/properties" ma:root="true" ma:fieldsID="7081f63520021cf7b1d2c3f43b73dea3" ns3:_="" ns4:_="">
    <xsd:import namespace="b56721c0-6b3a-4e4c-8183-0c81254e71b1"/>
    <xsd:import namespace="2dd14a5b-7585-47f3-b208-26920f442fab"/>
    <xsd:element name="properties">
      <xsd:complexType>
        <xsd:sequence>
          <xsd:element name="documentManagement">
            <xsd:complexType>
              <xsd:all>
                <xsd:element ref="ns3:MediaServiceMetadata" minOccurs="0"/>
                <xsd:element ref="ns3:MediaServiceFastMetadata" minOccurs="0"/>
                <xsd:element ref="ns3:_activity" minOccurs="0"/>
                <xsd:element ref="ns3:MediaServiceObjectDetectorVersions" minOccurs="0"/>
                <xsd:element ref="ns4:SharedWithUsers" minOccurs="0"/>
                <xsd:element ref="ns4:SharedWithDetails" minOccurs="0"/>
                <xsd:element ref="ns4:SharingHintHash" minOccurs="0"/>
                <xsd:element ref="ns3:MediaServiceGenerationTime" minOccurs="0"/>
                <xsd:element ref="ns3:MediaServiceEventHashCode" minOccurs="0"/>
                <xsd:element ref="ns3:MediaServiceDateTaken" minOccurs="0"/>
                <xsd:element ref="ns3:MediaServiceAutoTags" minOccurs="0"/>
                <xsd:element ref="ns3:MediaLengthInSeconds" minOccurs="0"/>
                <xsd:element ref="ns3:MediaServiceLocation" minOccurs="0"/>
                <xsd:element ref="ns3:MediaServiceSystemTags" minOccurs="0"/>
                <xsd:element ref="ns3:MediaServiceOCR"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56721c0-6b3a-4e4c-8183-0c81254e71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AutoTags" ma:index="18" nillable="true" ma:displayName="Tags" ma:internalName="MediaServiceAutoTags"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dd14a5b-7585-47f3-b208-26920f442fa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919F86-A71C-4826-BFD2-23EB659F8B3A}">
  <ds:schemaRefs>
    <ds:schemaRef ds:uri="http://schemas.microsoft.com/sharepoint/v3/contenttype/forms"/>
  </ds:schemaRefs>
</ds:datastoreItem>
</file>

<file path=customXml/itemProps2.xml><?xml version="1.0" encoding="utf-8"?>
<ds:datastoreItem xmlns:ds="http://schemas.openxmlformats.org/officeDocument/2006/customXml" ds:itemID="{14A7C5A7-05C0-4FE3-B169-7E865D8495CE}">
  <ds:schemaRefs>
    <ds:schemaRef ds:uri="2dd14a5b-7585-47f3-b208-26920f442fab"/>
    <ds:schemaRef ds:uri="b56721c0-6b3a-4e4c-8183-0c81254e71b1"/>
    <ds:schemaRef ds:uri="http://purl.org/dc/terms/"/>
    <ds:schemaRef ds:uri="http://purl.org/dc/elements/1.1/"/>
    <ds:schemaRef ds:uri="http://schemas.microsoft.com/office/infopath/2007/PartnerControls"/>
    <ds:schemaRef ds:uri="http://purl.org/dc/dcmitype/"/>
    <ds:schemaRef ds:uri="http://www.w3.org/XML/1998/namespace"/>
    <ds:schemaRef ds:uri="http://schemas.microsoft.com/office/2006/documentManagement/type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C02334BE-CFA4-40C2-B38C-62F691D75F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56721c0-6b3a-4e4c-8183-0c81254e71b1"/>
    <ds:schemaRef ds:uri="2dd14a5b-7585-47f3-b208-26920f442fa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VPEC_theme</Template>
  <TotalTime>10209</TotalTime>
  <Words>2426</Words>
  <Application>Microsoft Office PowerPoint</Application>
  <PresentationFormat>A4 Paper (210x297 mm)</PresentationFormat>
  <Paragraphs>284</Paragraphs>
  <Slides>19</Slides>
  <Notes>17</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19</vt:i4>
      </vt:variant>
    </vt:vector>
  </HeadingPairs>
  <TitlesOfParts>
    <vt:vector size="34" baseType="lpstr">
      <vt:lpstr>Aptos</vt:lpstr>
      <vt:lpstr>Arial</vt:lpstr>
      <vt:lpstr>Asana</vt:lpstr>
      <vt:lpstr>Calibri</vt:lpstr>
      <vt:lpstr>Cambria Math</vt:lpstr>
      <vt:lpstr>Courier New</vt:lpstr>
      <vt:lpstr>Dosis</vt:lpstr>
      <vt:lpstr>Dosis ExtraBold</vt:lpstr>
      <vt:lpstr>Inter</vt:lpstr>
      <vt:lpstr>KaTeX_Main</vt:lpstr>
      <vt:lpstr>KaTeX_Math</vt:lpstr>
      <vt:lpstr>Lato</vt:lpstr>
      <vt:lpstr>Times New Roman</vt:lpstr>
      <vt:lpstr>Wingdings</vt:lpstr>
      <vt:lpstr>VPEC_theme</vt:lpstr>
      <vt:lpstr>BÀI BÁO CÁO : Phương pháp sạc ổn dòng ,ổn áp cho Pin </vt:lpstr>
      <vt:lpstr>Outline</vt:lpstr>
      <vt:lpstr>Tổng quan về các phương pháp sạc</vt:lpstr>
      <vt:lpstr>Tổng quan về các phương pháp sạc</vt:lpstr>
      <vt:lpstr>Tổng quan về các phương pháp sạc</vt:lpstr>
      <vt:lpstr>Tổng quan về các phương pháp sạc</vt:lpstr>
      <vt:lpstr>Tổng quan về các phương pháp sạc</vt:lpstr>
      <vt:lpstr>Tổng quan về các phương pháp sạc</vt:lpstr>
      <vt:lpstr>Tổng quan về các phương pháp sạc</vt:lpstr>
      <vt:lpstr>Tổng quan về các phương pháp sạc</vt:lpstr>
      <vt:lpstr>Tổng quan về các phương pháp sạc</vt:lpstr>
      <vt:lpstr>Tổng quan về các phương pháp sạc</vt:lpstr>
      <vt:lpstr>Tổng quan về các phương pháp sạc</vt:lpstr>
      <vt:lpstr>Reference </vt:lpstr>
      <vt:lpstr>Thank you!</vt:lpstr>
      <vt:lpstr>Tổng quan về các phương pháp sạc</vt:lpstr>
      <vt:lpstr>Tổng quan về các phương pháp sạc</vt:lpstr>
      <vt:lpstr>II. Mô hình Thevenin </vt:lpstr>
      <vt:lpstr>II. Mô hình Thevenin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Duy Dinh</dc:creator>
  <cp:lastModifiedBy>Hua Huy Hoang 20222538</cp:lastModifiedBy>
  <cp:revision>16</cp:revision>
  <cp:lastPrinted>2024-01-25T03:56:08Z</cp:lastPrinted>
  <dcterms:created xsi:type="dcterms:W3CDTF">2020-11-17T01:54:46Z</dcterms:created>
  <dcterms:modified xsi:type="dcterms:W3CDTF">2025-03-22T13:26:48Z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0x010100E97DCB5278DCA64EA66CD17852BDE685</vt:lpwstr>
  </property>
</Properties>
</file>